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 id="2147483651" r:id="rId2"/>
  </p:sldMasterIdLst>
  <p:notesMasterIdLst>
    <p:notesMasterId r:id="rId11"/>
  </p:notesMasterIdLst>
  <p:sldIdLst>
    <p:sldId id="256" r:id="rId3"/>
    <p:sldId id="257" r:id="rId4"/>
    <p:sldId id="259" r:id="rId5"/>
    <p:sldId id="268" r:id="rId6"/>
    <p:sldId id="272" r:id="rId7"/>
    <p:sldId id="277" r:id="rId8"/>
    <p:sldId id="278" r:id="rId9"/>
    <p:sldId id="261" r:id="rId10"/>
  </p:sldIdLst>
  <p:sldSz cx="12192000" cy="6858000"/>
  <p:notesSz cx="6858000" cy="12192000"/>
  <p:embeddedFontLst>
    <p:embeddedFont>
      <p:font typeface="Calibri" panose="020F0502020204030204" pitchFamily="34" charset="0"/>
      <p:regular r:id="rId12"/>
      <p:bold r:id="rId13"/>
      <p:italic r:id="rId14"/>
      <p:boldItalic r:id="rId15"/>
    </p:embeddedFont>
    <p:embeddedFont>
      <p:font typeface="DM Sans" panose="020B0604020202020204" charset="0"/>
      <p:regular r:id="rId16"/>
      <p:bold r:id="rId17"/>
    </p:embeddedFont>
    <p:embeddedFont>
      <p:font typeface="Space Grotesk" panose="020B0604020202020204" charset="0"/>
      <p:regular r:id="rId18"/>
      <p:bold r:id="rId19"/>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60858" autoAdjust="0"/>
  </p:normalViewPr>
  <p:slideViewPr>
    <p:cSldViewPr snapToGrid="0" snapToObjects="1">
      <p:cViewPr varScale="1">
        <p:scale>
          <a:sx n="69" d="100"/>
          <a:sy n="69" d="100"/>
        </p:scale>
        <p:origin x="78" y="207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font" Target="fonts/font2.fntdata"/><Relationship Id="rId18" Type="http://schemas.openxmlformats.org/officeDocument/2006/relationships/font" Target="fonts/font7.fntdata"/><Relationship Id="rId3" Type="http://schemas.openxmlformats.org/officeDocument/2006/relationships/slide" Target="slides/slide1.xml"/><Relationship Id="rId21" Type="http://schemas.openxmlformats.org/officeDocument/2006/relationships/viewProps" Target="viewProps.xml"/><Relationship Id="rId7" Type="http://schemas.openxmlformats.org/officeDocument/2006/relationships/slide" Target="slides/slide5.xml"/><Relationship Id="rId12" Type="http://schemas.openxmlformats.org/officeDocument/2006/relationships/font" Target="fonts/font1.fntdata"/><Relationship Id="rId17" Type="http://schemas.openxmlformats.org/officeDocument/2006/relationships/font" Target="fonts/font6.fntdata"/><Relationship Id="rId2" Type="http://schemas.openxmlformats.org/officeDocument/2006/relationships/slideMaster" Target="slideMasters/slideMaster2.xml"/><Relationship Id="rId16" Type="http://schemas.openxmlformats.org/officeDocument/2006/relationships/font" Target="fonts/font5.fntdata"/><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notesMaster" Target="notesMasters/notesMaster1.xml"/><Relationship Id="rId5" Type="http://schemas.openxmlformats.org/officeDocument/2006/relationships/slide" Target="slides/slide3.xml"/><Relationship Id="rId15" Type="http://schemas.openxmlformats.org/officeDocument/2006/relationships/font" Target="fonts/font4.fntdata"/><Relationship Id="rId23" Type="http://schemas.openxmlformats.org/officeDocument/2006/relationships/tableStyles" Target="tableStyles.xml"/><Relationship Id="rId10" Type="http://schemas.openxmlformats.org/officeDocument/2006/relationships/slide" Target="slides/slide8.xml"/><Relationship Id="rId19" Type="http://schemas.openxmlformats.org/officeDocument/2006/relationships/font" Target="fonts/font8.fntdata"/><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font" Target="fonts/font3.fntdata"/><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5161346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E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Para no quedarnos en «parece que», hicimos seis pruebas de hipótesis, todas con un nivel de significación del 5 %. La más importante es H1: el diseño nuevo mejora la finalización, con un p-valor prácticamente cero. La H2 es la del umbral de rentabilidad y la vemos en la siguiente diapositiva. Además comprobamos que los errores sí aumentan, que el paso al que llega la gente depende del diseño, y que el género está repartido igual. Una cosa que aprendimos: con muestras tan grandes casi todo es significativo. La edad media sale «diferente», pero son 0,34 años, en la práctica no importa.</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(8:00–8:45) [Vuelta de Tableau a las diapositivas.] Antes de cerrar, queremos ser honestos con lo que nuestros datos no pueden decir. Primero, el reparto entre grupos no fue 50/50, y no sabemos si fue intencionado. Segundo, no tenemos el dispositivo ni el navegador, así que no sabemos si el problema está en móvil o en ordenador. Tercero, sin el coste del rediseño ni el valor de cada proceso completado, no podemos traducir el 5 % a dinero. Y cuarto, los datos nos dicen dónde vuelven atrás los clientes, pero no por qué. Los resultados son prometedores, pero estas dudas condicionan la decisión.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(8:45–9:30) ¿Qué haríamos ahora? Tres pasos en orden. Primero, investigar: ver grabaciones de sesiones y hacer pruebas de usabilidad en el inicio y el paso 1, que es donde la gente vuelve atrás. Segundo, optimizar esas primeras pantallas. Y tercero, validar: repetir el experimento con un reparto 50/50, durante más semanas y midiendo también el impacto económico. Así pasamos de los datos a un plan de mejora que se puede comprobar.</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7</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(9:30–10:00) Para terminar, la idea con la que nos quedamos: mejorar no siempre significa estar listo para lanzar. El diseño nuevo consigue que más clientes terminen, y es significativo, pero no hemos podido demostrar que supere el 5 % que justifica el cambio. Nuestro objetivo no era demostrar que el diseño nuevo era mejor, sino descubrir si había evidencia suficiente para implantarlo. Y la respuesta es: tiene potencial, pero hay que mejorarlo y validarlo antes de lanzarlo a todos. Muchas gracias. ¿Alguna pregunta?</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8</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5F2EC"/>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102320"/>
            <a:ext cx="10566400" cy="447014"/>
          </a:xfrm>
          <a:prstGeom prst="rect">
            <a:avLst/>
          </a:prstGeom>
          <a:noFill/>
          <a:ln/>
        </p:spPr>
        <p:txBody>
          <a:bodyPr wrap="square" lIns="0" tIns="0" rIns="0" bIns="0" rtlCol="0" anchor="t"/>
          <a:lstStyle>
            <a:lvl1pPr marL="0" indent="0" algn="l">
              <a:lnSpc>
                <a:spcPct val="115000"/>
              </a:lnSpc>
              <a:buNone/>
              <a:defRPr lang="en-US" sz="3200" dirty="0">
                <a:solidFill>
                  <a:srgbClr val="131B2E"/>
                </a:solidFill>
                <a:latin typeface="Space Grotesk" pitchFamily="34" charset="0"/>
                <a:ea typeface="Space Grotesk" pitchFamily="34" charset="-122"/>
                <a:cs typeface="Space Grotesk"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800" y="1854134"/>
            <a:ext cx="10566400" cy="4191066"/>
          </a:xfrm>
          <a:prstGeom prst="rect">
            <a:avLst/>
          </a:prstGeom>
          <a:noFill/>
          <a:ln/>
        </p:spPr>
        <p:txBody>
          <a:bodyPr wrap="square" lIns="0" tIns="0" rIns="0" bIns="0" rtlCol="0" anchor="t"/>
          <a:lstStyle>
            <a:lvl1pPr marL="0" indent="0" algn="l">
              <a:lnSpc>
                <a:spcPct val="140000"/>
              </a:lnSpc>
              <a:buNone/>
              <a:defRPr lang="en-US" sz="1600" dirty="0">
                <a:solidFill>
                  <a:srgbClr val="131B2E"/>
                </a:solidFill>
                <a:latin typeface="DM Sans" pitchFamily="34" charset="0"/>
                <a:ea typeface="DM Sans" pitchFamily="34" charset="-122"/>
                <a:cs typeface="DM Sans" pitchFamily="34" charset="-120"/>
              </a:defRPr>
            </a:lvl1pPr>
          </a:lstStyle>
          <a:p>
            <a:pPr marL="0" indent="0" algn="l">
              <a:lnSpc>
                <a:spcPct val="140000"/>
              </a:lnSpc>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114080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5F2EC"/>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102320"/>
            <a:ext cx="10566400" cy="447014"/>
          </a:xfrm>
          <a:prstGeom prst="rect">
            <a:avLst/>
          </a:prstGeom>
          <a:noFill/>
          <a:ln/>
        </p:spPr>
        <p:txBody>
          <a:bodyPr wrap="square" lIns="0" tIns="0" rIns="0" bIns="0" rtlCol="0" anchor="t"/>
          <a:lstStyle>
            <a:lvl1pPr marL="0" indent="0" algn="l">
              <a:lnSpc>
                <a:spcPct val="115000"/>
              </a:lnSpc>
              <a:buNone/>
              <a:defRPr lang="en-US" sz="3200" dirty="0">
                <a:solidFill>
                  <a:srgbClr val="131B2E"/>
                </a:solidFill>
                <a:latin typeface="Space Grotesk" pitchFamily="34" charset="0"/>
                <a:ea typeface="Space Grotesk" pitchFamily="34" charset="-122"/>
                <a:cs typeface="Space Grotesk"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800" y="1854134"/>
            <a:ext cx="10566400" cy="4191066"/>
          </a:xfrm>
          <a:prstGeom prst="rect">
            <a:avLst/>
          </a:prstGeom>
          <a:noFill/>
          <a:ln/>
        </p:spPr>
        <p:txBody>
          <a:bodyPr wrap="square" lIns="0" tIns="0" rIns="0" bIns="0" rtlCol="0" anchor="t"/>
          <a:lstStyle>
            <a:lvl1pPr marL="0" indent="0" algn="l">
              <a:lnSpc>
                <a:spcPct val="140000"/>
              </a:lnSpc>
              <a:buNone/>
              <a:defRPr lang="en-US" sz="1600" dirty="0">
                <a:solidFill>
                  <a:srgbClr val="131B2E"/>
                </a:solidFill>
                <a:latin typeface="DM Sans" pitchFamily="34" charset="0"/>
                <a:ea typeface="DM Sans" pitchFamily="34" charset="-122"/>
                <a:cs typeface="DM Sans" pitchFamily="34" charset="-120"/>
              </a:defRPr>
            </a:lvl1pPr>
          </a:lstStyle>
          <a:p>
            <a:pPr marL="0" indent="0" algn="l">
              <a:lnSpc>
                <a:spcPct val="140000"/>
              </a:lnSpc>
              <a:buNone/>
            </a:pPr>
            <a:endParaRPr lang="en-US" sz="1600" dirty="0"/>
          </a:p>
        </p:txBody>
      </p:sp>
    </p:spTree>
    <p:extLst>
      <p:ext uri="{BB962C8B-B14F-4D97-AF65-F5344CB8AC3E}">
        <p14:creationId xmlns:p14="http://schemas.microsoft.com/office/powerpoint/2010/main" val="2928987054"/>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4.xml"/><Relationship Id="rId1"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5F2EC"/>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102320"/>
            <a:ext cx="10566400" cy="447014"/>
          </a:xfrm>
          <a:prstGeom prst="rect">
            <a:avLst/>
          </a:prstGeom>
          <a:noFill/>
          <a:ln/>
        </p:spPr>
        <p:txBody>
          <a:bodyPr wrap="square" lIns="0" tIns="0" rIns="0" bIns="0" rtlCol="0" anchor="t"/>
          <a:lstStyle>
            <a:lvl1pPr marL="0" indent="0" algn="l">
              <a:lnSpc>
                <a:spcPct val="115000"/>
              </a:lnSpc>
              <a:buNone/>
              <a:defRPr lang="en-US" sz="3200" dirty="0">
                <a:solidFill>
                  <a:srgbClr val="131B2E"/>
                </a:solidFill>
                <a:latin typeface="Space Grotesk" pitchFamily="34" charset="0"/>
                <a:ea typeface="Space Grotesk" pitchFamily="34" charset="-122"/>
                <a:cs typeface="Space Grotesk"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800" y="1854134"/>
            <a:ext cx="10566400" cy="4191066"/>
          </a:xfrm>
          <a:prstGeom prst="rect">
            <a:avLst/>
          </a:prstGeom>
          <a:noFill/>
          <a:ln/>
        </p:spPr>
        <p:txBody>
          <a:bodyPr wrap="square" lIns="0" tIns="0" rIns="0" bIns="0" rtlCol="0" anchor="t"/>
          <a:lstStyle>
            <a:lvl1pPr marL="0" indent="0" algn="l">
              <a:lnSpc>
                <a:spcPct val="140000"/>
              </a:lnSpc>
              <a:buNone/>
              <a:defRPr lang="en-US" sz="1600" dirty="0">
                <a:solidFill>
                  <a:srgbClr val="131B2E"/>
                </a:solidFill>
                <a:latin typeface="DM Sans" pitchFamily="34" charset="0"/>
                <a:ea typeface="DM Sans" pitchFamily="34" charset="-122"/>
                <a:cs typeface="DM Sans"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5F2EC"/>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102320"/>
            <a:ext cx="10566400" cy="447014"/>
          </a:xfrm>
          <a:prstGeom prst="rect">
            <a:avLst/>
          </a:prstGeom>
          <a:noFill/>
          <a:ln/>
        </p:spPr>
        <p:txBody>
          <a:bodyPr wrap="square" lIns="0" tIns="0" rIns="0" bIns="0" rtlCol="0" anchor="t"/>
          <a:lstStyle>
            <a:lvl1pPr marL="0" indent="0" algn="l">
              <a:lnSpc>
                <a:spcPct val="115000"/>
              </a:lnSpc>
              <a:buNone/>
              <a:defRPr lang="en-US" sz="3200" dirty="0">
                <a:solidFill>
                  <a:srgbClr val="131B2E"/>
                </a:solidFill>
                <a:latin typeface="Space Grotesk" pitchFamily="34" charset="0"/>
                <a:ea typeface="Space Grotesk" pitchFamily="34" charset="-122"/>
                <a:cs typeface="Space Grotesk"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800" y="1854134"/>
            <a:ext cx="10566400" cy="4191066"/>
          </a:xfrm>
          <a:prstGeom prst="rect">
            <a:avLst/>
          </a:prstGeom>
          <a:noFill/>
          <a:ln/>
        </p:spPr>
        <p:txBody>
          <a:bodyPr wrap="square" lIns="0" tIns="0" rIns="0" bIns="0" rtlCol="0" anchor="t"/>
          <a:lstStyle>
            <a:lvl1pPr marL="0" indent="0" algn="l">
              <a:lnSpc>
                <a:spcPct val="140000"/>
              </a:lnSpc>
              <a:buNone/>
              <a:defRPr lang="en-US" sz="1600" dirty="0">
                <a:solidFill>
                  <a:srgbClr val="131B2E"/>
                </a:solidFill>
                <a:latin typeface="DM Sans" pitchFamily="34" charset="0"/>
                <a:ea typeface="DM Sans" pitchFamily="34" charset="-122"/>
                <a:cs typeface="DM Sans" pitchFamily="34" charset="-120"/>
              </a:defRPr>
            </a:lvl1pPr>
          </a:lstStyle>
          <a:p>
            <a:pPr marL="0" indent="0" algn="l">
              <a:lnSpc>
                <a:spcPct val="140000"/>
              </a:lnSpc>
              <a:buNone/>
            </a:pPr>
            <a:endParaRPr lang="en-US" sz="1600" dirty="0"/>
          </a:p>
        </p:txBody>
      </p:sp>
    </p:spTree>
    <p:extLst>
      <p:ext uri="{BB962C8B-B14F-4D97-AF65-F5344CB8AC3E}">
        <p14:creationId xmlns:p14="http://schemas.microsoft.com/office/powerpoint/2010/main" val="1196579212"/>
      </p:ext>
    </p:extLst>
  </p:cSld>
  <p:clrMap bg1="lt1" tx1="dk1" bg2="lt2" tx2="dk2" accent1="accent1" accent2="accent2" accent3="accent3" accent4="accent4" accent5="accent5" accent6="accent6" hlink="hlink" folHlink="folHlink"/>
  <p:sldLayoutIdLst>
    <p:sldLayoutId id="2147483652" r:id="rId1"/>
    <p:sldLayoutId id="2147483653"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4.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1B2E"/>
        </a:solidFill>
        <a:effectLst/>
      </p:bgPr>
    </p:bg>
    <p:spTree>
      <p:nvGrpSpPr>
        <p:cNvPr id="1" name=""/>
        <p:cNvGrpSpPr/>
        <p:nvPr/>
      </p:nvGrpSpPr>
      <p:grpSpPr>
        <a:xfrm>
          <a:off x="0" y="0"/>
          <a:ext cx="0" cy="0"/>
          <a:chOff x="0" y="0"/>
          <a:chExt cx="0" cy="0"/>
        </a:xfrm>
      </p:grpSpPr>
      <p:sp>
        <p:nvSpPr>
          <p:cNvPr id="3" name="Text 1"/>
          <p:cNvSpPr/>
          <p:nvPr/>
        </p:nvSpPr>
        <p:spPr>
          <a:xfrm>
            <a:off x="812800" y="812800"/>
            <a:ext cx="6540500" cy="238720"/>
          </a:xfrm>
          <a:prstGeom prst="rect">
            <a:avLst/>
          </a:prstGeom>
          <a:noFill/>
          <a:ln/>
        </p:spPr>
        <p:txBody>
          <a:bodyPr wrap="square" lIns="0" tIns="0" rIns="0" bIns="0" rtlCol="0" anchor="t">
            <a:normAutofit/>
          </a:bodyPr>
          <a:lstStyle/>
          <a:p>
            <a:pPr>
              <a:lnSpc>
                <a:spcPts val="1680"/>
              </a:lnSpc>
            </a:pPr>
            <a:r>
              <a:rPr lang="en-US" sz="1200" b="1" kern="0" spc="150" dirty="0">
                <a:solidFill>
                  <a:srgbClr val="F26B7A"/>
                </a:solidFill>
                <a:latin typeface="DM Sans" pitchFamily="34" charset="0"/>
                <a:ea typeface="DM Sans" pitchFamily="34" charset="-122"/>
                <a:cs typeface="DM Sans" pitchFamily="34" charset="-120"/>
              </a:rPr>
              <a:t>VANGUARD · ANÁLISIS DE UN TEST A/B</a:t>
            </a:r>
            <a:endParaRPr lang="en-US" sz="1200" dirty="0"/>
          </a:p>
        </p:txBody>
      </p:sp>
      <p:sp>
        <p:nvSpPr>
          <p:cNvPr id="4" name="Text 2"/>
          <p:cNvSpPr>
            <a:spLocks noGrp="1"/>
          </p:cNvSpPr>
          <p:nvPr>
            <p:ph type="title"/>
          </p:nvPr>
        </p:nvSpPr>
        <p:spPr>
          <a:xfrm>
            <a:off x="723900" y="1484835"/>
            <a:ext cx="5628774" cy="2134665"/>
          </a:xfrm>
          <a:prstGeom prst="rect">
            <a:avLst/>
          </a:prstGeom>
          <a:noFill/>
          <a:ln/>
        </p:spPr>
        <p:txBody>
          <a:bodyPr wrap="square" lIns="0" tIns="0" rIns="0" bIns="0" rtlCol="0" anchor="t">
            <a:normAutofit fontScale="90000"/>
          </a:bodyPr>
          <a:lstStyle/>
          <a:p>
            <a:pPr marL="0" indent="0" algn="l">
              <a:lnSpc>
                <a:spcPts val="4752"/>
              </a:lnSpc>
              <a:buNone/>
            </a:pPr>
            <a:r>
              <a:rPr lang="es-ES" sz="4400" b="1" i="0" dirty="0">
                <a:solidFill>
                  <a:srgbClr val="F5F2EC"/>
                </a:solidFill>
                <a:latin typeface="Space Grotesk" pitchFamily="34" charset="0"/>
                <a:ea typeface="Space Grotesk" pitchFamily="34" charset="-122"/>
                <a:cs typeface="Space Grotesk" pitchFamily="34" charset="-120"/>
              </a:rPr>
              <a:t>¿Mejora el nuevo diseño digital la experiencia del cliente?</a:t>
            </a:r>
            <a:endParaRPr lang="en-US" sz="4400" dirty="0"/>
          </a:p>
        </p:txBody>
      </p:sp>
      <p:sp>
        <p:nvSpPr>
          <p:cNvPr id="5" name="Text 3"/>
          <p:cNvSpPr/>
          <p:nvPr/>
        </p:nvSpPr>
        <p:spPr>
          <a:xfrm>
            <a:off x="723900" y="4045497"/>
            <a:ext cx="6540500" cy="309827"/>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B9C0CF"/>
                </a:solidFill>
                <a:latin typeface="DM Sans" pitchFamily="34" charset="0"/>
                <a:ea typeface="DM Sans" pitchFamily="34" charset="-122"/>
                <a:cs typeface="DM Sans" pitchFamily="34" charset="-120"/>
              </a:rPr>
              <a:t>15 de </a:t>
            </a:r>
            <a:r>
              <a:rPr lang="en-US" sz="1600" dirty="0" err="1">
                <a:solidFill>
                  <a:srgbClr val="B9C0CF"/>
                </a:solidFill>
                <a:latin typeface="DM Sans" pitchFamily="34" charset="0"/>
                <a:ea typeface="DM Sans" pitchFamily="34" charset="-122"/>
                <a:cs typeface="DM Sans" pitchFamily="34" charset="-120"/>
              </a:rPr>
              <a:t>marzo</a:t>
            </a:r>
            <a:r>
              <a:rPr lang="en-US" sz="1600" dirty="0">
                <a:solidFill>
                  <a:srgbClr val="B9C0CF"/>
                </a:solidFill>
                <a:latin typeface="DM Sans" pitchFamily="34" charset="0"/>
                <a:ea typeface="DM Sans" pitchFamily="34" charset="-122"/>
                <a:cs typeface="DM Sans" pitchFamily="34" charset="-120"/>
              </a:rPr>
              <a:t> – 20 de </a:t>
            </a:r>
            <a:r>
              <a:rPr lang="en-US" sz="1600" dirty="0" err="1">
                <a:solidFill>
                  <a:srgbClr val="B9C0CF"/>
                </a:solidFill>
                <a:latin typeface="DM Sans" pitchFamily="34" charset="0"/>
                <a:ea typeface="DM Sans" pitchFamily="34" charset="-122"/>
                <a:cs typeface="DM Sans" pitchFamily="34" charset="-120"/>
              </a:rPr>
              <a:t>junio</a:t>
            </a:r>
            <a:r>
              <a:rPr lang="en-US" sz="1600" dirty="0">
                <a:solidFill>
                  <a:srgbClr val="B9C0CF"/>
                </a:solidFill>
                <a:latin typeface="DM Sans" pitchFamily="34" charset="0"/>
                <a:ea typeface="DM Sans" pitchFamily="34" charset="-122"/>
                <a:cs typeface="DM Sans" pitchFamily="34" charset="-120"/>
              </a:rPr>
              <a:t> de 2017</a:t>
            </a:r>
            <a:endParaRPr lang="en-US" sz="1600" dirty="0"/>
          </a:p>
        </p:txBody>
      </p:sp>
      <p:sp>
        <p:nvSpPr>
          <p:cNvPr id="6" name="Text 4"/>
          <p:cNvSpPr/>
          <p:nvPr/>
        </p:nvSpPr>
        <p:spPr>
          <a:xfrm>
            <a:off x="812800" y="5796293"/>
            <a:ext cx="10883392" cy="274307"/>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F5F2EC"/>
                </a:solidFill>
                <a:latin typeface="DM Sans" pitchFamily="34" charset="0"/>
                <a:ea typeface="DM Sans" pitchFamily="34" charset="-122"/>
                <a:cs typeface="DM Sans" pitchFamily="34" charset="-120"/>
              </a:rPr>
              <a:t>Beatriz Fernández </a:t>
            </a:r>
            <a:r>
              <a:rPr lang="en-US" sz="1400" dirty="0">
                <a:solidFill>
                  <a:srgbClr val="6E7891"/>
                </a:solidFill>
                <a:latin typeface="DM Sans" pitchFamily="34" charset="0"/>
                <a:ea typeface="DM Sans" pitchFamily="34" charset="-122"/>
                <a:cs typeface="DM Sans" pitchFamily="34" charset="-120"/>
              </a:rPr>
              <a:t>·</a:t>
            </a:r>
            <a:r>
              <a:rPr lang="en-US" sz="1400" dirty="0">
                <a:solidFill>
                  <a:srgbClr val="F5F2EC"/>
                </a:solidFill>
                <a:latin typeface="DM Sans" pitchFamily="34" charset="0"/>
                <a:ea typeface="DM Sans" pitchFamily="34" charset="-122"/>
                <a:cs typeface="DM Sans" pitchFamily="34" charset="-120"/>
              </a:rPr>
              <a:t> Juan Carlos Del Mar</a:t>
            </a:r>
            <a:endParaRPr lang="en-US" sz="1400" dirty="0"/>
          </a:p>
        </p:txBody>
      </p:sp>
      <p:sp>
        <p:nvSpPr>
          <p:cNvPr id="13" name="Shape 0">
            <a:extLst>
              <a:ext uri="{FF2B5EF4-FFF2-40B4-BE49-F238E27FC236}">
                <a16:creationId xmlns:a16="http://schemas.microsoft.com/office/drawing/2014/main" id="{27234307-D6A6-2D1B-001B-01540CA45B40}"/>
              </a:ext>
            </a:extLst>
          </p:cNvPr>
          <p:cNvSpPr/>
          <p:nvPr/>
        </p:nvSpPr>
        <p:spPr>
          <a:xfrm>
            <a:off x="7874000" y="812800"/>
            <a:ext cx="3505200" cy="5232400"/>
          </a:xfrm>
          <a:prstGeom prst="roundRect">
            <a:avLst>
              <a:gd name="adj" fmla="val 4348"/>
            </a:avLst>
          </a:prstGeom>
          <a:gradFill rotWithShape="1">
            <a:gsLst>
              <a:gs pos="0">
                <a:srgbClr val="1B2540"/>
              </a:gs>
              <a:gs pos="100000">
                <a:srgbClr val="131B2E"/>
              </a:gs>
            </a:gsLst>
            <a:lin ang="5400000" scaled="0"/>
          </a:gradFill>
          <a:ln/>
        </p:spPr>
      </p:sp>
      <p:sp>
        <p:nvSpPr>
          <p:cNvPr id="14" name="Text 5">
            <a:extLst>
              <a:ext uri="{FF2B5EF4-FFF2-40B4-BE49-F238E27FC236}">
                <a16:creationId xmlns:a16="http://schemas.microsoft.com/office/drawing/2014/main" id="{6B2C8567-EAD9-FD73-BF3F-714367CE56AF}"/>
              </a:ext>
            </a:extLst>
          </p:cNvPr>
          <p:cNvSpPr/>
          <p:nvPr/>
        </p:nvSpPr>
        <p:spPr>
          <a:xfrm>
            <a:off x="8229600" y="1587500"/>
            <a:ext cx="1447800" cy="1803400"/>
          </a:xfrm>
          <a:prstGeom prst="rect">
            <a:avLst/>
          </a:prstGeom>
          <a:noFill/>
          <a:ln/>
        </p:spPr>
        <p:txBody>
          <a:bodyPr wrap="square" lIns="0" tIns="0" rIns="0" bIns="0" rtlCol="0" anchor="t">
            <a:normAutofit fontScale="92500"/>
          </a:bodyPr>
          <a:lstStyle/>
          <a:p>
            <a:pPr marL="0" indent="0" algn="ctr">
              <a:lnSpc>
                <a:spcPts val="14000"/>
              </a:lnSpc>
              <a:buNone/>
            </a:pPr>
            <a:r>
              <a:rPr lang="en-US" sz="14000" b="1" dirty="0">
                <a:solidFill>
                  <a:srgbClr val="8C96A6"/>
                </a:solidFill>
                <a:latin typeface="Space Grotesk" pitchFamily="34" charset="0"/>
                <a:ea typeface="Space Grotesk" pitchFamily="34" charset="-122"/>
                <a:cs typeface="Space Grotesk" pitchFamily="34" charset="-120"/>
              </a:rPr>
              <a:t>A</a:t>
            </a:r>
            <a:endParaRPr lang="en-US" sz="14000" dirty="0"/>
          </a:p>
        </p:txBody>
      </p:sp>
      <p:sp>
        <p:nvSpPr>
          <p:cNvPr id="15" name="Text 6">
            <a:extLst>
              <a:ext uri="{FF2B5EF4-FFF2-40B4-BE49-F238E27FC236}">
                <a16:creationId xmlns:a16="http://schemas.microsoft.com/office/drawing/2014/main" id="{5B519D3B-FE4F-AF9B-1BD1-208C5B9FF624}"/>
              </a:ext>
            </a:extLst>
          </p:cNvPr>
          <p:cNvSpPr/>
          <p:nvPr/>
        </p:nvSpPr>
        <p:spPr>
          <a:xfrm>
            <a:off x="9626600" y="1587500"/>
            <a:ext cx="1447800" cy="1803400"/>
          </a:xfrm>
          <a:prstGeom prst="rect">
            <a:avLst/>
          </a:prstGeom>
          <a:noFill/>
          <a:ln/>
        </p:spPr>
        <p:txBody>
          <a:bodyPr wrap="square" lIns="0" tIns="0" rIns="0" bIns="0" rtlCol="0" anchor="t">
            <a:normAutofit fontScale="92500"/>
          </a:bodyPr>
          <a:lstStyle/>
          <a:p>
            <a:pPr marL="0" indent="0" algn="ctr">
              <a:lnSpc>
                <a:spcPts val="14000"/>
              </a:lnSpc>
              <a:buNone/>
            </a:pPr>
            <a:r>
              <a:rPr lang="en-US" sz="14000" b="1" dirty="0">
                <a:solidFill>
                  <a:srgbClr val="C8102E"/>
                </a:solidFill>
                <a:latin typeface="Space Grotesk" pitchFamily="34" charset="0"/>
                <a:ea typeface="Space Grotesk" pitchFamily="34" charset="-122"/>
                <a:cs typeface="Space Grotesk" pitchFamily="34" charset="-120"/>
              </a:rPr>
              <a:t>B</a:t>
            </a:r>
            <a:endParaRPr lang="en-US" sz="14000" dirty="0"/>
          </a:p>
        </p:txBody>
      </p:sp>
      <p:sp>
        <p:nvSpPr>
          <p:cNvPr id="16" name="Text 7">
            <a:extLst>
              <a:ext uri="{FF2B5EF4-FFF2-40B4-BE49-F238E27FC236}">
                <a16:creationId xmlns:a16="http://schemas.microsoft.com/office/drawing/2014/main" id="{E3777AB3-6CE6-1D2E-BA6B-6DC471FF08E9}"/>
              </a:ext>
            </a:extLst>
          </p:cNvPr>
          <p:cNvSpPr/>
          <p:nvPr/>
        </p:nvSpPr>
        <p:spPr>
          <a:xfrm>
            <a:off x="8229600" y="3619500"/>
            <a:ext cx="1447800" cy="274307"/>
          </a:xfrm>
          <a:prstGeom prst="rect">
            <a:avLst/>
          </a:prstGeom>
          <a:noFill/>
          <a:ln/>
        </p:spPr>
        <p:txBody>
          <a:bodyPr wrap="square" lIns="0" tIns="0" rIns="0" bIns="0" rtlCol="0" anchor="t">
            <a:normAutofit/>
          </a:bodyPr>
          <a:lstStyle/>
          <a:p>
            <a:pPr marL="0" indent="0" algn="ctr">
              <a:lnSpc>
                <a:spcPts val="1960"/>
              </a:lnSpc>
              <a:buNone/>
            </a:pPr>
            <a:r>
              <a:rPr lang="en-US" sz="1400" dirty="0">
                <a:solidFill>
                  <a:srgbClr val="B9C0CF"/>
                </a:solidFill>
                <a:latin typeface="DM Sans" pitchFamily="34" charset="0"/>
                <a:ea typeface="DM Sans" pitchFamily="34" charset="-122"/>
                <a:cs typeface="DM Sans" pitchFamily="34" charset="-120"/>
              </a:rPr>
              <a:t>Diseño antiguo</a:t>
            </a:r>
            <a:endParaRPr lang="en-US" sz="1400" dirty="0"/>
          </a:p>
        </p:txBody>
      </p:sp>
      <p:sp>
        <p:nvSpPr>
          <p:cNvPr id="17" name="Text 8">
            <a:extLst>
              <a:ext uri="{FF2B5EF4-FFF2-40B4-BE49-F238E27FC236}">
                <a16:creationId xmlns:a16="http://schemas.microsoft.com/office/drawing/2014/main" id="{F6D9B8D5-D0D1-0E3D-FE1C-F0D9A22424A9}"/>
              </a:ext>
            </a:extLst>
          </p:cNvPr>
          <p:cNvSpPr/>
          <p:nvPr/>
        </p:nvSpPr>
        <p:spPr>
          <a:xfrm>
            <a:off x="9626600" y="3619500"/>
            <a:ext cx="1447800" cy="274307"/>
          </a:xfrm>
          <a:prstGeom prst="rect">
            <a:avLst/>
          </a:prstGeom>
          <a:noFill/>
          <a:ln/>
        </p:spPr>
        <p:txBody>
          <a:bodyPr wrap="square" lIns="0" tIns="0" rIns="0" bIns="0" rtlCol="0" anchor="t">
            <a:normAutofit/>
          </a:bodyPr>
          <a:lstStyle/>
          <a:p>
            <a:pPr marL="0" indent="0" algn="ctr">
              <a:lnSpc>
                <a:spcPts val="1960"/>
              </a:lnSpc>
              <a:buNone/>
            </a:pPr>
            <a:r>
              <a:rPr lang="en-US" sz="1400" b="1" dirty="0">
                <a:solidFill>
                  <a:srgbClr val="F5F2EC"/>
                </a:solidFill>
                <a:latin typeface="DM Sans" pitchFamily="34" charset="0"/>
                <a:ea typeface="DM Sans" pitchFamily="34" charset="-122"/>
                <a:cs typeface="DM Sans" pitchFamily="34" charset="-120"/>
              </a:rPr>
              <a:t>Diseño nuevo</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2EC"/>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C8102E"/>
                </a:solidFill>
                <a:latin typeface="DM Sans" pitchFamily="34" charset="0"/>
                <a:ea typeface="DM Sans" pitchFamily="34" charset="-122"/>
                <a:cs typeface="DM Sans" pitchFamily="34" charset="-120"/>
              </a:rPr>
              <a:t>INTRODUCCIÓN</a:t>
            </a:r>
            <a:endParaRPr lang="en-US" sz="1200" dirty="0"/>
          </a:p>
        </p:txBody>
      </p:sp>
      <p:sp>
        <p:nvSpPr>
          <p:cNvPr id="3" name="Text 1"/>
          <p:cNvSpPr>
            <a:spLocks noGrp="1"/>
          </p:cNvSpPr>
          <p:nvPr>
            <p:ph type="title"/>
          </p:nvPr>
        </p:nvSpPr>
        <p:spPr>
          <a:xfrm>
            <a:off x="812800" y="1102320"/>
            <a:ext cx="10478038" cy="919427"/>
          </a:xfrm>
          <a:prstGeom prst="rect">
            <a:avLst/>
          </a:prstGeom>
          <a:noFill/>
          <a:ln/>
        </p:spPr>
        <p:txBody>
          <a:bodyPr wrap="square" lIns="0" tIns="0" rIns="0" bIns="0" rtlCol="0" anchor="t">
            <a:normAutofit/>
          </a:bodyPr>
          <a:lstStyle/>
          <a:p>
            <a:pPr marL="0" indent="0" algn="l">
              <a:lnSpc>
                <a:spcPts val="3520"/>
              </a:lnSpc>
              <a:buNone/>
            </a:pPr>
            <a:r>
              <a:rPr lang="es-ES" sz="3200" b="1" i="0" dirty="0" err="1">
                <a:solidFill>
                  <a:srgbClr val="131B2E"/>
                </a:solidFill>
                <a:latin typeface="Space Grotesk" pitchFamily="34" charset="0"/>
                <a:ea typeface="Space Grotesk" pitchFamily="34" charset="-122"/>
                <a:cs typeface="Space Grotesk" pitchFamily="34" charset="-120"/>
              </a:rPr>
              <a:t>Vanguard</a:t>
            </a:r>
            <a:r>
              <a:rPr lang="es-ES" sz="3200" b="1" i="0" dirty="0">
                <a:solidFill>
                  <a:srgbClr val="131B2E"/>
                </a:solidFill>
                <a:latin typeface="Space Grotesk" pitchFamily="34" charset="0"/>
                <a:ea typeface="Space Grotesk" pitchFamily="34" charset="-122"/>
                <a:cs typeface="Space Grotesk" pitchFamily="34" charset="-120"/>
              </a:rPr>
              <a:t> quería mejorar la experiencia digital de sus clientes</a:t>
            </a:r>
            <a:endParaRPr lang="en-US" sz="3200" dirty="0"/>
          </a:p>
        </p:txBody>
      </p:sp>
      <p:sp>
        <p:nvSpPr>
          <p:cNvPr id="4" name="Text 2"/>
          <p:cNvSpPr/>
          <p:nvPr/>
        </p:nvSpPr>
        <p:spPr>
          <a:xfrm>
            <a:off x="812800" y="2301148"/>
            <a:ext cx="9156700" cy="594254"/>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4A5266"/>
                </a:solidFill>
                <a:latin typeface="DM Sans" pitchFamily="34" charset="0"/>
                <a:ea typeface="DM Sans" pitchFamily="34" charset="-122"/>
                <a:cs typeface="DM Sans" pitchFamily="34" charset="-120"/>
              </a:rPr>
              <a:t>Vanguard es una gestora de inversiones de EE. UU. Su web tiene un proceso de 5 pantallas. Probaron un diseño más moderno, con indicaciones en cada paso, frente al de siempre.</a:t>
            </a:r>
            <a:endParaRPr lang="en-US" sz="1600" dirty="0"/>
          </a:p>
        </p:txBody>
      </p:sp>
      <p:sp>
        <p:nvSpPr>
          <p:cNvPr id="5" name="Shape 3"/>
          <p:cNvSpPr/>
          <p:nvPr/>
        </p:nvSpPr>
        <p:spPr>
          <a:xfrm>
            <a:off x="819150" y="3181152"/>
            <a:ext cx="1599935" cy="840647"/>
          </a:xfrm>
          <a:prstGeom prst="roundRect">
            <a:avLst>
              <a:gd name="adj" fmla="val 11331"/>
            </a:avLst>
          </a:prstGeom>
          <a:solidFill>
            <a:srgbClr val="FFFDF8"/>
          </a:solidFill>
          <a:ln w="12700">
            <a:solidFill>
              <a:srgbClr val="DDD5C6"/>
            </a:solidFill>
            <a:prstDash val="solid"/>
          </a:ln>
        </p:spPr>
      </p:sp>
      <p:sp>
        <p:nvSpPr>
          <p:cNvPr id="6" name="Text 4"/>
          <p:cNvSpPr/>
          <p:nvPr/>
        </p:nvSpPr>
        <p:spPr>
          <a:xfrm>
            <a:off x="1003300" y="3339902"/>
            <a:ext cx="1282435" cy="309827"/>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31B2E"/>
                </a:solidFill>
                <a:latin typeface="DM Sans" pitchFamily="34" charset="0"/>
                <a:ea typeface="DM Sans" pitchFamily="34" charset="-122"/>
                <a:cs typeface="DM Sans" pitchFamily="34" charset="-120"/>
              </a:rPr>
              <a:t>Inicio</a:t>
            </a:r>
            <a:endParaRPr lang="en-US" sz="1600" dirty="0"/>
          </a:p>
        </p:txBody>
      </p:sp>
      <p:sp>
        <p:nvSpPr>
          <p:cNvPr id="7" name="Text 5"/>
          <p:cNvSpPr/>
          <p:nvPr/>
        </p:nvSpPr>
        <p:spPr>
          <a:xfrm>
            <a:off x="1003300" y="3649729"/>
            <a:ext cx="1282435"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5"/>
                </a:solidFill>
                <a:latin typeface="DM Sans" pitchFamily="34" charset="0"/>
                <a:ea typeface="DM Sans" pitchFamily="34" charset="-122"/>
                <a:cs typeface="DM Sans" pitchFamily="34" charset="-120"/>
              </a:rPr>
              <a:t>start</a:t>
            </a:r>
            <a:endParaRPr lang="en-US" sz="1200" dirty="0"/>
          </a:p>
        </p:txBody>
      </p:sp>
      <p:pic>
        <p:nvPicPr>
          <p:cNvPr id="8" name="Image 0" descr="arrow-right"/>
          <p:cNvPicPr>
            <a:picLocks noChangeAspect="1"/>
          </p:cNvPicPr>
          <p:nvPr/>
        </p:nvPicPr>
        <p:blipFill>
          <a:blip r:embed="rId3"/>
          <a:srcRect/>
          <a:stretch/>
        </p:blipFill>
        <p:spPr>
          <a:xfrm>
            <a:off x="2552435" y="3531592"/>
            <a:ext cx="279400" cy="139700"/>
          </a:xfrm>
          <a:prstGeom prst="rect">
            <a:avLst/>
          </a:prstGeom>
        </p:spPr>
      </p:pic>
      <p:sp>
        <p:nvSpPr>
          <p:cNvPr id="9" name="Shape 6"/>
          <p:cNvSpPr/>
          <p:nvPr/>
        </p:nvSpPr>
        <p:spPr>
          <a:xfrm>
            <a:off x="2965185" y="3181152"/>
            <a:ext cx="1600002" cy="840647"/>
          </a:xfrm>
          <a:prstGeom prst="roundRect">
            <a:avLst>
              <a:gd name="adj" fmla="val 11331"/>
            </a:avLst>
          </a:prstGeom>
          <a:solidFill>
            <a:srgbClr val="FFFDF8"/>
          </a:solidFill>
          <a:ln w="12700">
            <a:solidFill>
              <a:srgbClr val="DDD5C6"/>
            </a:solidFill>
            <a:prstDash val="solid"/>
          </a:ln>
        </p:spPr>
      </p:sp>
      <p:sp>
        <p:nvSpPr>
          <p:cNvPr id="10" name="Text 7"/>
          <p:cNvSpPr/>
          <p:nvPr/>
        </p:nvSpPr>
        <p:spPr>
          <a:xfrm>
            <a:off x="3149335" y="3339902"/>
            <a:ext cx="1282502" cy="309827"/>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31B2E"/>
                </a:solidFill>
                <a:latin typeface="DM Sans" pitchFamily="34" charset="0"/>
                <a:ea typeface="DM Sans" pitchFamily="34" charset="-122"/>
                <a:cs typeface="DM Sans" pitchFamily="34" charset="-120"/>
              </a:rPr>
              <a:t>Paso 1</a:t>
            </a:r>
            <a:endParaRPr lang="en-US" sz="1600" dirty="0"/>
          </a:p>
        </p:txBody>
      </p:sp>
      <p:sp>
        <p:nvSpPr>
          <p:cNvPr id="11" name="Text 8"/>
          <p:cNvSpPr/>
          <p:nvPr/>
        </p:nvSpPr>
        <p:spPr>
          <a:xfrm>
            <a:off x="3149335" y="3649729"/>
            <a:ext cx="128250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5"/>
                </a:solidFill>
                <a:latin typeface="DM Sans" pitchFamily="34" charset="0"/>
                <a:ea typeface="DM Sans" pitchFamily="34" charset="-122"/>
                <a:cs typeface="DM Sans" pitchFamily="34" charset="-120"/>
              </a:rPr>
              <a:t>step_1</a:t>
            </a:r>
            <a:endParaRPr lang="en-US" sz="1200" dirty="0"/>
          </a:p>
        </p:txBody>
      </p:sp>
      <p:pic>
        <p:nvPicPr>
          <p:cNvPr id="12" name="Image 1" descr="arrow-right"/>
          <p:cNvPicPr>
            <a:picLocks noChangeAspect="1"/>
          </p:cNvPicPr>
          <p:nvPr/>
        </p:nvPicPr>
        <p:blipFill>
          <a:blip r:embed="rId3"/>
          <a:srcRect/>
          <a:stretch/>
        </p:blipFill>
        <p:spPr>
          <a:xfrm>
            <a:off x="4698537" y="3531592"/>
            <a:ext cx="279400" cy="139700"/>
          </a:xfrm>
          <a:prstGeom prst="rect">
            <a:avLst/>
          </a:prstGeom>
        </p:spPr>
      </p:pic>
      <p:sp>
        <p:nvSpPr>
          <p:cNvPr id="13" name="Shape 9"/>
          <p:cNvSpPr/>
          <p:nvPr/>
        </p:nvSpPr>
        <p:spPr>
          <a:xfrm>
            <a:off x="5111287" y="3181152"/>
            <a:ext cx="1599935" cy="840647"/>
          </a:xfrm>
          <a:prstGeom prst="roundRect">
            <a:avLst>
              <a:gd name="adj" fmla="val 11331"/>
            </a:avLst>
          </a:prstGeom>
          <a:solidFill>
            <a:srgbClr val="FFFDF8"/>
          </a:solidFill>
          <a:ln w="12700">
            <a:solidFill>
              <a:srgbClr val="DDD5C6"/>
            </a:solidFill>
            <a:prstDash val="solid"/>
          </a:ln>
        </p:spPr>
      </p:sp>
      <p:sp>
        <p:nvSpPr>
          <p:cNvPr id="14" name="Text 10"/>
          <p:cNvSpPr/>
          <p:nvPr/>
        </p:nvSpPr>
        <p:spPr>
          <a:xfrm>
            <a:off x="5295437" y="3339902"/>
            <a:ext cx="1282435" cy="309827"/>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31B2E"/>
                </a:solidFill>
                <a:latin typeface="DM Sans" pitchFamily="34" charset="0"/>
                <a:ea typeface="DM Sans" pitchFamily="34" charset="-122"/>
                <a:cs typeface="DM Sans" pitchFamily="34" charset="-120"/>
              </a:rPr>
              <a:t>Paso 2</a:t>
            </a:r>
            <a:endParaRPr lang="en-US" sz="1600" dirty="0"/>
          </a:p>
        </p:txBody>
      </p:sp>
      <p:sp>
        <p:nvSpPr>
          <p:cNvPr id="15" name="Text 11"/>
          <p:cNvSpPr/>
          <p:nvPr/>
        </p:nvSpPr>
        <p:spPr>
          <a:xfrm>
            <a:off x="5295437" y="3649729"/>
            <a:ext cx="1282435"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5"/>
                </a:solidFill>
                <a:latin typeface="DM Sans" pitchFamily="34" charset="0"/>
                <a:ea typeface="DM Sans" pitchFamily="34" charset="-122"/>
                <a:cs typeface="DM Sans" pitchFamily="34" charset="-120"/>
              </a:rPr>
              <a:t>step_2</a:t>
            </a:r>
            <a:endParaRPr lang="en-US" sz="1200" dirty="0"/>
          </a:p>
        </p:txBody>
      </p:sp>
      <p:pic>
        <p:nvPicPr>
          <p:cNvPr id="16" name="Image 2" descr="arrow-right"/>
          <p:cNvPicPr>
            <a:picLocks noChangeAspect="1"/>
          </p:cNvPicPr>
          <p:nvPr/>
        </p:nvPicPr>
        <p:blipFill>
          <a:blip r:embed="rId3"/>
          <a:srcRect/>
          <a:stretch/>
        </p:blipFill>
        <p:spPr>
          <a:xfrm>
            <a:off x="6844573" y="3531592"/>
            <a:ext cx="279400" cy="139700"/>
          </a:xfrm>
          <a:prstGeom prst="rect">
            <a:avLst/>
          </a:prstGeom>
        </p:spPr>
      </p:pic>
      <p:sp>
        <p:nvSpPr>
          <p:cNvPr id="17" name="Shape 12"/>
          <p:cNvSpPr/>
          <p:nvPr/>
        </p:nvSpPr>
        <p:spPr>
          <a:xfrm>
            <a:off x="7257323" y="3181152"/>
            <a:ext cx="1600002" cy="840647"/>
          </a:xfrm>
          <a:prstGeom prst="roundRect">
            <a:avLst>
              <a:gd name="adj" fmla="val 11331"/>
            </a:avLst>
          </a:prstGeom>
          <a:solidFill>
            <a:srgbClr val="FFFDF8"/>
          </a:solidFill>
          <a:ln w="12700">
            <a:solidFill>
              <a:srgbClr val="DDD5C6"/>
            </a:solidFill>
            <a:prstDash val="solid"/>
          </a:ln>
        </p:spPr>
      </p:sp>
      <p:sp>
        <p:nvSpPr>
          <p:cNvPr id="18" name="Text 13"/>
          <p:cNvSpPr/>
          <p:nvPr/>
        </p:nvSpPr>
        <p:spPr>
          <a:xfrm>
            <a:off x="7441473" y="3339902"/>
            <a:ext cx="1282502" cy="309827"/>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31B2E"/>
                </a:solidFill>
                <a:latin typeface="DM Sans" pitchFamily="34" charset="0"/>
                <a:ea typeface="DM Sans" pitchFamily="34" charset="-122"/>
                <a:cs typeface="DM Sans" pitchFamily="34" charset="-120"/>
              </a:rPr>
              <a:t>Paso 3</a:t>
            </a:r>
            <a:endParaRPr lang="en-US" sz="1600" dirty="0"/>
          </a:p>
        </p:txBody>
      </p:sp>
      <p:sp>
        <p:nvSpPr>
          <p:cNvPr id="19" name="Text 14"/>
          <p:cNvSpPr/>
          <p:nvPr/>
        </p:nvSpPr>
        <p:spPr>
          <a:xfrm>
            <a:off x="7441473" y="3649729"/>
            <a:ext cx="128250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5"/>
                </a:solidFill>
                <a:latin typeface="DM Sans" pitchFamily="34" charset="0"/>
                <a:ea typeface="DM Sans" pitchFamily="34" charset="-122"/>
                <a:cs typeface="DM Sans" pitchFamily="34" charset="-120"/>
              </a:rPr>
              <a:t>step_3</a:t>
            </a:r>
            <a:endParaRPr lang="en-US" sz="1200" dirty="0"/>
          </a:p>
        </p:txBody>
      </p:sp>
      <p:pic>
        <p:nvPicPr>
          <p:cNvPr id="20" name="Image 3" descr="arrow-right"/>
          <p:cNvPicPr>
            <a:picLocks noChangeAspect="1"/>
          </p:cNvPicPr>
          <p:nvPr/>
        </p:nvPicPr>
        <p:blipFill>
          <a:blip r:embed="rId3"/>
          <a:srcRect/>
          <a:stretch/>
        </p:blipFill>
        <p:spPr>
          <a:xfrm>
            <a:off x="8990674" y="3531592"/>
            <a:ext cx="279400" cy="139700"/>
          </a:xfrm>
          <a:prstGeom prst="rect">
            <a:avLst/>
          </a:prstGeom>
        </p:spPr>
      </p:pic>
      <p:sp>
        <p:nvSpPr>
          <p:cNvPr id="21" name="Shape 15"/>
          <p:cNvSpPr/>
          <p:nvPr/>
        </p:nvSpPr>
        <p:spPr>
          <a:xfrm>
            <a:off x="9397074" y="3174802"/>
            <a:ext cx="1982126" cy="853347"/>
          </a:xfrm>
          <a:prstGeom prst="roundRect">
            <a:avLst>
              <a:gd name="adj" fmla="val 11906"/>
            </a:avLst>
          </a:prstGeom>
          <a:solidFill>
            <a:srgbClr val="131B2E"/>
          </a:solidFill>
          <a:ln/>
        </p:spPr>
      </p:sp>
      <p:sp>
        <p:nvSpPr>
          <p:cNvPr id="22" name="Text 16"/>
          <p:cNvSpPr/>
          <p:nvPr/>
        </p:nvSpPr>
        <p:spPr>
          <a:xfrm>
            <a:off x="9587574" y="3339902"/>
            <a:ext cx="1651926" cy="309827"/>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F5F2EC"/>
                </a:solidFill>
                <a:latin typeface="DM Sans" pitchFamily="34" charset="0"/>
                <a:ea typeface="DM Sans" pitchFamily="34" charset="-122"/>
                <a:cs typeface="DM Sans" pitchFamily="34" charset="-120"/>
              </a:rPr>
              <a:t>Confirmación</a:t>
            </a:r>
            <a:endParaRPr lang="en-US" sz="1600" dirty="0"/>
          </a:p>
        </p:txBody>
      </p:sp>
      <p:sp>
        <p:nvSpPr>
          <p:cNvPr id="23" name="Text 17"/>
          <p:cNvSpPr/>
          <p:nvPr/>
        </p:nvSpPr>
        <p:spPr>
          <a:xfrm>
            <a:off x="9587574" y="3649729"/>
            <a:ext cx="165192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B9C0CF"/>
                </a:solidFill>
                <a:latin typeface="DM Sans" pitchFamily="34" charset="0"/>
                <a:ea typeface="DM Sans" pitchFamily="34" charset="-122"/>
                <a:cs typeface="DM Sans" pitchFamily="34" charset="-120"/>
              </a:rPr>
              <a:t>confirm</a:t>
            </a:r>
            <a:endParaRPr lang="en-US" sz="1200" dirty="0"/>
          </a:p>
        </p:txBody>
      </p:sp>
      <p:sp>
        <p:nvSpPr>
          <p:cNvPr id="24" name="Shape 18"/>
          <p:cNvSpPr/>
          <p:nvPr/>
        </p:nvSpPr>
        <p:spPr>
          <a:xfrm>
            <a:off x="838200" y="4332949"/>
            <a:ext cx="0" cy="1076920"/>
          </a:xfrm>
          <a:prstGeom prst="line">
            <a:avLst/>
          </a:prstGeom>
          <a:noFill/>
          <a:ln w="50800">
            <a:solidFill>
              <a:srgbClr val="8C96A6"/>
            </a:solidFill>
            <a:prstDash val="solid"/>
          </a:ln>
        </p:spPr>
      </p:sp>
      <p:sp>
        <p:nvSpPr>
          <p:cNvPr id="25" name="Text 19"/>
          <p:cNvSpPr/>
          <p:nvPr/>
        </p:nvSpPr>
        <p:spPr>
          <a:xfrm>
            <a:off x="1041400" y="4383749"/>
            <a:ext cx="281623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5"/>
                </a:solidFill>
                <a:latin typeface="DM Sans" pitchFamily="34" charset="0"/>
                <a:ea typeface="DM Sans" pitchFamily="34" charset="-122"/>
                <a:cs typeface="DM Sans" pitchFamily="34" charset="-120"/>
              </a:rPr>
              <a:t>Control · diseño antiguo</a:t>
            </a:r>
            <a:endParaRPr lang="en-US" sz="1200" dirty="0"/>
          </a:p>
        </p:txBody>
      </p:sp>
      <p:sp>
        <p:nvSpPr>
          <p:cNvPr id="26" name="Text 20"/>
          <p:cNvSpPr/>
          <p:nvPr/>
        </p:nvSpPr>
        <p:spPr>
          <a:xfrm>
            <a:off x="1041400" y="4647870"/>
            <a:ext cx="2816230" cy="416520"/>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131B2E"/>
                </a:solidFill>
                <a:latin typeface="Space Grotesk" pitchFamily="34" charset="0"/>
                <a:ea typeface="Space Grotesk" pitchFamily="34" charset="-122"/>
                <a:cs typeface="Space Grotesk" pitchFamily="34" charset="-120"/>
              </a:rPr>
              <a:t>23.532 clientes</a:t>
            </a:r>
            <a:endParaRPr lang="en-US" sz="2200" dirty="0"/>
          </a:p>
        </p:txBody>
      </p:sp>
      <p:sp>
        <p:nvSpPr>
          <p:cNvPr id="27" name="Shape 21"/>
          <p:cNvSpPr/>
          <p:nvPr/>
        </p:nvSpPr>
        <p:spPr>
          <a:xfrm>
            <a:off x="4004204" y="4332949"/>
            <a:ext cx="0" cy="1076920"/>
          </a:xfrm>
          <a:prstGeom prst="line">
            <a:avLst/>
          </a:prstGeom>
          <a:noFill/>
          <a:ln w="50800">
            <a:solidFill>
              <a:srgbClr val="C8102E"/>
            </a:solidFill>
            <a:prstDash val="solid"/>
          </a:ln>
        </p:spPr>
      </p:sp>
      <p:sp>
        <p:nvSpPr>
          <p:cNvPr id="28" name="Text 22"/>
          <p:cNvSpPr/>
          <p:nvPr/>
        </p:nvSpPr>
        <p:spPr>
          <a:xfrm>
            <a:off x="4207404" y="4383749"/>
            <a:ext cx="2816298"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5"/>
                </a:solidFill>
                <a:latin typeface="DM Sans" pitchFamily="34" charset="0"/>
                <a:ea typeface="DM Sans" pitchFamily="34" charset="-122"/>
                <a:cs typeface="DM Sans" pitchFamily="34" charset="-120"/>
              </a:rPr>
              <a:t>Test · diseño nuevo</a:t>
            </a:r>
            <a:endParaRPr lang="en-US" sz="1200" dirty="0"/>
          </a:p>
        </p:txBody>
      </p:sp>
      <p:sp>
        <p:nvSpPr>
          <p:cNvPr id="29" name="Text 23"/>
          <p:cNvSpPr/>
          <p:nvPr/>
        </p:nvSpPr>
        <p:spPr>
          <a:xfrm>
            <a:off x="4207404" y="4647870"/>
            <a:ext cx="2816298" cy="416520"/>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131B2E"/>
                </a:solidFill>
                <a:latin typeface="Space Grotesk" pitchFamily="34" charset="0"/>
                <a:ea typeface="Space Grotesk" pitchFamily="34" charset="-122"/>
                <a:cs typeface="Space Grotesk" pitchFamily="34" charset="-120"/>
              </a:rPr>
              <a:t>26.968 clientes</a:t>
            </a:r>
            <a:endParaRPr lang="en-US" sz="2200" dirty="0"/>
          </a:p>
        </p:txBody>
      </p:sp>
      <p:sp>
        <p:nvSpPr>
          <p:cNvPr id="30" name="Shape 24"/>
          <p:cNvSpPr/>
          <p:nvPr/>
        </p:nvSpPr>
        <p:spPr>
          <a:xfrm>
            <a:off x="7144875" y="4332949"/>
            <a:ext cx="4234326" cy="1076920"/>
          </a:xfrm>
          <a:prstGeom prst="roundRect">
            <a:avLst>
              <a:gd name="adj" fmla="val 9434"/>
            </a:avLst>
          </a:prstGeom>
          <a:solidFill>
            <a:srgbClr val="C8102E"/>
          </a:solidFill>
          <a:ln/>
        </p:spPr>
      </p:sp>
      <p:sp>
        <p:nvSpPr>
          <p:cNvPr id="31" name="Text 25"/>
          <p:cNvSpPr/>
          <p:nvPr/>
        </p:nvSpPr>
        <p:spPr>
          <a:xfrm>
            <a:off x="7348075" y="4485349"/>
            <a:ext cx="3942763"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FBE3E6"/>
                </a:solidFill>
                <a:latin typeface="DM Sans" pitchFamily="34" charset="0"/>
                <a:ea typeface="DM Sans" pitchFamily="34" charset="-122"/>
                <a:cs typeface="DM Sans" pitchFamily="34" charset="-120"/>
              </a:rPr>
              <a:t>Nuestra pregunta</a:t>
            </a:r>
            <a:endParaRPr lang="en-US" sz="1200" dirty="0"/>
          </a:p>
        </p:txBody>
      </p:sp>
      <p:sp>
        <p:nvSpPr>
          <p:cNvPr id="32" name="Text 26"/>
          <p:cNvSpPr/>
          <p:nvPr/>
        </p:nvSpPr>
        <p:spPr>
          <a:xfrm>
            <a:off x="7348075" y="4749470"/>
            <a:ext cx="3942763" cy="533400"/>
          </a:xfrm>
          <a:prstGeom prst="rect">
            <a:avLst/>
          </a:prstGeom>
          <a:noFill/>
          <a:ln/>
        </p:spPr>
        <p:txBody>
          <a:bodyPr wrap="square" lIns="0" tIns="0" rIns="0" bIns="0" rtlCol="0" anchor="t">
            <a:normAutofit/>
          </a:bodyPr>
          <a:lstStyle/>
          <a:p>
            <a:pPr marL="0" indent="0" algn="l">
              <a:lnSpc>
                <a:spcPts val="2000"/>
              </a:lnSpc>
              <a:buNone/>
            </a:pPr>
            <a:r>
              <a:rPr lang="es-ES" sz="1600" b="1" dirty="0">
                <a:solidFill>
                  <a:srgbClr val="FFF8F2"/>
                </a:solidFill>
                <a:latin typeface="DM Sans" pitchFamily="34" charset="0"/>
                <a:ea typeface="DM Sans" pitchFamily="34" charset="-122"/>
                <a:cs typeface="DM Sans" pitchFamily="34" charset="-120"/>
              </a:rPr>
              <a:t>¿Conseguirá el nuevo diseño que más clientes completen el proceso online?</a:t>
            </a:r>
            <a:endParaRPr lang="en-US" sz="1600" dirty="0"/>
          </a:p>
        </p:txBody>
      </p:sp>
      <p:sp>
        <p:nvSpPr>
          <p:cNvPr id="34" name="Text 28"/>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7285"/>
                </a:solidFill>
                <a:latin typeface="DM Sans" pitchFamily="34" charset="0"/>
                <a:ea typeface="DM Sans" pitchFamily="34" charset="-122"/>
                <a:cs typeface="DM Sans" pitchFamily="34" charset="-120"/>
              </a:rPr>
              <a:t>02</a:t>
            </a:r>
            <a:endParaRPr lang="en-US" sz="1200" dirty="0"/>
          </a:p>
        </p:txBody>
      </p:sp>
      <p:sp>
        <p:nvSpPr>
          <p:cNvPr id="36" name="Text 27">
            <a:extLst>
              <a:ext uri="{FF2B5EF4-FFF2-40B4-BE49-F238E27FC236}">
                <a16:creationId xmlns:a16="http://schemas.microsoft.com/office/drawing/2014/main" id="{04159C82-41AC-2F62-85DE-74B9F814A207}"/>
              </a:ext>
            </a:extLst>
          </p:cNvPr>
          <p:cNvSpPr/>
          <p:nvPr/>
        </p:nvSpPr>
        <p:spPr>
          <a:xfrm>
            <a:off x="812800" y="6238280"/>
            <a:ext cx="65405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5"/>
                </a:solidFill>
                <a:latin typeface="DM Sans" pitchFamily="34" charset="0"/>
                <a:ea typeface="DM Sans" pitchFamily="34" charset="-122"/>
                <a:cs typeface="DM Sans" pitchFamily="34" charset="-120"/>
              </a:rPr>
              <a:t>Del 15/03/2017 al 20/06/2017 · 50.500 clientes con grupo asignado</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4">
    <p:bg>
      <p:bgPr>
        <a:solidFill>
          <a:srgbClr val="F5F2EC"/>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C8102E"/>
                </a:solidFill>
                <a:latin typeface="DM Sans" pitchFamily="34" charset="0"/>
                <a:ea typeface="DM Sans" pitchFamily="34" charset="-122"/>
                <a:cs typeface="DM Sans" pitchFamily="34" charset="-120"/>
              </a:rPr>
              <a:t>RESUMEN DE DATOS</a:t>
            </a:r>
            <a:endParaRPr lang="en-US" sz="1200" dirty="0"/>
          </a:p>
        </p:txBody>
      </p:sp>
      <p:sp>
        <p:nvSpPr>
          <p:cNvPr id="3" name="Text 1"/>
          <p:cNvSpPr>
            <a:spLocks noGrp="1"/>
          </p:cNvSpPr>
          <p:nvPr>
            <p:ph type="title"/>
          </p:nvPr>
        </p:nvSpPr>
        <p:spPr>
          <a:xfrm>
            <a:off x="812800" y="1102320"/>
            <a:ext cx="10883392" cy="472414"/>
          </a:xfrm>
          <a:prstGeom prst="rect">
            <a:avLst/>
          </a:prstGeom>
          <a:noFill/>
          <a:ln/>
        </p:spPr>
        <p:txBody>
          <a:bodyPr wrap="square" lIns="0" tIns="0" rIns="0" bIns="0" rtlCol="0" anchor="t">
            <a:normAutofit/>
          </a:bodyPr>
          <a:lstStyle/>
          <a:p>
            <a:pPr marL="0" indent="0" algn="l">
              <a:lnSpc>
                <a:spcPts val="3520"/>
              </a:lnSpc>
              <a:buNone/>
            </a:pPr>
            <a:r>
              <a:rPr lang="en-US" sz="3200" b="1" i="0" dirty="0">
                <a:solidFill>
                  <a:srgbClr val="131B2E"/>
                </a:solidFill>
                <a:latin typeface="Space Grotesk" pitchFamily="34" charset="0"/>
                <a:ea typeface="Space Grotesk" pitchFamily="34" charset="-122"/>
                <a:cs typeface="Space Grotesk" pitchFamily="34" charset="-120"/>
              </a:rPr>
              <a:t>Tres fuentes de datos, unidas por el cliente</a:t>
            </a:r>
            <a:endParaRPr lang="en-US" sz="3200" dirty="0"/>
          </a:p>
        </p:txBody>
      </p:sp>
      <p:sp>
        <p:nvSpPr>
          <p:cNvPr id="4" name="Shape 2"/>
          <p:cNvSpPr/>
          <p:nvPr/>
        </p:nvSpPr>
        <p:spPr>
          <a:xfrm>
            <a:off x="819150" y="1911285"/>
            <a:ext cx="3373967" cy="2730368"/>
          </a:xfrm>
          <a:prstGeom prst="roundRect">
            <a:avLst>
              <a:gd name="adj" fmla="val 4419"/>
            </a:avLst>
          </a:prstGeom>
          <a:solidFill>
            <a:srgbClr val="FFFDF8"/>
          </a:solidFill>
          <a:ln w="12700">
            <a:solidFill>
              <a:srgbClr val="DDD5C6"/>
            </a:solidFill>
            <a:prstDash val="solid"/>
          </a:ln>
        </p:spPr>
      </p:sp>
      <p:pic>
        <p:nvPicPr>
          <p:cNvPr id="5" name="Image 0" descr="Users"/>
          <p:cNvPicPr>
            <a:picLocks noChangeAspect="1"/>
          </p:cNvPicPr>
          <p:nvPr/>
        </p:nvPicPr>
        <p:blipFill>
          <a:blip r:embed="rId3"/>
          <a:srcRect/>
          <a:stretch/>
        </p:blipFill>
        <p:spPr>
          <a:xfrm>
            <a:off x="1079500" y="2171635"/>
            <a:ext cx="355600" cy="355600"/>
          </a:xfrm>
          <a:prstGeom prst="rect">
            <a:avLst/>
          </a:prstGeom>
        </p:spPr>
      </p:pic>
      <p:sp>
        <p:nvSpPr>
          <p:cNvPr id="6" name="Text 3"/>
          <p:cNvSpPr/>
          <p:nvPr/>
        </p:nvSpPr>
        <p:spPr>
          <a:xfrm>
            <a:off x="1079500" y="2628835"/>
            <a:ext cx="2938865" cy="299707"/>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31B2E"/>
                </a:solidFill>
                <a:latin typeface="Space Grotesk" pitchFamily="34" charset="0"/>
                <a:ea typeface="Space Grotesk" pitchFamily="34" charset="-122"/>
                <a:cs typeface="Space Grotesk" pitchFamily="34" charset="-120"/>
              </a:rPr>
              <a:t>Perfiles de clientes</a:t>
            </a:r>
            <a:endParaRPr lang="en-US" sz="1800" dirty="0"/>
          </a:p>
        </p:txBody>
      </p:sp>
      <p:sp>
        <p:nvSpPr>
          <p:cNvPr id="7" name="Text 4"/>
          <p:cNvSpPr/>
          <p:nvPr/>
        </p:nvSpPr>
        <p:spPr>
          <a:xfrm>
            <a:off x="1079500" y="3004741"/>
            <a:ext cx="2938865"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5"/>
                </a:solidFill>
                <a:latin typeface="DM Sans" pitchFamily="34" charset="0"/>
                <a:ea typeface="DM Sans" pitchFamily="34" charset="-122"/>
                <a:cs typeface="DM Sans" pitchFamily="34" charset="-120"/>
              </a:rPr>
              <a:t>df_final_demo</a:t>
            </a:r>
            <a:endParaRPr lang="en-US" sz="1200" dirty="0"/>
          </a:p>
        </p:txBody>
      </p:sp>
      <p:sp>
        <p:nvSpPr>
          <p:cNvPr id="8" name="Text 5"/>
          <p:cNvSpPr/>
          <p:nvPr/>
        </p:nvSpPr>
        <p:spPr>
          <a:xfrm>
            <a:off x="1079500" y="3319661"/>
            <a:ext cx="2938865" cy="523214"/>
          </a:xfrm>
          <a:prstGeom prst="rect">
            <a:avLst/>
          </a:prstGeom>
          <a:noFill/>
          <a:ln/>
        </p:spPr>
        <p:txBody>
          <a:bodyPr wrap="square" lIns="0" tIns="0" rIns="0" bIns="0" rtlCol="0" anchor="t">
            <a:normAutofit/>
          </a:bodyPr>
          <a:lstStyle/>
          <a:p>
            <a:pPr marL="0" indent="0" algn="l">
              <a:lnSpc>
                <a:spcPts val="3920"/>
              </a:lnSpc>
              <a:buNone/>
            </a:pPr>
            <a:r>
              <a:rPr lang="en-US" sz="2800" b="1" dirty="0">
                <a:solidFill>
                  <a:srgbClr val="131B2E"/>
                </a:solidFill>
                <a:latin typeface="Space Grotesk" pitchFamily="34" charset="0"/>
                <a:ea typeface="Space Grotesk" pitchFamily="34" charset="-122"/>
                <a:cs typeface="Space Grotesk" pitchFamily="34" charset="-120"/>
              </a:rPr>
              <a:t>70.609</a:t>
            </a:r>
            <a:endParaRPr lang="en-US" sz="2800" dirty="0"/>
          </a:p>
        </p:txBody>
      </p:sp>
      <p:sp>
        <p:nvSpPr>
          <p:cNvPr id="9" name="Text 6"/>
          <p:cNvSpPr/>
          <p:nvPr/>
        </p:nvSpPr>
        <p:spPr>
          <a:xfrm>
            <a:off x="1079500" y="3919076"/>
            <a:ext cx="2938865" cy="487627"/>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266"/>
                </a:solidFill>
                <a:latin typeface="DM Sans" pitchFamily="34" charset="0"/>
                <a:ea typeface="DM Sans" pitchFamily="34" charset="-122"/>
                <a:cs typeface="DM Sans" pitchFamily="34" charset="-120"/>
              </a:rPr>
              <a:t>clientes con edad, antigüedad, género, saldo, cuentas y actividad</a:t>
            </a:r>
            <a:endParaRPr lang="en-US" sz="1300" dirty="0"/>
          </a:p>
        </p:txBody>
      </p:sp>
      <p:sp>
        <p:nvSpPr>
          <p:cNvPr id="10" name="Shape 7"/>
          <p:cNvSpPr/>
          <p:nvPr/>
        </p:nvSpPr>
        <p:spPr>
          <a:xfrm>
            <a:off x="4409017" y="1911285"/>
            <a:ext cx="3373967" cy="2730368"/>
          </a:xfrm>
          <a:prstGeom prst="roundRect">
            <a:avLst>
              <a:gd name="adj" fmla="val 4419"/>
            </a:avLst>
          </a:prstGeom>
          <a:solidFill>
            <a:srgbClr val="FFFDF8"/>
          </a:solidFill>
          <a:ln w="12700">
            <a:solidFill>
              <a:srgbClr val="DDD5C6"/>
            </a:solidFill>
            <a:prstDash val="solid"/>
          </a:ln>
        </p:spPr>
      </p:sp>
      <p:pic>
        <p:nvPicPr>
          <p:cNvPr id="11" name="Image 1" descr="Activity"/>
          <p:cNvPicPr>
            <a:picLocks noChangeAspect="1"/>
          </p:cNvPicPr>
          <p:nvPr/>
        </p:nvPicPr>
        <p:blipFill>
          <a:blip r:embed="rId4"/>
          <a:srcRect/>
          <a:stretch/>
        </p:blipFill>
        <p:spPr>
          <a:xfrm>
            <a:off x="4669367" y="2171635"/>
            <a:ext cx="355600" cy="355600"/>
          </a:xfrm>
          <a:prstGeom prst="rect">
            <a:avLst/>
          </a:prstGeom>
        </p:spPr>
      </p:pic>
      <p:sp>
        <p:nvSpPr>
          <p:cNvPr id="12" name="Text 8"/>
          <p:cNvSpPr/>
          <p:nvPr/>
        </p:nvSpPr>
        <p:spPr>
          <a:xfrm>
            <a:off x="4669367" y="2628835"/>
            <a:ext cx="2938865" cy="299707"/>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31B2E"/>
                </a:solidFill>
                <a:latin typeface="Space Grotesk" pitchFamily="34" charset="0"/>
                <a:ea typeface="Space Grotesk" pitchFamily="34" charset="-122"/>
                <a:cs typeface="Space Grotesk" pitchFamily="34" charset="-120"/>
              </a:rPr>
              <a:t>Huellas digitales</a:t>
            </a:r>
            <a:endParaRPr lang="en-US" sz="1800" dirty="0"/>
          </a:p>
        </p:txBody>
      </p:sp>
      <p:sp>
        <p:nvSpPr>
          <p:cNvPr id="13" name="Text 9"/>
          <p:cNvSpPr/>
          <p:nvPr/>
        </p:nvSpPr>
        <p:spPr>
          <a:xfrm>
            <a:off x="4669367" y="3004741"/>
            <a:ext cx="2938865"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5"/>
                </a:solidFill>
                <a:latin typeface="DM Sans" pitchFamily="34" charset="0"/>
                <a:ea typeface="DM Sans" pitchFamily="34" charset="-122"/>
                <a:cs typeface="DM Sans" pitchFamily="34" charset="-120"/>
              </a:rPr>
              <a:t>df_final_web_data (pt 1 + pt 2)</a:t>
            </a:r>
            <a:endParaRPr lang="en-US" sz="1200" dirty="0"/>
          </a:p>
        </p:txBody>
      </p:sp>
      <p:sp>
        <p:nvSpPr>
          <p:cNvPr id="14" name="Text 10"/>
          <p:cNvSpPr/>
          <p:nvPr/>
        </p:nvSpPr>
        <p:spPr>
          <a:xfrm>
            <a:off x="4669367" y="3319661"/>
            <a:ext cx="2938865" cy="523214"/>
          </a:xfrm>
          <a:prstGeom prst="rect">
            <a:avLst/>
          </a:prstGeom>
          <a:noFill/>
          <a:ln/>
        </p:spPr>
        <p:txBody>
          <a:bodyPr wrap="square" lIns="0" tIns="0" rIns="0" bIns="0" rtlCol="0" anchor="t">
            <a:normAutofit/>
          </a:bodyPr>
          <a:lstStyle/>
          <a:p>
            <a:pPr marL="0" indent="0" algn="l">
              <a:lnSpc>
                <a:spcPts val="3920"/>
              </a:lnSpc>
              <a:buNone/>
            </a:pPr>
            <a:r>
              <a:rPr lang="en-US" sz="2800" b="1" dirty="0">
                <a:solidFill>
                  <a:srgbClr val="131B2E"/>
                </a:solidFill>
                <a:latin typeface="Space Grotesk" pitchFamily="34" charset="0"/>
                <a:ea typeface="Space Grotesk" pitchFamily="34" charset="-122"/>
                <a:cs typeface="Space Grotesk" pitchFamily="34" charset="-120"/>
              </a:rPr>
              <a:t>755.405</a:t>
            </a:r>
            <a:endParaRPr lang="en-US" sz="2800" dirty="0"/>
          </a:p>
        </p:txBody>
      </p:sp>
      <p:sp>
        <p:nvSpPr>
          <p:cNvPr id="15" name="Text 11"/>
          <p:cNvSpPr/>
          <p:nvPr/>
        </p:nvSpPr>
        <p:spPr>
          <a:xfrm>
            <a:off x="4669367" y="3919076"/>
            <a:ext cx="2938865" cy="487627"/>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266"/>
                </a:solidFill>
                <a:latin typeface="DM Sans" pitchFamily="34" charset="0"/>
                <a:ea typeface="DM Sans" pitchFamily="34" charset="-122"/>
                <a:cs typeface="DM Sans" pitchFamily="34" charset="-120"/>
              </a:rPr>
              <a:t>registros web: cliente, visita, paso y fecha-hora</a:t>
            </a:r>
            <a:endParaRPr lang="en-US" sz="1300" dirty="0"/>
          </a:p>
        </p:txBody>
      </p:sp>
      <p:sp>
        <p:nvSpPr>
          <p:cNvPr id="16" name="Shape 12"/>
          <p:cNvSpPr/>
          <p:nvPr/>
        </p:nvSpPr>
        <p:spPr>
          <a:xfrm>
            <a:off x="7998884" y="1911285"/>
            <a:ext cx="3373967" cy="2730368"/>
          </a:xfrm>
          <a:prstGeom prst="roundRect">
            <a:avLst>
              <a:gd name="adj" fmla="val 4419"/>
            </a:avLst>
          </a:prstGeom>
          <a:solidFill>
            <a:srgbClr val="FFFDF8"/>
          </a:solidFill>
          <a:ln w="12700">
            <a:solidFill>
              <a:srgbClr val="DDD5C6"/>
            </a:solidFill>
            <a:prstDash val="solid"/>
          </a:ln>
        </p:spPr>
      </p:sp>
      <p:pic>
        <p:nvPicPr>
          <p:cNvPr id="17" name="Image 2" descr="Verified"/>
          <p:cNvPicPr>
            <a:picLocks noChangeAspect="1"/>
          </p:cNvPicPr>
          <p:nvPr/>
        </p:nvPicPr>
        <p:blipFill>
          <a:blip r:embed="rId5"/>
          <a:srcRect/>
          <a:stretch/>
        </p:blipFill>
        <p:spPr>
          <a:xfrm>
            <a:off x="8259234" y="2171635"/>
            <a:ext cx="355600" cy="355600"/>
          </a:xfrm>
          <a:prstGeom prst="rect">
            <a:avLst/>
          </a:prstGeom>
        </p:spPr>
      </p:pic>
      <p:sp>
        <p:nvSpPr>
          <p:cNvPr id="18" name="Text 13"/>
          <p:cNvSpPr/>
          <p:nvPr/>
        </p:nvSpPr>
        <p:spPr>
          <a:xfrm>
            <a:off x="8259234" y="2628835"/>
            <a:ext cx="2938865" cy="299707"/>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31B2E"/>
                </a:solidFill>
                <a:latin typeface="Space Grotesk" pitchFamily="34" charset="0"/>
                <a:ea typeface="Space Grotesk" pitchFamily="34" charset="-122"/>
                <a:cs typeface="Space Grotesk" pitchFamily="34" charset="-120"/>
              </a:rPr>
              <a:t>Participantes</a:t>
            </a:r>
            <a:endParaRPr lang="en-US" sz="1800" dirty="0"/>
          </a:p>
        </p:txBody>
      </p:sp>
      <p:sp>
        <p:nvSpPr>
          <p:cNvPr id="19" name="Text 14"/>
          <p:cNvSpPr/>
          <p:nvPr/>
        </p:nvSpPr>
        <p:spPr>
          <a:xfrm>
            <a:off x="8259234" y="3004741"/>
            <a:ext cx="2938865"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5"/>
                </a:solidFill>
                <a:latin typeface="DM Sans" pitchFamily="34" charset="0"/>
                <a:ea typeface="DM Sans" pitchFamily="34" charset="-122"/>
                <a:cs typeface="DM Sans" pitchFamily="34" charset="-120"/>
              </a:rPr>
              <a:t>df_final_experiment_clients</a:t>
            </a:r>
            <a:endParaRPr lang="en-US" sz="1200" dirty="0"/>
          </a:p>
        </p:txBody>
      </p:sp>
      <p:sp>
        <p:nvSpPr>
          <p:cNvPr id="20" name="Text 15"/>
          <p:cNvSpPr/>
          <p:nvPr/>
        </p:nvSpPr>
        <p:spPr>
          <a:xfrm>
            <a:off x="8259234" y="3319661"/>
            <a:ext cx="2938865" cy="523214"/>
          </a:xfrm>
          <a:prstGeom prst="rect">
            <a:avLst/>
          </a:prstGeom>
          <a:noFill/>
          <a:ln/>
        </p:spPr>
        <p:txBody>
          <a:bodyPr wrap="square" lIns="0" tIns="0" rIns="0" bIns="0" rtlCol="0" anchor="t">
            <a:normAutofit/>
          </a:bodyPr>
          <a:lstStyle/>
          <a:p>
            <a:pPr marL="0" indent="0" algn="l">
              <a:lnSpc>
                <a:spcPts val="3920"/>
              </a:lnSpc>
              <a:buNone/>
            </a:pPr>
            <a:r>
              <a:rPr lang="en-US" sz="2800" b="1" dirty="0">
                <a:solidFill>
                  <a:srgbClr val="131B2E"/>
                </a:solidFill>
                <a:latin typeface="Space Grotesk" pitchFamily="34" charset="0"/>
                <a:ea typeface="Space Grotesk" pitchFamily="34" charset="-122"/>
                <a:cs typeface="Space Grotesk" pitchFamily="34" charset="-120"/>
              </a:rPr>
              <a:t>50.500</a:t>
            </a:r>
            <a:endParaRPr lang="en-US" sz="2800" dirty="0"/>
          </a:p>
        </p:txBody>
      </p:sp>
      <p:sp>
        <p:nvSpPr>
          <p:cNvPr id="21" name="Text 16"/>
          <p:cNvSpPr/>
          <p:nvPr/>
        </p:nvSpPr>
        <p:spPr>
          <a:xfrm>
            <a:off x="8259234" y="3919076"/>
            <a:ext cx="2938865" cy="487627"/>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266"/>
                </a:solidFill>
                <a:latin typeface="DM Sans" pitchFamily="34" charset="0"/>
                <a:ea typeface="DM Sans" pitchFamily="34" charset="-122"/>
                <a:cs typeface="DM Sans" pitchFamily="34" charset="-120"/>
              </a:rPr>
              <a:t>clientes con grupo asignado: Control o Test</a:t>
            </a:r>
            <a:endParaRPr lang="en-US" sz="1300" dirty="0"/>
          </a:p>
        </p:txBody>
      </p:sp>
      <p:sp>
        <p:nvSpPr>
          <p:cNvPr id="22" name="Shape 17"/>
          <p:cNvSpPr/>
          <p:nvPr/>
        </p:nvSpPr>
        <p:spPr>
          <a:xfrm>
            <a:off x="812800" y="5003602"/>
            <a:ext cx="10566400" cy="635000"/>
          </a:xfrm>
          <a:prstGeom prst="roundRect">
            <a:avLst>
              <a:gd name="adj" fmla="val 16000"/>
            </a:avLst>
          </a:prstGeom>
          <a:solidFill>
            <a:srgbClr val="131B2E"/>
          </a:solidFill>
          <a:ln/>
        </p:spPr>
      </p:sp>
      <p:pic>
        <p:nvPicPr>
          <p:cNvPr id="23" name="Image 3" descr="Link"/>
          <p:cNvPicPr>
            <a:picLocks noChangeAspect="1"/>
          </p:cNvPicPr>
          <p:nvPr/>
        </p:nvPicPr>
        <p:blipFill>
          <a:blip r:embed="rId6"/>
          <a:srcRect/>
          <a:stretch/>
        </p:blipFill>
        <p:spPr>
          <a:xfrm>
            <a:off x="1066800" y="5181402"/>
            <a:ext cx="279400" cy="279400"/>
          </a:xfrm>
          <a:prstGeom prst="rect">
            <a:avLst/>
          </a:prstGeom>
        </p:spPr>
      </p:pic>
      <p:sp>
        <p:nvSpPr>
          <p:cNvPr id="24" name="Text 18"/>
          <p:cNvSpPr/>
          <p:nvPr/>
        </p:nvSpPr>
        <p:spPr>
          <a:xfrm>
            <a:off x="1498600" y="5187752"/>
            <a:ext cx="9053286" cy="292100"/>
          </a:xfrm>
          <a:prstGeom prst="rect">
            <a:avLst/>
          </a:prstGeom>
          <a:noFill/>
          <a:ln/>
        </p:spPr>
        <p:txBody>
          <a:bodyPr wrap="square" lIns="0" tIns="0" rIns="0" bIns="0" rtlCol="0" anchor="t">
            <a:noAutofit/>
          </a:bodyPr>
          <a:lstStyle/>
          <a:p>
            <a:pPr marL="0" indent="0" algn="l">
              <a:lnSpc>
                <a:spcPts val="2100"/>
              </a:lnSpc>
              <a:buNone/>
            </a:pPr>
            <a:r>
              <a:rPr lang="es-ES" sz="1300" dirty="0">
                <a:solidFill>
                  <a:srgbClr val="F5F2EC"/>
                </a:solidFill>
                <a:latin typeface="DM Sans" pitchFamily="34" charset="0"/>
                <a:ea typeface="DM Sans" pitchFamily="34" charset="-122"/>
                <a:cs typeface="DM Sans" pitchFamily="34" charset="-120"/>
              </a:rPr>
              <a:t>Unimos los datos mediante </a:t>
            </a:r>
            <a:r>
              <a:rPr lang="es-ES" sz="1300" dirty="0" err="1">
                <a:solidFill>
                  <a:srgbClr val="F5F2EC"/>
                </a:solidFill>
                <a:latin typeface="DM Sans" pitchFamily="34" charset="0"/>
                <a:ea typeface="DM Sans" pitchFamily="34" charset="-122"/>
                <a:cs typeface="DM Sans" pitchFamily="34" charset="-120"/>
              </a:rPr>
              <a:t>client_id</a:t>
            </a:r>
            <a:r>
              <a:rPr lang="es-ES" sz="1300" dirty="0">
                <a:solidFill>
                  <a:srgbClr val="F5F2EC"/>
                </a:solidFill>
                <a:latin typeface="DM Sans" pitchFamily="34" charset="0"/>
                <a:ea typeface="DM Sans" pitchFamily="34" charset="-122"/>
                <a:cs typeface="DM Sans" pitchFamily="34" charset="-120"/>
              </a:rPr>
              <a:t>, los limpiamos y analizamos en Python y visualizamos los resultados en </a:t>
            </a:r>
            <a:r>
              <a:rPr lang="es-ES" sz="1300" dirty="0" err="1">
                <a:solidFill>
                  <a:srgbClr val="F5F2EC"/>
                </a:solidFill>
                <a:latin typeface="DM Sans" pitchFamily="34" charset="0"/>
                <a:ea typeface="DM Sans" pitchFamily="34" charset="-122"/>
                <a:cs typeface="DM Sans" pitchFamily="34" charset="-120"/>
              </a:rPr>
              <a:t>Tableau</a:t>
            </a:r>
            <a:endParaRPr lang="en-US" sz="1300" dirty="0"/>
          </a:p>
        </p:txBody>
      </p:sp>
      <p:sp>
        <p:nvSpPr>
          <p:cNvPr id="26" name="Text 20"/>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7285"/>
                </a:solidFill>
                <a:latin typeface="DM Sans" pitchFamily="34" charset="0"/>
                <a:ea typeface="DM Sans" pitchFamily="34" charset="-122"/>
                <a:cs typeface="DM Sans" pitchFamily="34" charset="-120"/>
              </a:rPr>
              <a:t>03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C8102E"/>
                </a:solidFill>
                <a:latin typeface="DM Sans" pitchFamily="34" charset="0"/>
                <a:ea typeface="DM Sans" pitchFamily="34" charset="-122"/>
                <a:cs typeface="DM Sans" pitchFamily="34" charset="-120"/>
              </a:rPr>
              <a:t>PRUEBAS DE HIPÓTESIS · Α = 0,05</a:t>
            </a:r>
            <a:endParaRPr lang="en-US" sz="1200" dirty="0"/>
          </a:p>
        </p:txBody>
      </p:sp>
      <p:sp>
        <p:nvSpPr>
          <p:cNvPr id="3" name="Text 1"/>
          <p:cNvSpPr>
            <a:spLocks noGrp="1"/>
          </p:cNvSpPr>
          <p:nvPr>
            <p:ph type="title"/>
          </p:nvPr>
        </p:nvSpPr>
        <p:spPr>
          <a:xfrm>
            <a:off x="812800" y="1102320"/>
            <a:ext cx="10883392" cy="472414"/>
          </a:xfrm>
          <a:prstGeom prst="rect">
            <a:avLst/>
          </a:prstGeom>
          <a:noFill/>
          <a:ln/>
        </p:spPr>
        <p:txBody>
          <a:bodyPr wrap="square" lIns="0" tIns="0" rIns="0" bIns="0" rtlCol="0" anchor="t">
            <a:normAutofit/>
          </a:bodyPr>
          <a:lstStyle/>
          <a:p>
            <a:pPr marL="0" indent="0" algn="l">
              <a:lnSpc>
                <a:spcPts val="3520"/>
              </a:lnSpc>
              <a:buNone/>
            </a:pPr>
            <a:r>
              <a:rPr lang="en-US" sz="3200" b="1" i="0" dirty="0">
                <a:solidFill>
                  <a:srgbClr val="131B2E"/>
                </a:solidFill>
                <a:latin typeface="Space Grotesk" pitchFamily="34" charset="0"/>
                <a:ea typeface="Space Grotesk" pitchFamily="34" charset="-122"/>
                <a:cs typeface="Space Grotesk" pitchFamily="34" charset="-120"/>
              </a:rPr>
              <a:t>Seis contrastes para </a:t>
            </a:r>
            <a:r>
              <a:rPr lang="en-US" sz="3200" b="1" i="0" dirty="0" err="1">
                <a:solidFill>
                  <a:srgbClr val="131B2E"/>
                </a:solidFill>
                <a:latin typeface="Space Grotesk" pitchFamily="34" charset="0"/>
                <a:ea typeface="Space Grotesk" pitchFamily="34" charset="-122"/>
                <a:cs typeface="Space Grotesk" pitchFamily="34" charset="-120"/>
              </a:rPr>
              <a:t>evaluar</a:t>
            </a:r>
            <a:r>
              <a:rPr lang="en-US" sz="3200" b="1" i="0" dirty="0">
                <a:solidFill>
                  <a:srgbClr val="131B2E"/>
                </a:solidFill>
                <a:latin typeface="Space Grotesk" pitchFamily="34" charset="0"/>
                <a:ea typeface="Space Grotesk" pitchFamily="34" charset="-122"/>
                <a:cs typeface="Space Grotesk" pitchFamily="34" charset="-120"/>
              </a:rPr>
              <a:t> la </a:t>
            </a:r>
            <a:r>
              <a:rPr lang="en-US" sz="3200" b="1" i="0" dirty="0" err="1">
                <a:solidFill>
                  <a:srgbClr val="131B2E"/>
                </a:solidFill>
                <a:latin typeface="Space Grotesk" pitchFamily="34" charset="0"/>
                <a:ea typeface="Space Grotesk" pitchFamily="34" charset="-122"/>
                <a:cs typeface="Space Grotesk" pitchFamily="34" charset="-120"/>
              </a:rPr>
              <a:t>evidencia</a:t>
            </a:r>
            <a:endParaRPr lang="en-US" sz="3200" dirty="0"/>
          </a:p>
        </p:txBody>
      </p:sp>
      <p:sp>
        <p:nvSpPr>
          <p:cNvPr id="4" name="Shape 2"/>
          <p:cNvSpPr/>
          <p:nvPr/>
        </p:nvSpPr>
        <p:spPr>
          <a:xfrm>
            <a:off x="812800" y="1828738"/>
            <a:ext cx="10566400" cy="2527829"/>
          </a:xfrm>
          <a:prstGeom prst="roundRect">
            <a:avLst>
              <a:gd name="adj" fmla="val 4019"/>
            </a:avLst>
          </a:prstGeom>
          <a:solidFill>
            <a:srgbClr val="F5F2EC"/>
          </a:solidFill>
          <a:ln/>
        </p:spPr>
      </p:sp>
      <p:sp>
        <p:nvSpPr>
          <p:cNvPr id="5" name="Shape 3"/>
          <p:cNvSpPr/>
          <p:nvPr/>
        </p:nvSpPr>
        <p:spPr>
          <a:xfrm>
            <a:off x="812800" y="1828738"/>
            <a:ext cx="10566400" cy="2527829"/>
          </a:xfrm>
          <a:custGeom>
            <a:avLst/>
            <a:gdLst/>
            <a:ahLst/>
            <a:cxnLst/>
            <a:rect l="l" t="t" r="r" b="b"/>
            <a:pathLst>
              <a:path w="10566400" h="2527829">
                <a:moveTo>
                  <a:pt x="101600" y="2527829"/>
                </a:moveTo>
                <a:lnTo>
                  <a:pt x="101600" y="2527829"/>
                </a:lnTo>
                <a:arcTo wR="101600" hR="101600" stAng="5400000" swAng="5400000"/>
                <a:lnTo>
                  <a:pt x="0" y="101600"/>
                </a:lnTo>
                <a:arcTo wR="101600" hR="101600" stAng="10800000" swAng="5400000"/>
                <a:lnTo>
                  <a:pt x="10464800" y="0"/>
                </a:lnTo>
                <a:arcTo wR="101600" hR="101600" stAng="16200000" swAng="5400000"/>
                <a:lnTo>
                  <a:pt x="10566400" y="101600"/>
                </a:lnTo>
                <a:arcTo wR="101600" hR="88900" stAng="0" swAng="-5400000"/>
                <a:lnTo>
                  <a:pt x="101600" y="12700"/>
                </a:lnTo>
                <a:arcTo wR="88900" hR="88900" stAng="16200000" swAng="-5400000"/>
                <a:lnTo>
                  <a:pt x="12700" y="2426229"/>
                </a:lnTo>
                <a:arcTo wR="88900" hR="101600" stAng="10800000" swAng="-5400000"/>
                <a:close/>
              </a:path>
            </a:pathLst>
          </a:custGeom>
          <a:solidFill>
            <a:srgbClr val="141413">
              <a:alpha val="22000"/>
            </a:srgbClr>
          </a:solidFill>
          <a:ln/>
        </p:spPr>
      </p:sp>
      <p:graphicFrame>
        <p:nvGraphicFramePr>
          <p:cNvPr id="6" name="Table 0"/>
          <p:cNvGraphicFramePr>
            <a:graphicFrameLocks noGrp="1"/>
          </p:cNvGraphicFramePr>
          <p:nvPr>
            <p:extLst>
              <p:ext uri="{D42A27DB-BD31-4B8C-83A1-F6EECF244321}">
                <p14:modId xmlns:p14="http://schemas.microsoft.com/office/powerpoint/2010/main" val="1344194957"/>
              </p:ext>
            </p:extLst>
          </p:nvPr>
        </p:nvGraphicFramePr>
        <p:xfrm>
          <a:off x="812800" y="1841438"/>
          <a:ext cx="10642600" cy="2515128"/>
        </p:xfrm>
        <a:graphic>
          <a:graphicData uri="http://schemas.openxmlformats.org/drawingml/2006/table">
            <a:tbl>
              <a:tblPr/>
              <a:tblGrid>
                <a:gridCol w="638556">
                  <a:extLst>
                    <a:ext uri="{9D8B030D-6E8A-4147-A177-3AD203B41FA5}">
                      <a16:colId xmlns:a16="http://schemas.microsoft.com/office/drawing/2014/main" val="20000"/>
                    </a:ext>
                  </a:extLst>
                </a:gridCol>
                <a:gridCol w="3432899">
                  <a:extLst>
                    <a:ext uri="{9D8B030D-6E8A-4147-A177-3AD203B41FA5}">
                      <a16:colId xmlns:a16="http://schemas.microsoft.com/office/drawing/2014/main" val="20001"/>
                    </a:ext>
                  </a:extLst>
                </a:gridCol>
                <a:gridCol w="1994827">
                  <a:extLst>
                    <a:ext uri="{9D8B030D-6E8A-4147-A177-3AD203B41FA5}">
                      <a16:colId xmlns:a16="http://schemas.microsoft.com/office/drawing/2014/main" val="20002"/>
                    </a:ext>
                  </a:extLst>
                </a:gridCol>
                <a:gridCol w="2341372">
                  <a:extLst>
                    <a:ext uri="{9D8B030D-6E8A-4147-A177-3AD203B41FA5}">
                      <a16:colId xmlns:a16="http://schemas.microsoft.com/office/drawing/2014/main" val="20003"/>
                    </a:ext>
                  </a:extLst>
                </a:gridCol>
                <a:gridCol w="2234946">
                  <a:extLst>
                    <a:ext uri="{9D8B030D-6E8A-4147-A177-3AD203B41FA5}">
                      <a16:colId xmlns:a16="http://schemas.microsoft.com/office/drawing/2014/main" val="20004"/>
                    </a:ext>
                  </a:extLst>
                </a:gridCol>
              </a:tblGrid>
              <a:tr h="359304">
                <a:tc>
                  <a:txBody>
                    <a:bodyPr/>
                    <a:lstStyle/>
                    <a:p>
                      <a:pPr marL="0" indent="0">
                        <a:lnSpc>
                          <a:spcPts val="1820"/>
                        </a:lnSpc>
                        <a:buNone/>
                      </a:pPr>
                      <a:endParaRPr lang="en-US" sz="1300" dirty="0">
                        <a:latin typeface="DM Sans" charset="0"/>
                        <a:ea typeface="DM Sans" charset="0"/>
                        <a:cs typeface="DM Sans" charset="0"/>
                      </a:endParaRPr>
                    </a:p>
                  </a:txBody>
                  <a:tcPr marL="57785" marR="57785" marT="57785" marB="57785">
                    <a:lnL w="0" cap="flat" cmpd="sng" algn="ctr">
                      <a:noFill/>
                    </a:lnL>
                    <a:lnR w="12700" cap="flat" cmpd="sng" algn="ctr">
                      <a:solidFill>
                        <a:srgbClr val="131928"/>
                      </a:solidFill>
                      <a:prstDash val="solid"/>
                      <a:round/>
                      <a:headEnd type="none" w="med" len="med"/>
                      <a:tailEnd type="none" w="med" len="med"/>
                    </a:lnR>
                    <a:lnT w="0" cap="flat" cmpd="sng" algn="ctr">
                      <a:noFill/>
                    </a:lnT>
                    <a:lnB w="12700" cap="flat" cmpd="sng" algn="ctr">
                      <a:solidFill>
                        <a:srgbClr val="131928"/>
                      </a:solidFill>
                      <a:prstDash val="solid"/>
                      <a:round/>
                      <a:headEnd type="none" w="med" len="med"/>
                      <a:tailEnd type="none" w="med" len="med"/>
                    </a:lnB>
                    <a:solidFill>
                      <a:srgbClr val="131B2E"/>
                    </a:solidFill>
                  </a:tcPr>
                </a:tc>
                <a:tc>
                  <a:txBody>
                    <a:bodyPr/>
                    <a:lstStyle/>
                    <a:p>
                      <a:pPr marL="0" indent="0">
                        <a:lnSpc>
                          <a:spcPts val="1820"/>
                        </a:lnSpc>
                        <a:buNone/>
                      </a:pPr>
                      <a:r>
                        <a:rPr lang="en-US" sz="1300" b="1" dirty="0">
                          <a:solidFill>
                            <a:srgbClr val="F5F2EC"/>
                          </a:solidFill>
                          <a:latin typeface="DM Sans" pitchFamily="34" charset="0"/>
                          <a:ea typeface="DM Sans" pitchFamily="34" charset="-122"/>
                          <a:cs typeface="DM Sans" pitchFamily="34" charset="-120"/>
                        </a:rPr>
                        <a:t>Qué comprobamos</a:t>
                      </a:r>
                      <a:endParaRPr lang="en-US" sz="1300" dirty="0">
                        <a:latin typeface="DM Sans" charset="0"/>
                        <a:ea typeface="DM Sans" charset="0"/>
                        <a:cs typeface="DM Sans" charset="0"/>
                      </a:endParaRPr>
                    </a:p>
                  </a:txBody>
                  <a:tcPr marL="57785" marR="57785" marT="57785" marB="57785">
                    <a:lnL w="12700" cap="flat" cmpd="sng" algn="ctr">
                      <a:solidFill>
                        <a:srgbClr val="131928"/>
                      </a:solidFill>
                      <a:prstDash val="solid"/>
                      <a:round/>
                      <a:headEnd type="none" w="med" len="med"/>
                      <a:tailEnd type="none" w="med" len="med"/>
                    </a:lnL>
                    <a:lnR w="12700" cap="flat" cmpd="sng" algn="ctr">
                      <a:solidFill>
                        <a:srgbClr val="131928"/>
                      </a:solidFill>
                      <a:prstDash val="solid"/>
                      <a:round/>
                      <a:headEnd type="none" w="med" len="med"/>
                      <a:tailEnd type="none" w="med" len="med"/>
                    </a:lnR>
                    <a:lnT w="0" cap="flat" cmpd="sng" algn="ctr">
                      <a:noFill/>
                    </a:lnT>
                    <a:lnB w="12700" cap="flat" cmpd="sng" algn="ctr">
                      <a:solidFill>
                        <a:srgbClr val="131928"/>
                      </a:solidFill>
                      <a:prstDash val="solid"/>
                      <a:round/>
                      <a:headEnd type="none" w="med" len="med"/>
                      <a:tailEnd type="none" w="med" len="med"/>
                    </a:lnB>
                    <a:solidFill>
                      <a:srgbClr val="131B2E"/>
                    </a:solidFill>
                  </a:tcPr>
                </a:tc>
                <a:tc>
                  <a:txBody>
                    <a:bodyPr/>
                    <a:lstStyle/>
                    <a:p>
                      <a:pPr marL="0" indent="0">
                        <a:lnSpc>
                          <a:spcPts val="1820"/>
                        </a:lnSpc>
                        <a:buNone/>
                      </a:pPr>
                      <a:r>
                        <a:rPr lang="en-US" sz="1300" b="1" dirty="0">
                          <a:solidFill>
                            <a:srgbClr val="F5F2EC"/>
                          </a:solidFill>
                          <a:latin typeface="DM Sans" pitchFamily="34" charset="0"/>
                          <a:ea typeface="DM Sans" pitchFamily="34" charset="-122"/>
                          <a:cs typeface="DM Sans" pitchFamily="34" charset="-120"/>
                        </a:rPr>
                        <a:t>Prueba</a:t>
                      </a:r>
                      <a:endParaRPr lang="en-US" sz="1300" dirty="0">
                        <a:latin typeface="DM Sans" charset="0"/>
                        <a:ea typeface="DM Sans" charset="0"/>
                        <a:cs typeface="DM Sans" charset="0"/>
                      </a:endParaRPr>
                    </a:p>
                  </a:txBody>
                  <a:tcPr marL="57785" marR="57785" marT="57785" marB="57785">
                    <a:lnL w="12700" cap="flat" cmpd="sng" algn="ctr">
                      <a:solidFill>
                        <a:srgbClr val="131928"/>
                      </a:solidFill>
                      <a:prstDash val="solid"/>
                      <a:round/>
                      <a:headEnd type="none" w="med" len="med"/>
                      <a:tailEnd type="none" w="med" len="med"/>
                    </a:lnL>
                    <a:lnR w="12700" cap="flat" cmpd="sng" algn="ctr">
                      <a:solidFill>
                        <a:srgbClr val="131928"/>
                      </a:solidFill>
                      <a:prstDash val="solid"/>
                      <a:round/>
                      <a:headEnd type="none" w="med" len="med"/>
                      <a:tailEnd type="none" w="med" len="med"/>
                    </a:lnR>
                    <a:lnT w="0" cap="flat" cmpd="sng" algn="ctr">
                      <a:noFill/>
                    </a:lnT>
                    <a:lnB w="12700" cap="flat" cmpd="sng" algn="ctr">
                      <a:solidFill>
                        <a:srgbClr val="131928"/>
                      </a:solidFill>
                      <a:prstDash val="solid"/>
                      <a:round/>
                      <a:headEnd type="none" w="med" len="med"/>
                      <a:tailEnd type="none" w="med" len="med"/>
                    </a:lnB>
                    <a:solidFill>
                      <a:srgbClr val="131B2E"/>
                    </a:solidFill>
                  </a:tcPr>
                </a:tc>
                <a:tc>
                  <a:txBody>
                    <a:bodyPr/>
                    <a:lstStyle/>
                    <a:p>
                      <a:pPr marL="0" indent="0">
                        <a:lnSpc>
                          <a:spcPts val="1820"/>
                        </a:lnSpc>
                        <a:buNone/>
                      </a:pPr>
                      <a:r>
                        <a:rPr lang="en-US" sz="1300" b="1" dirty="0">
                          <a:solidFill>
                            <a:srgbClr val="F5F2EC"/>
                          </a:solidFill>
                          <a:latin typeface="DM Sans" pitchFamily="34" charset="0"/>
                          <a:ea typeface="DM Sans" pitchFamily="34" charset="-122"/>
                          <a:cs typeface="DM Sans" pitchFamily="34" charset="-120"/>
                        </a:rPr>
                        <a:t>Resultado</a:t>
                      </a:r>
                      <a:endParaRPr lang="en-US" sz="1300" dirty="0">
                        <a:latin typeface="DM Sans" charset="0"/>
                        <a:ea typeface="DM Sans" charset="0"/>
                        <a:cs typeface="DM Sans" charset="0"/>
                      </a:endParaRPr>
                    </a:p>
                  </a:txBody>
                  <a:tcPr marL="57785" marR="57785" marT="57785" marB="57785">
                    <a:lnL w="12700" cap="flat" cmpd="sng" algn="ctr">
                      <a:solidFill>
                        <a:srgbClr val="131928"/>
                      </a:solidFill>
                      <a:prstDash val="solid"/>
                      <a:round/>
                      <a:headEnd type="none" w="med" len="med"/>
                      <a:tailEnd type="none" w="med" len="med"/>
                    </a:lnL>
                    <a:lnR w="12700" cap="flat" cmpd="sng" algn="ctr">
                      <a:solidFill>
                        <a:srgbClr val="131928"/>
                      </a:solidFill>
                      <a:prstDash val="solid"/>
                      <a:round/>
                      <a:headEnd type="none" w="med" len="med"/>
                      <a:tailEnd type="none" w="med" len="med"/>
                    </a:lnR>
                    <a:lnT w="0" cap="flat" cmpd="sng" algn="ctr">
                      <a:noFill/>
                    </a:lnT>
                    <a:lnB w="12700" cap="flat" cmpd="sng" algn="ctr">
                      <a:solidFill>
                        <a:srgbClr val="131928"/>
                      </a:solidFill>
                      <a:prstDash val="solid"/>
                      <a:round/>
                      <a:headEnd type="none" w="med" len="med"/>
                      <a:tailEnd type="none" w="med" len="med"/>
                    </a:lnB>
                    <a:solidFill>
                      <a:srgbClr val="131B2E"/>
                    </a:solidFill>
                  </a:tcPr>
                </a:tc>
                <a:tc>
                  <a:txBody>
                    <a:bodyPr/>
                    <a:lstStyle/>
                    <a:p>
                      <a:pPr marL="0" indent="0">
                        <a:lnSpc>
                          <a:spcPts val="1820"/>
                        </a:lnSpc>
                        <a:buNone/>
                      </a:pPr>
                      <a:r>
                        <a:rPr lang="en-US" sz="1300" b="1" dirty="0">
                          <a:solidFill>
                            <a:srgbClr val="F5F2EC"/>
                          </a:solidFill>
                          <a:latin typeface="DM Sans" pitchFamily="34" charset="0"/>
                          <a:ea typeface="DM Sans" pitchFamily="34" charset="-122"/>
                          <a:cs typeface="DM Sans" pitchFamily="34" charset="-120"/>
                        </a:rPr>
                        <a:t>Conclusión</a:t>
                      </a:r>
                      <a:endParaRPr lang="en-US" sz="1300" dirty="0">
                        <a:latin typeface="DM Sans" charset="0"/>
                        <a:ea typeface="DM Sans" charset="0"/>
                        <a:cs typeface="DM Sans" charset="0"/>
                      </a:endParaRPr>
                    </a:p>
                  </a:txBody>
                  <a:tcPr marL="57785" marR="57785" marT="57785" marB="57785">
                    <a:lnL w="12700" cap="flat" cmpd="sng" algn="ctr">
                      <a:solidFill>
                        <a:srgbClr val="131928"/>
                      </a:solidFill>
                      <a:prstDash val="solid"/>
                      <a:round/>
                      <a:headEnd type="none" w="med" len="med"/>
                      <a:tailEnd type="none" w="med" len="med"/>
                    </a:lnL>
                    <a:lnR w="12700" cap="flat" cmpd="sng" algn="ctr">
                      <a:solidFill>
                        <a:srgbClr val="131928"/>
                      </a:solidFill>
                      <a:prstDash val="solid"/>
                      <a:round/>
                      <a:headEnd type="none" w="med" len="med"/>
                      <a:tailEnd type="none" w="med" len="med"/>
                    </a:lnR>
                    <a:lnT w="0" cap="flat" cmpd="sng" algn="ctr">
                      <a:noFill/>
                    </a:lnT>
                    <a:lnB w="12700" cap="flat" cmpd="sng" algn="ctr">
                      <a:solidFill>
                        <a:srgbClr val="131928"/>
                      </a:solidFill>
                      <a:prstDash val="solid"/>
                      <a:round/>
                      <a:headEnd type="none" w="med" len="med"/>
                      <a:tailEnd type="none" w="med" len="med"/>
                    </a:lnB>
                    <a:solidFill>
                      <a:srgbClr val="131B2E"/>
                    </a:solidFill>
                  </a:tcPr>
                </a:tc>
                <a:extLst>
                  <a:ext uri="{0D108BD9-81ED-4DB2-BD59-A6C34878D82A}">
                    <a16:rowId xmlns:a16="http://schemas.microsoft.com/office/drawing/2014/main" val="10000"/>
                  </a:ext>
                </a:extLst>
              </a:tr>
              <a:tr h="359304">
                <a:tc>
                  <a:txBody>
                    <a:bodyPr/>
                    <a:lstStyle/>
                    <a:p>
                      <a:pPr marL="0" indent="0">
                        <a:lnSpc>
                          <a:spcPts val="1820"/>
                        </a:lnSpc>
                        <a:buNone/>
                      </a:pPr>
                      <a:r>
                        <a:rPr lang="en-US" sz="1300" dirty="0">
                          <a:solidFill>
                            <a:srgbClr val="C8102E"/>
                          </a:solidFill>
                          <a:latin typeface="DM Sans" pitchFamily="34" charset="0"/>
                          <a:ea typeface="DM Sans" pitchFamily="34" charset="-122"/>
                          <a:cs typeface="DM Sans" pitchFamily="34" charset="-120"/>
                        </a:rPr>
                        <a:t>H1</a:t>
                      </a:r>
                      <a:endParaRPr lang="en-US" sz="1300" dirty="0">
                        <a:latin typeface="DM Sans" charset="0"/>
                        <a:ea typeface="DM Sans" charset="0"/>
                        <a:cs typeface="DM Sans" charset="0"/>
                      </a:endParaRPr>
                    </a:p>
                  </a:txBody>
                  <a:tcPr marL="57785" marR="57785" marT="57785" marB="57785">
                    <a:lnL w="0" cap="flat" cmpd="sng" algn="ctr">
                      <a:noFill/>
                    </a:lnL>
                    <a:lnR w="12700" cap="flat" cmpd="sng" algn="ctr">
                      <a:solidFill>
                        <a:srgbClr val="CBC6C1"/>
                      </a:solidFill>
                      <a:prstDash val="solid"/>
                      <a:round/>
                      <a:headEnd type="none" w="med" len="med"/>
                      <a:tailEnd type="none" w="med" len="med"/>
                    </a:lnR>
                    <a:lnT w="12700" cap="flat" cmpd="sng" algn="ctr">
                      <a:solidFill>
                        <a:srgbClr val="131928"/>
                      </a:solidFill>
                      <a:prstDash val="solid"/>
                      <a:round/>
                      <a:headEnd type="none" w="med" len="med"/>
                      <a:tailEnd type="none" w="med" len="med"/>
                    </a:lnT>
                    <a:lnB w="12700" cap="flat" cmpd="sng" algn="ctr">
                      <a:solidFill>
                        <a:srgbClr val="CBC6C1"/>
                      </a:solidFill>
                      <a:prstDash val="solid"/>
                      <a:round/>
                      <a:headEnd type="none" w="med" len="med"/>
                      <a:tailEnd type="none" w="med" len="med"/>
                    </a:lnB>
                    <a:solidFill>
                      <a:srgbClr val="FFF8F2"/>
                    </a:solidFill>
                  </a:tcPr>
                </a:tc>
                <a:tc>
                  <a:txBody>
                    <a:bodyPr/>
                    <a:lstStyle/>
                    <a:p>
                      <a:pPr marL="0" indent="0">
                        <a:lnSpc>
                          <a:spcPts val="1820"/>
                        </a:lnSpc>
                        <a:buNone/>
                      </a:pPr>
                      <a:r>
                        <a:rPr lang="en-US" sz="1300" dirty="0">
                          <a:solidFill>
                            <a:srgbClr val="131B2E"/>
                          </a:solidFill>
                          <a:latin typeface="DM Sans" pitchFamily="34" charset="0"/>
                          <a:ea typeface="DM Sans" pitchFamily="34" charset="-122"/>
                          <a:cs typeface="DM Sans" pitchFamily="34" charset="-120"/>
                        </a:rPr>
                        <a:t>Test termina más que Control</a:t>
                      </a:r>
                      <a:endParaRPr lang="en-US" sz="1300" dirty="0">
                        <a:latin typeface="DM Sans" charset="0"/>
                        <a:ea typeface="DM Sans" charset="0"/>
                        <a:cs typeface="DM Sans" charset="0"/>
                      </a:endParaRPr>
                    </a:p>
                  </a:txBody>
                  <a:tcPr marL="57785" marR="57785" marT="57785" marB="57785">
                    <a:lnL w="12700" cap="flat" cmpd="sng" algn="ctr">
                      <a:solidFill>
                        <a:srgbClr val="CBC6C1"/>
                      </a:solidFill>
                      <a:prstDash val="solid"/>
                      <a:round/>
                      <a:headEnd type="none" w="med" len="med"/>
                      <a:tailEnd type="none" w="med" len="med"/>
                    </a:lnL>
                    <a:lnR w="12700" cap="flat" cmpd="sng" algn="ctr">
                      <a:solidFill>
                        <a:srgbClr val="CBC6C1"/>
                      </a:solidFill>
                      <a:prstDash val="solid"/>
                      <a:round/>
                      <a:headEnd type="none" w="med" len="med"/>
                      <a:tailEnd type="none" w="med" len="med"/>
                    </a:lnR>
                    <a:lnT w="12700" cap="flat" cmpd="sng" algn="ctr">
                      <a:solidFill>
                        <a:srgbClr val="131928"/>
                      </a:solidFill>
                      <a:prstDash val="solid"/>
                      <a:round/>
                      <a:headEnd type="none" w="med" len="med"/>
                      <a:tailEnd type="none" w="med" len="med"/>
                    </a:lnT>
                    <a:lnB w="12700" cap="flat" cmpd="sng" algn="ctr">
                      <a:solidFill>
                        <a:srgbClr val="CBC6C1"/>
                      </a:solidFill>
                      <a:prstDash val="solid"/>
                      <a:round/>
                      <a:headEnd type="none" w="med" len="med"/>
                      <a:tailEnd type="none" w="med" len="med"/>
                    </a:lnB>
                    <a:solidFill>
                      <a:srgbClr val="FFF8F2"/>
                    </a:solidFill>
                  </a:tcPr>
                </a:tc>
                <a:tc>
                  <a:txBody>
                    <a:bodyPr/>
                    <a:lstStyle/>
                    <a:p>
                      <a:pPr marL="0" indent="0">
                        <a:lnSpc>
                          <a:spcPts val="1820"/>
                        </a:lnSpc>
                        <a:buNone/>
                      </a:pPr>
                      <a:r>
                        <a:rPr lang="en-US" sz="1300" dirty="0">
                          <a:solidFill>
                            <a:srgbClr val="131B2E"/>
                          </a:solidFill>
                          <a:latin typeface="DM Sans" pitchFamily="34" charset="0"/>
                          <a:ea typeface="DM Sans" pitchFamily="34" charset="-122"/>
                          <a:cs typeface="DM Sans" pitchFamily="34" charset="-120"/>
                        </a:rPr>
                        <a:t>Z, 2 proporciones</a:t>
                      </a:r>
                      <a:endParaRPr lang="en-US" sz="1300" dirty="0">
                        <a:latin typeface="DM Sans" charset="0"/>
                        <a:ea typeface="DM Sans" charset="0"/>
                        <a:cs typeface="DM Sans" charset="0"/>
                      </a:endParaRPr>
                    </a:p>
                  </a:txBody>
                  <a:tcPr marL="57785" marR="57785" marT="57785" marB="57785">
                    <a:lnL w="12700" cap="flat" cmpd="sng" algn="ctr">
                      <a:solidFill>
                        <a:srgbClr val="CBC6C1"/>
                      </a:solidFill>
                      <a:prstDash val="solid"/>
                      <a:round/>
                      <a:headEnd type="none" w="med" len="med"/>
                      <a:tailEnd type="none" w="med" len="med"/>
                    </a:lnL>
                    <a:lnR w="12700" cap="flat" cmpd="sng" algn="ctr">
                      <a:solidFill>
                        <a:srgbClr val="CBC6C1"/>
                      </a:solidFill>
                      <a:prstDash val="solid"/>
                      <a:round/>
                      <a:headEnd type="none" w="med" len="med"/>
                      <a:tailEnd type="none" w="med" len="med"/>
                    </a:lnR>
                    <a:lnT w="12700" cap="flat" cmpd="sng" algn="ctr">
                      <a:solidFill>
                        <a:srgbClr val="131928"/>
                      </a:solidFill>
                      <a:prstDash val="solid"/>
                      <a:round/>
                      <a:headEnd type="none" w="med" len="med"/>
                      <a:tailEnd type="none" w="med" len="med"/>
                    </a:lnT>
                    <a:lnB w="12700" cap="flat" cmpd="sng" algn="ctr">
                      <a:solidFill>
                        <a:srgbClr val="CBC6C1"/>
                      </a:solidFill>
                      <a:prstDash val="solid"/>
                      <a:round/>
                      <a:headEnd type="none" w="med" len="med"/>
                      <a:tailEnd type="none" w="med" len="med"/>
                    </a:lnB>
                    <a:solidFill>
                      <a:srgbClr val="FFF8F2"/>
                    </a:solidFill>
                  </a:tcPr>
                </a:tc>
                <a:tc>
                  <a:txBody>
                    <a:bodyPr/>
                    <a:lstStyle/>
                    <a:p>
                      <a:pPr marL="0" indent="0">
                        <a:lnSpc>
                          <a:spcPts val="1820"/>
                        </a:lnSpc>
                        <a:buNone/>
                      </a:pPr>
                      <a:r>
                        <a:rPr lang="en-US" sz="1300" dirty="0">
                          <a:solidFill>
                            <a:srgbClr val="131B2E"/>
                          </a:solidFill>
                          <a:latin typeface="DM Sans" pitchFamily="34" charset="0"/>
                          <a:ea typeface="DM Sans" pitchFamily="34" charset="-122"/>
                          <a:cs typeface="DM Sans" pitchFamily="34" charset="-120"/>
                        </a:rPr>
                        <a:t>z = 8,87 · p &lt; 0,001</a:t>
                      </a:r>
                      <a:endParaRPr lang="en-US" sz="1300" dirty="0">
                        <a:latin typeface="DM Sans" charset="0"/>
                        <a:ea typeface="DM Sans" charset="0"/>
                        <a:cs typeface="DM Sans" charset="0"/>
                      </a:endParaRPr>
                    </a:p>
                  </a:txBody>
                  <a:tcPr marL="57785" marR="57785" marT="57785" marB="57785">
                    <a:lnL w="12700" cap="flat" cmpd="sng" algn="ctr">
                      <a:solidFill>
                        <a:srgbClr val="CBC6C1"/>
                      </a:solidFill>
                      <a:prstDash val="solid"/>
                      <a:round/>
                      <a:headEnd type="none" w="med" len="med"/>
                      <a:tailEnd type="none" w="med" len="med"/>
                    </a:lnL>
                    <a:lnR w="12700" cap="flat" cmpd="sng" algn="ctr">
                      <a:solidFill>
                        <a:srgbClr val="CBC6C1"/>
                      </a:solidFill>
                      <a:prstDash val="solid"/>
                      <a:round/>
                      <a:headEnd type="none" w="med" len="med"/>
                      <a:tailEnd type="none" w="med" len="med"/>
                    </a:lnR>
                    <a:lnT w="12700" cap="flat" cmpd="sng" algn="ctr">
                      <a:solidFill>
                        <a:srgbClr val="131928"/>
                      </a:solidFill>
                      <a:prstDash val="solid"/>
                      <a:round/>
                      <a:headEnd type="none" w="med" len="med"/>
                      <a:tailEnd type="none" w="med" len="med"/>
                    </a:lnT>
                    <a:lnB w="12700" cap="flat" cmpd="sng" algn="ctr">
                      <a:solidFill>
                        <a:srgbClr val="CBC6C1"/>
                      </a:solidFill>
                      <a:prstDash val="solid"/>
                      <a:round/>
                      <a:headEnd type="none" w="med" len="med"/>
                      <a:tailEnd type="none" w="med" len="med"/>
                    </a:lnB>
                    <a:solidFill>
                      <a:srgbClr val="FFF8F2"/>
                    </a:solidFill>
                  </a:tcPr>
                </a:tc>
                <a:tc>
                  <a:txBody>
                    <a:bodyPr/>
                    <a:lstStyle/>
                    <a:p>
                      <a:pPr marL="0" indent="0">
                        <a:lnSpc>
                          <a:spcPts val="1820"/>
                        </a:lnSpc>
                        <a:buNone/>
                      </a:pPr>
                      <a:r>
                        <a:rPr lang="en-US" sz="1300" dirty="0">
                          <a:solidFill>
                            <a:srgbClr val="1F6E43"/>
                          </a:solidFill>
                          <a:latin typeface="DM Sans" pitchFamily="34" charset="0"/>
                          <a:ea typeface="DM Sans" pitchFamily="34" charset="-122"/>
                          <a:cs typeface="DM Sans" pitchFamily="34" charset="-120"/>
                        </a:rPr>
                        <a:t>Sí, mejora</a:t>
                      </a:r>
                      <a:endParaRPr lang="en-US" sz="1300" dirty="0">
                        <a:latin typeface="DM Sans" charset="0"/>
                        <a:ea typeface="DM Sans" charset="0"/>
                        <a:cs typeface="DM Sans" charset="0"/>
                      </a:endParaRPr>
                    </a:p>
                  </a:txBody>
                  <a:tcPr marL="57785" marR="57785" marT="57785" marB="57785">
                    <a:lnL w="12700" cap="flat" cmpd="sng" algn="ctr">
                      <a:solidFill>
                        <a:srgbClr val="CBC6C1"/>
                      </a:solidFill>
                      <a:prstDash val="solid"/>
                      <a:round/>
                      <a:headEnd type="none" w="med" len="med"/>
                      <a:tailEnd type="none" w="med" len="med"/>
                    </a:lnL>
                    <a:lnR w="12700" cap="flat" cmpd="sng" algn="ctr">
                      <a:solidFill>
                        <a:srgbClr val="CBC6C1"/>
                      </a:solidFill>
                      <a:prstDash val="solid"/>
                      <a:round/>
                      <a:headEnd type="none" w="med" len="med"/>
                      <a:tailEnd type="none" w="med" len="med"/>
                    </a:lnR>
                    <a:lnT w="12700" cap="flat" cmpd="sng" algn="ctr">
                      <a:solidFill>
                        <a:srgbClr val="131928"/>
                      </a:solidFill>
                      <a:prstDash val="solid"/>
                      <a:round/>
                      <a:headEnd type="none" w="med" len="med"/>
                      <a:tailEnd type="none" w="med" len="med"/>
                    </a:lnT>
                    <a:lnB w="12700" cap="flat" cmpd="sng" algn="ctr">
                      <a:solidFill>
                        <a:srgbClr val="CBC6C1"/>
                      </a:solidFill>
                      <a:prstDash val="solid"/>
                      <a:round/>
                      <a:headEnd type="none" w="med" len="med"/>
                      <a:tailEnd type="none" w="med" len="med"/>
                    </a:lnB>
                    <a:solidFill>
                      <a:srgbClr val="FFF8F2"/>
                    </a:solidFill>
                  </a:tcPr>
                </a:tc>
                <a:extLst>
                  <a:ext uri="{0D108BD9-81ED-4DB2-BD59-A6C34878D82A}">
                    <a16:rowId xmlns:a16="http://schemas.microsoft.com/office/drawing/2014/main" val="10001"/>
                  </a:ext>
                </a:extLst>
              </a:tr>
              <a:tr h="359304">
                <a:tc>
                  <a:txBody>
                    <a:bodyPr/>
                    <a:lstStyle/>
                    <a:p>
                      <a:pPr marL="0" indent="0">
                        <a:lnSpc>
                          <a:spcPts val="1820"/>
                        </a:lnSpc>
                        <a:buNone/>
                      </a:pPr>
                      <a:r>
                        <a:rPr lang="en-US" sz="1300" dirty="0">
                          <a:solidFill>
                            <a:srgbClr val="C8102E"/>
                          </a:solidFill>
                          <a:latin typeface="DM Sans" pitchFamily="34" charset="0"/>
                          <a:ea typeface="DM Sans" pitchFamily="34" charset="-122"/>
                          <a:cs typeface="DM Sans" pitchFamily="34" charset="-120"/>
                        </a:rPr>
                        <a:t>H2</a:t>
                      </a:r>
                      <a:endParaRPr lang="en-US" sz="1300" dirty="0">
                        <a:latin typeface="DM Sans" charset="0"/>
                        <a:ea typeface="DM Sans" charset="0"/>
                        <a:cs typeface="DM Sans" charset="0"/>
                      </a:endParaRPr>
                    </a:p>
                  </a:txBody>
                  <a:tcPr marL="57785" marR="57785" marT="57785" marB="57785">
                    <a:lnL w="0" cap="flat" cmpd="sng" algn="ctr">
                      <a:noFill/>
                    </a:lnL>
                    <a:lnR w="12700" cap="flat" cmpd="sng" algn="ctr">
                      <a:solidFill>
                        <a:srgbClr val="CBC6C1"/>
                      </a:solidFill>
                      <a:prstDash val="solid"/>
                      <a:round/>
                      <a:headEnd type="none" w="med" len="med"/>
                      <a:tailEnd type="none" w="med" len="med"/>
                    </a:lnR>
                    <a:lnT w="12700" cap="flat" cmpd="sng" algn="ctr">
                      <a:solidFill>
                        <a:srgbClr val="CBC6C1"/>
                      </a:solidFill>
                      <a:prstDash val="solid"/>
                      <a:round/>
                      <a:headEnd type="none" w="med" len="med"/>
                      <a:tailEnd type="none" w="med" len="med"/>
                    </a:lnT>
                    <a:lnB w="12700" cap="flat" cmpd="sng" algn="ctr">
                      <a:solidFill>
                        <a:srgbClr val="CBC6C1"/>
                      </a:solidFill>
                      <a:prstDash val="solid"/>
                      <a:round/>
                      <a:headEnd type="none" w="med" len="med"/>
                      <a:tailEnd type="none" w="med" len="med"/>
                    </a:lnB>
                    <a:solidFill>
                      <a:srgbClr val="FFF8F2"/>
                    </a:solidFill>
                  </a:tcPr>
                </a:tc>
                <a:tc>
                  <a:txBody>
                    <a:bodyPr/>
                    <a:lstStyle/>
                    <a:p>
                      <a:pPr marL="0" indent="0">
                        <a:lnSpc>
                          <a:spcPts val="1820"/>
                        </a:lnSpc>
                        <a:buNone/>
                      </a:pPr>
                      <a:r>
                        <a:rPr lang="en-US" sz="1300" dirty="0">
                          <a:solidFill>
                            <a:srgbClr val="131B2E"/>
                          </a:solidFill>
                          <a:latin typeface="DM Sans" pitchFamily="34" charset="0"/>
                          <a:ea typeface="DM Sans" pitchFamily="34" charset="-122"/>
                          <a:cs typeface="DM Sans" pitchFamily="34" charset="-120"/>
                        </a:rPr>
                        <a:t>La mejora supera el 5 %</a:t>
                      </a:r>
                      <a:endParaRPr lang="en-US" sz="1300" dirty="0">
                        <a:latin typeface="DM Sans" charset="0"/>
                        <a:ea typeface="DM Sans" charset="0"/>
                        <a:cs typeface="DM Sans" charset="0"/>
                      </a:endParaRPr>
                    </a:p>
                  </a:txBody>
                  <a:tcPr marL="57785" marR="57785" marT="57785" marB="57785">
                    <a:lnL w="12700" cap="flat" cmpd="sng" algn="ctr">
                      <a:solidFill>
                        <a:srgbClr val="CBC6C1"/>
                      </a:solidFill>
                      <a:prstDash val="solid"/>
                      <a:round/>
                      <a:headEnd type="none" w="med" len="med"/>
                      <a:tailEnd type="none" w="med" len="med"/>
                    </a:lnL>
                    <a:lnR w="12700" cap="flat" cmpd="sng" algn="ctr">
                      <a:solidFill>
                        <a:srgbClr val="CBC6C1"/>
                      </a:solidFill>
                      <a:prstDash val="solid"/>
                      <a:round/>
                      <a:headEnd type="none" w="med" len="med"/>
                      <a:tailEnd type="none" w="med" len="med"/>
                    </a:lnR>
                    <a:lnT w="12700" cap="flat" cmpd="sng" algn="ctr">
                      <a:solidFill>
                        <a:srgbClr val="CBC6C1"/>
                      </a:solidFill>
                      <a:prstDash val="solid"/>
                      <a:round/>
                      <a:headEnd type="none" w="med" len="med"/>
                      <a:tailEnd type="none" w="med" len="med"/>
                    </a:lnT>
                    <a:lnB w="12700" cap="flat" cmpd="sng" algn="ctr">
                      <a:solidFill>
                        <a:srgbClr val="CBC6C1"/>
                      </a:solidFill>
                      <a:prstDash val="solid"/>
                      <a:round/>
                      <a:headEnd type="none" w="med" len="med"/>
                      <a:tailEnd type="none" w="med" len="med"/>
                    </a:lnB>
                    <a:solidFill>
                      <a:srgbClr val="FFF8F2"/>
                    </a:solidFill>
                  </a:tcPr>
                </a:tc>
                <a:tc>
                  <a:txBody>
                    <a:bodyPr/>
                    <a:lstStyle/>
                    <a:p>
                      <a:pPr marL="0" indent="0">
                        <a:lnSpc>
                          <a:spcPts val="1820"/>
                        </a:lnSpc>
                        <a:buNone/>
                      </a:pPr>
                      <a:r>
                        <a:rPr lang="en-US" sz="1300" dirty="0">
                          <a:solidFill>
                            <a:srgbClr val="131B2E"/>
                          </a:solidFill>
                          <a:latin typeface="DM Sans" pitchFamily="34" charset="0"/>
                          <a:ea typeface="DM Sans" pitchFamily="34" charset="-122"/>
                          <a:cs typeface="DM Sans" pitchFamily="34" charset="-120"/>
                        </a:rPr>
                        <a:t>Z, unilateral</a:t>
                      </a:r>
                      <a:endParaRPr lang="en-US" sz="1300" dirty="0">
                        <a:latin typeface="DM Sans" charset="0"/>
                        <a:ea typeface="DM Sans" charset="0"/>
                        <a:cs typeface="DM Sans" charset="0"/>
                      </a:endParaRPr>
                    </a:p>
                  </a:txBody>
                  <a:tcPr marL="57785" marR="57785" marT="57785" marB="57785">
                    <a:lnL w="12700" cap="flat" cmpd="sng" algn="ctr">
                      <a:solidFill>
                        <a:srgbClr val="CBC6C1"/>
                      </a:solidFill>
                      <a:prstDash val="solid"/>
                      <a:round/>
                      <a:headEnd type="none" w="med" len="med"/>
                      <a:tailEnd type="none" w="med" len="med"/>
                    </a:lnL>
                    <a:lnR w="12700" cap="flat" cmpd="sng" algn="ctr">
                      <a:solidFill>
                        <a:srgbClr val="CBC6C1"/>
                      </a:solidFill>
                      <a:prstDash val="solid"/>
                      <a:round/>
                      <a:headEnd type="none" w="med" len="med"/>
                      <a:tailEnd type="none" w="med" len="med"/>
                    </a:lnR>
                    <a:lnT w="12700" cap="flat" cmpd="sng" algn="ctr">
                      <a:solidFill>
                        <a:srgbClr val="CBC6C1"/>
                      </a:solidFill>
                      <a:prstDash val="solid"/>
                      <a:round/>
                      <a:headEnd type="none" w="med" len="med"/>
                      <a:tailEnd type="none" w="med" len="med"/>
                    </a:lnT>
                    <a:lnB w="12700" cap="flat" cmpd="sng" algn="ctr">
                      <a:solidFill>
                        <a:srgbClr val="CBC6C1"/>
                      </a:solidFill>
                      <a:prstDash val="solid"/>
                      <a:round/>
                      <a:headEnd type="none" w="med" len="med"/>
                      <a:tailEnd type="none" w="med" len="med"/>
                    </a:lnB>
                    <a:solidFill>
                      <a:srgbClr val="FFF8F2"/>
                    </a:solidFill>
                  </a:tcPr>
                </a:tc>
                <a:tc>
                  <a:txBody>
                    <a:bodyPr/>
                    <a:lstStyle/>
                    <a:p>
                      <a:pPr marL="0" indent="0">
                        <a:lnSpc>
                          <a:spcPts val="1820"/>
                        </a:lnSpc>
                        <a:buNone/>
                      </a:pPr>
                      <a:r>
                        <a:rPr lang="en-US" sz="1300" dirty="0">
                          <a:solidFill>
                            <a:srgbClr val="131B2E"/>
                          </a:solidFill>
                          <a:latin typeface="DM Sans" pitchFamily="34" charset="0"/>
                          <a:ea typeface="DM Sans" pitchFamily="34" charset="-122"/>
                          <a:cs typeface="DM Sans" pitchFamily="34" charset="-120"/>
                        </a:rPr>
                        <a:t>z = 0,99 · p = 0,16</a:t>
                      </a:r>
                      <a:endParaRPr lang="en-US" sz="1300" dirty="0">
                        <a:latin typeface="DM Sans" charset="0"/>
                        <a:ea typeface="DM Sans" charset="0"/>
                        <a:cs typeface="DM Sans" charset="0"/>
                      </a:endParaRPr>
                    </a:p>
                  </a:txBody>
                  <a:tcPr marL="57785" marR="57785" marT="57785" marB="57785">
                    <a:lnL w="12700" cap="flat" cmpd="sng" algn="ctr">
                      <a:solidFill>
                        <a:srgbClr val="CBC6C1"/>
                      </a:solidFill>
                      <a:prstDash val="solid"/>
                      <a:round/>
                      <a:headEnd type="none" w="med" len="med"/>
                      <a:tailEnd type="none" w="med" len="med"/>
                    </a:lnL>
                    <a:lnR w="12700" cap="flat" cmpd="sng" algn="ctr">
                      <a:solidFill>
                        <a:srgbClr val="CBC6C1"/>
                      </a:solidFill>
                      <a:prstDash val="solid"/>
                      <a:round/>
                      <a:headEnd type="none" w="med" len="med"/>
                      <a:tailEnd type="none" w="med" len="med"/>
                    </a:lnR>
                    <a:lnT w="12700" cap="flat" cmpd="sng" algn="ctr">
                      <a:solidFill>
                        <a:srgbClr val="CBC6C1"/>
                      </a:solidFill>
                      <a:prstDash val="solid"/>
                      <a:round/>
                      <a:headEnd type="none" w="med" len="med"/>
                      <a:tailEnd type="none" w="med" len="med"/>
                    </a:lnT>
                    <a:lnB w="12700" cap="flat" cmpd="sng" algn="ctr">
                      <a:solidFill>
                        <a:srgbClr val="CBC6C1"/>
                      </a:solidFill>
                      <a:prstDash val="solid"/>
                      <a:round/>
                      <a:headEnd type="none" w="med" len="med"/>
                      <a:tailEnd type="none" w="med" len="med"/>
                    </a:lnB>
                    <a:solidFill>
                      <a:srgbClr val="FFF8F2"/>
                    </a:solidFill>
                  </a:tcPr>
                </a:tc>
                <a:tc>
                  <a:txBody>
                    <a:bodyPr/>
                    <a:lstStyle/>
                    <a:p>
                      <a:pPr marL="0" indent="0">
                        <a:lnSpc>
                          <a:spcPts val="1820"/>
                        </a:lnSpc>
                        <a:buNone/>
                      </a:pPr>
                      <a:r>
                        <a:rPr lang="en-US" sz="1300" dirty="0">
                          <a:solidFill>
                            <a:srgbClr val="B0102A"/>
                          </a:solidFill>
                          <a:latin typeface="DM Sans" pitchFamily="34" charset="0"/>
                          <a:ea typeface="DM Sans" pitchFamily="34" charset="-122"/>
                          <a:cs typeface="DM Sans" pitchFamily="34" charset="-120"/>
                        </a:rPr>
                        <a:t>No hay </a:t>
                      </a:r>
                      <a:r>
                        <a:rPr lang="en-US" sz="1300" dirty="0" err="1">
                          <a:solidFill>
                            <a:srgbClr val="B0102A"/>
                          </a:solidFill>
                          <a:latin typeface="DM Sans" pitchFamily="34" charset="0"/>
                          <a:ea typeface="DM Sans" pitchFamily="34" charset="-122"/>
                          <a:cs typeface="DM Sans" pitchFamily="34" charset="-120"/>
                        </a:rPr>
                        <a:t>evidencia</a:t>
                      </a:r>
                      <a:r>
                        <a:rPr lang="en-US" sz="1300" dirty="0">
                          <a:solidFill>
                            <a:srgbClr val="B0102A"/>
                          </a:solidFill>
                          <a:latin typeface="DM Sans" pitchFamily="34" charset="0"/>
                          <a:ea typeface="DM Sans" pitchFamily="34" charset="-122"/>
                          <a:cs typeface="DM Sans" pitchFamily="34" charset="-120"/>
                        </a:rPr>
                        <a:t> </a:t>
                      </a:r>
                      <a:r>
                        <a:rPr lang="en-US" sz="1300" dirty="0" err="1">
                          <a:solidFill>
                            <a:srgbClr val="B0102A"/>
                          </a:solidFill>
                          <a:latin typeface="DM Sans" pitchFamily="34" charset="0"/>
                          <a:ea typeface="DM Sans" pitchFamily="34" charset="-122"/>
                          <a:cs typeface="DM Sans" pitchFamily="34" charset="-120"/>
                        </a:rPr>
                        <a:t>suficiente</a:t>
                      </a:r>
                      <a:endParaRPr lang="en-US" sz="1300" dirty="0">
                        <a:latin typeface="DM Sans" charset="0"/>
                        <a:ea typeface="DM Sans" charset="0"/>
                        <a:cs typeface="DM Sans" charset="0"/>
                      </a:endParaRPr>
                    </a:p>
                  </a:txBody>
                  <a:tcPr marL="57785" marR="57785" marT="57785" marB="57785">
                    <a:lnL w="12700" cap="flat" cmpd="sng" algn="ctr">
                      <a:solidFill>
                        <a:srgbClr val="CBC6C1"/>
                      </a:solidFill>
                      <a:prstDash val="solid"/>
                      <a:round/>
                      <a:headEnd type="none" w="med" len="med"/>
                      <a:tailEnd type="none" w="med" len="med"/>
                    </a:lnL>
                    <a:lnR w="12700" cap="flat" cmpd="sng" algn="ctr">
                      <a:solidFill>
                        <a:srgbClr val="CBC6C1"/>
                      </a:solidFill>
                      <a:prstDash val="solid"/>
                      <a:round/>
                      <a:headEnd type="none" w="med" len="med"/>
                      <a:tailEnd type="none" w="med" len="med"/>
                    </a:lnR>
                    <a:lnT w="12700" cap="flat" cmpd="sng" algn="ctr">
                      <a:solidFill>
                        <a:srgbClr val="CBC6C1"/>
                      </a:solidFill>
                      <a:prstDash val="solid"/>
                      <a:round/>
                      <a:headEnd type="none" w="med" len="med"/>
                      <a:tailEnd type="none" w="med" len="med"/>
                    </a:lnT>
                    <a:lnB w="12700" cap="flat" cmpd="sng" algn="ctr">
                      <a:solidFill>
                        <a:srgbClr val="CBC6C1"/>
                      </a:solidFill>
                      <a:prstDash val="solid"/>
                      <a:round/>
                      <a:headEnd type="none" w="med" len="med"/>
                      <a:tailEnd type="none" w="med" len="med"/>
                    </a:lnB>
                    <a:solidFill>
                      <a:srgbClr val="FFF8F2"/>
                    </a:solidFill>
                  </a:tcPr>
                </a:tc>
                <a:extLst>
                  <a:ext uri="{0D108BD9-81ED-4DB2-BD59-A6C34878D82A}">
                    <a16:rowId xmlns:a16="http://schemas.microsoft.com/office/drawing/2014/main" val="10002"/>
                  </a:ext>
                </a:extLst>
              </a:tr>
              <a:tr h="359304">
                <a:tc>
                  <a:txBody>
                    <a:bodyPr/>
                    <a:lstStyle/>
                    <a:p>
                      <a:pPr marL="0" indent="0">
                        <a:lnSpc>
                          <a:spcPts val="1820"/>
                        </a:lnSpc>
                        <a:buNone/>
                      </a:pPr>
                      <a:r>
                        <a:rPr lang="en-US" sz="1300" dirty="0">
                          <a:solidFill>
                            <a:srgbClr val="6B7285"/>
                          </a:solidFill>
                          <a:latin typeface="DM Sans" pitchFamily="34" charset="0"/>
                          <a:ea typeface="DM Sans" pitchFamily="34" charset="-122"/>
                          <a:cs typeface="DM Sans" pitchFamily="34" charset="-120"/>
                        </a:rPr>
                        <a:t>H3</a:t>
                      </a:r>
                      <a:endParaRPr lang="en-US" sz="1300" dirty="0">
                        <a:latin typeface="DM Sans" charset="0"/>
                        <a:ea typeface="DM Sans" charset="0"/>
                        <a:cs typeface="DM Sans" charset="0"/>
                      </a:endParaRPr>
                    </a:p>
                  </a:txBody>
                  <a:tcPr marL="57785" marR="57785" marT="57785" marB="57785">
                    <a:lnL w="0" cap="flat" cmpd="sng" algn="ctr">
                      <a:noFill/>
                    </a:lnL>
                    <a:lnR w="12700" cap="flat" cmpd="sng" algn="ctr">
                      <a:solidFill>
                        <a:srgbClr val="C4C1BC"/>
                      </a:solidFill>
                      <a:prstDash val="solid"/>
                      <a:round/>
                      <a:headEnd type="none" w="med" len="med"/>
                      <a:tailEnd type="none" w="med" len="med"/>
                    </a:lnR>
                    <a:lnT w="12700" cap="flat" cmpd="sng" algn="ctr">
                      <a:solidFill>
                        <a:srgbClr val="CBC6C1"/>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nSpc>
                          <a:spcPts val="1820"/>
                        </a:lnSpc>
                        <a:buNone/>
                      </a:pPr>
                      <a:r>
                        <a:rPr lang="en-US" sz="1300" dirty="0">
                          <a:solidFill>
                            <a:srgbClr val="131B2E"/>
                          </a:solidFill>
                          <a:latin typeface="DM Sans" pitchFamily="34" charset="0"/>
                          <a:ea typeface="DM Sans" pitchFamily="34" charset="-122"/>
                          <a:cs typeface="DM Sans" pitchFamily="34" charset="-120"/>
                        </a:rPr>
                        <a:t>Misma edad media en ambos</a:t>
                      </a:r>
                      <a:endParaRPr lang="en-US" sz="1300" dirty="0">
                        <a:latin typeface="DM Sans" charset="0"/>
                        <a:ea typeface="DM Sans" charset="0"/>
                        <a:cs typeface="DM Sans" charset="0"/>
                      </a:endParaRPr>
                    </a:p>
                  </a:txBody>
                  <a:tcPr marL="57785" marR="57785" marT="57785" marB="57785">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BC6C1"/>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nSpc>
                          <a:spcPts val="1820"/>
                        </a:lnSpc>
                        <a:buNone/>
                      </a:pPr>
                      <a:r>
                        <a:rPr lang="en-US" sz="1300" dirty="0">
                          <a:solidFill>
                            <a:srgbClr val="131B2E"/>
                          </a:solidFill>
                          <a:latin typeface="DM Sans" pitchFamily="34" charset="0"/>
                          <a:ea typeface="DM Sans" pitchFamily="34" charset="-122"/>
                          <a:cs typeface="DM Sans" pitchFamily="34" charset="-120"/>
                        </a:rPr>
                        <a:t>t de Welch</a:t>
                      </a:r>
                      <a:endParaRPr lang="en-US" sz="1300" dirty="0">
                        <a:latin typeface="DM Sans" charset="0"/>
                        <a:ea typeface="DM Sans" charset="0"/>
                        <a:cs typeface="DM Sans" charset="0"/>
                      </a:endParaRPr>
                    </a:p>
                  </a:txBody>
                  <a:tcPr marL="57785" marR="57785" marT="57785" marB="57785">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BC6C1"/>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nSpc>
                          <a:spcPts val="1820"/>
                        </a:lnSpc>
                        <a:buNone/>
                      </a:pPr>
                      <a:r>
                        <a:rPr lang="en-US" sz="1300" dirty="0">
                          <a:solidFill>
                            <a:srgbClr val="131B2E"/>
                          </a:solidFill>
                          <a:latin typeface="DM Sans" pitchFamily="34" charset="0"/>
                          <a:ea typeface="DM Sans" pitchFamily="34" charset="-122"/>
                          <a:cs typeface="DM Sans" pitchFamily="34" charset="-120"/>
                        </a:rPr>
                        <a:t>t = −2,42 · p = 0,016</a:t>
                      </a:r>
                      <a:endParaRPr lang="en-US" sz="1300" dirty="0">
                        <a:latin typeface="DM Sans" charset="0"/>
                        <a:ea typeface="DM Sans" charset="0"/>
                        <a:cs typeface="DM Sans" charset="0"/>
                      </a:endParaRPr>
                    </a:p>
                  </a:txBody>
                  <a:tcPr marL="57785" marR="57785" marT="57785" marB="57785">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BC6C1"/>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nSpc>
                          <a:spcPts val="1820"/>
                        </a:lnSpc>
                        <a:buNone/>
                      </a:pPr>
                      <a:r>
                        <a:rPr lang="en-US" sz="1300" dirty="0">
                          <a:solidFill>
                            <a:srgbClr val="131B2E"/>
                          </a:solidFill>
                          <a:latin typeface="DM Sans" pitchFamily="34" charset="0"/>
                          <a:ea typeface="DM Sans" pitchFamily="34" charset="-122"/>
                          <a:cs typeface="DM Sans" pitchFamily="34" charset="-120"/>
                        </a:rPr>
                        <a:t>Mínima: 0,34 años</a:t>
                      </a:r>
                      <a:endParaRPr lang="en-US" sz="1300" dirty="0">
                        <a:latin typeface="DM Sans" charset="0"/>
                        <a:ea typeface="DM Sans" charset="0"/>
                        <a:cs typeface="DM Sans" charset="0"/>
                      </a:endParaRPr>
                    </a:p>
                  </a:txBody>
                  <a:tcPr marL="57785" marR="57785" marT="57785" marB="57785">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BC6C1"/>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extLst>
                  <a:ext uri="{0D108BD9-81ED-4DB2-BD59-A6C34878D82A}">
                    <a16:rowId xmlns:a16="http://schemas.microsoft.com/office/drawing/2014/main" val="10003"/>
                  </a:ext>
                </a:extLst>
              </a:tr>
              <a:tr h="359304">
                <a:tc>
                  <a:txBody>
                    <a:bodyPr/>
                    <a:lstStyle/>
                    <a:p>
                      <a:pPr marL="0" indent="0">
                        <a:lnSpc>
                          <a:spcPts val="1820"/>
                        </a:lnSpc>
                        <a:buNone/>
                      </a:pPr>
                      <a:r>
                        <a:rPr lang="en-US" sz="1300" dirty="0">
                          <a:solidFill>
                            <a:srgbClr val="6B7285"/>
                          </a:solidFill>
                          <a:latin typeface="DM Sans" pitchFamily="34" charset="0"/>
                          <a:ea typeface="DM Sans" pitchFamily="34" charset="-122"/>
                          <a:cs typeface="DM Sans" pitchFamily="34" charset="-120"/>
                        </a:rPr>
                        <a:t>H4</a:t>
                      </a:r>
                      <a:endParaRPr lang="en-US" sz="1300" dirty="0">
                        <a:latin typeface="DM Sans" charset="0"/>
                        <a:ea typeface="DM Sans" charset="0"/>
                        <a:cs typeface="DM Sans" charset="0"/>
                      </a:endParaRPr>
                    </a:p>
                  </a:txBody>
                  <a:tcPr marL="57785" marR="57785" marT="57785" marB="57785">
                    <a:lnL w="0" cap="flat" cmpd="sng" algn="ctr">
                      <a:noFill/>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nSpc>
                          <a:spcPts val="1820"/>
                        </a:lnSpc>
                        <a:buNone/>
                      </a:pPr>
                      <a:r>
                        <a:rPr lang="en-US" sz="1300" dirty="0">
                          <a:solidFill>
                            <a:srgbClr val="131B2E"/>
                          </a:solidFill>
                          <a:latin typeface="DM Sans" pitchFamily="34" charset="0"/>
                          <a:ea typeface="DM Sans" pitchFamily="34" charset="-122"/>
                          <a:cs typeface="DM Sans" pitchFamily="34" charset="-120"/>
                        </a:rPr>
                        <a:t>Misma tasa de error</a:t>
                      </a:r>
                      <a:endParaRPr lang="en-US" sz="1300" dirty="0">
                        <a:latin typeface="DM Sans" charset="0"/>
                        <a:ea typeface="DM Sans" charset="0"/>
                        <a:cs typeface="DM Sans" charset="0"/>
                      </a:endParaRPr>
                    </a:p>
                  </a:txBody>
                  <a:tcPr marL="57785" marR="57785" marT="57785" marB="57785">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nSpc>
                          <a:spcPts val="1820"/>
                        </a:lnSpc>
                        <a:buNone/>
                      </a:pPr>
                      <a:r>
                        <a:rPr lang="en-US" sz="1300" dirty="0">
                          <a:solidFill>
                            <a:srgbClr val="131B2E"/>
                          </a:solidFill>
                          <a:latin typeface="DM Sans" pitchFamily="34" charset="0"/>
                          <a:ea typeface="DM Sans" pitchFamily="34" charset="-122"/>
                          <a:cs typeface="DM Sans" pitchFamily="34" charset="-120"/>
                        </a:rPr>
                        <a:t>Z, 2 proporciones</a:t>
                      </a:r>
                      <a:endParaRPr lang="en-US" sz="1300" dirty="0">
                        <a:latin typeface="DM Sans" charset="0"/>
                        <a:ea typeface="DM Sans" charset="0"/>
                        <a:cs typeface="DM Sans" charset="0"/>
                      </a:endParaRPr>
                    </a:p>
                  </a:txBody>
                  <a:tcPr marL="57785" marR="57785" marT="57785" marB="57785">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nSpc>
                          <a:spcPts val="1820"/>
                        </a:lnSpc>
                        <a:buNone/>
                      </a:pPr>
                      <a:r>
                        <a:rPr lang="en-US" sz="1300" dirty="0">
                          <a:solidFill>
                            <a:srgbClr val="131B2E"/>
                          </a:solidFill>
                          <a:latin typeface="DM Sans" pitchFamily="34" charset="0"/>
                          <a:ea typeface="DM Sans" pitchFamily="34" charset="-122"/>
                          <a:cs typeface="DM Sans" pitchFamily="34" charset="-120"/>
                        </a:rPr>
                        <a:t>p &lt; 0,001</a:t>
                      </a:r>
                      <a:endParaRPr lang="en-US" sz="1300" dirty="0">
                        <a:latin typeface="DM Sans" charset="0"/>
                        <a:ea typeface="DM Sans" charset="0"/>
                        <a:cs typeface="DM Sans" charset="0"/>
                      </a:endParaRPr>
                    </a:p>
                  </a:txBody>
                  <a:tcPr marL="57785" marR="57785" marT="57785" marB="57785">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nSpc>
                          <a:spcPts val="1820"/>
                        </a:lnSpc>
                        <a:buNone/>
                      </a:pPr>
                      <a:r>
                        <a:rPr lang="en-US" sz="1300" dirty="0">
                          <a:solidFill>
                            <a:srgbClr val="131B2E"/>
                          </a:solidFill>
                          <a:latin typeface="DM Sans" pitchFamily="34" charset="0"/>
                          <a:ea typeface="DM Sans" pitchFamily="34" charset="-122"/>
                          <a:cs typeface="DM Sans" pitchFamily="34" charset="-120"/>
                        </a:rPr>
                        <a:t>Test, más errores</a:t>
                      </a:r>
                      <a:endParaRPr lang="en-US" sz="1300" dirty="0">
                        <a:latin typeface="DM Sans" charset="0"/>
                        <a:ea typeface="DM Sans" charset="0"/>
                        <a:cs typeface="DM Sans" charset="0"/>
                      </a:endParaRPr>
                    </a:p>
                  </a:txBody>
                  <a:tcPr marL="57785" marR="57785" marT="57785" marB="57785">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extLst>
                  <a:ext uri="{0D108BD9-81ED-4DB2-BD59-A6C34878D82A}">
                    <a16:rowId xmlns:a16="http://schemas.microsoft.com/office/drawing/2014/main" val="10004"/>
                  </a:ext>
                </a:extLst>
              </a:tr>
              <a:tr h="359304">
                <a:tc>
                  <a:txBody>
                    <a:bodyPr/>
                    <a:lstStyle/>
                    <a:p>
                      <a:pPr marL="0" indent="0">
                        <a:lnSpc>
                          <a:spcPts val="1820"/>
                        </a:lnSpc>
                        <a:buNone/>
                      </a:pPr>
                      <a:r>
                        <a:rPr lang="en-US" sz="1300" dirty="0">
                          <a:solidFill>
                            <a:srgbClr val="6B7285"/>
                          </a:solidFill>
                          <a:latin typeface="DM Sans" pitchFamily="34" charset="0"/>
                          <a:ea typeface="DM Sans" pitchFamily="34" charset="-122"/>
                          <a:cs typeface="DM Sans" pitchFamily="34" charset="-120"/>
                        </a:rPr>
                        <a:t>H5</a:t>
                      </a:r>
                      <a:endParaRPr lang="en-US" sz="1300" dirty="0">
                        <a:latin typeface="DM Sans" charset="0"/>
                        <a:ea typeface="DM Sans" charset="0"/>
                        <a:cs typeface="DM Sans" charset="0"/>
                      </a:endParaRPr>
                    </a:p>
                  </a:txBody>
                  <a:tcPr marL="57785" marR="57785" marT="57785" marB="57785">
                    <a:lnL w="0" cap="flat" cmpd="sng" algn="ctr">
                      <a:noFill/>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nSpc>
                          <a:spcPts val="1820"/>
                        </a:lnSpc>
                        <a:buNone/>
                      </a:pPr>
                      <a:r>
                        <a:rPr lang="en-US" sz="1300" dirty="0">
                          <a:solidFill>
                            <a:srgbClr val="131B2E"/>
                          </a:solidFill>
                          <a:latin typeface="DM Sans" pitchFamily="34" charset="0"/>
                          <a:ea typeface="DM Sans" pitchFamily="34" charset="-122"/>
                          <a:cs typeface="DM Sans" pitchFamily="34" charset="-120"/>
                        </a:rPr>
                        <a:t>Paso alcanzado y diseño</a:t>
                      </a:r>
                      <a:endParaRPr lang="en-US" sz="1300" dirty="0">
                        <a:latin typeface="DM Sans" charset="0"/>
                        <a:ea typeface="DM Sans" charset="0"/>
                        <a:cs typeface="DM Sans" charset="0"/>
                      </a:endParaRPr>
                    </a:p>
                  </a:txBody>
                  <a:tcPr marL="57785" marR="57785" marT="57785" marB="57785">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nSpc>
                          <a:spcPts val="1820"/>
                        </a:lnSpc>
                        <a:buNone/>
                      </a:pPr>
                      <a:r>
                        <a:rPr lang="en-US" sz="1300" dirty="0">
                          <a:solidFill>
                            <a:srgbClr val="131B2E"/>
                          </a:solidFill>
                          <a:latin typeface="DM Sans" pitchFamily="34" charset="0"/>
                          <a:ea typeface="DM Sans" pitchFamily="34" charset="-122"/>
                          <a:cs typeface="DM Sans" pitchFamily="34" charset="-120"/>
                        </a:rPr>
                        <a:t>Chi-cuadrado</a:t>
                      </a:r>
                      <a:endParaRPr lang="en-US" sz="1300" dirty="0">
                        <a:latin typeface="DM Sans" charset="0"/>
                        <a:ea typeface="DM Sans" charset="0"/>
                        <a:cs typeface="DM Sans" charset="0"/>
                      </a:endParaRPr>
                    </a:p>
                  </a:txBody>
                  <a:tcPr marL="57785" marR="57785" marT="57785" marB="57785">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nSpc>
                          <a:spcPts val="1820"/>
                        </a:lnSpc>
                        <a:buNone/>
                      </a:pPr>
                      <a:r>
                        <a:rPr lang="en-US" sz="1300" dirty="0">
                          <a:solidFill>
                            <a:srgbClr val="131B2E"/>
                          </a:solidFill>
                          <a:latin typeface="DM Sans" pitchFamily="34" charset="0"/>
                          <a:ea typeface="DM Sans" pitchFamily="34" charset="-122"/>
                          <a:cs typeface="DM Sans" pitchFamily="34" charset="-120"/>
                        </a:rPr>
                        <a:t>χ² = 312 · p &lt; 0,001</a:t>
                      </a:r>
                      <a:endParaRPr lang="en-US" sz="1300" dirty="0">
                        <a:latin typeface="DM Sans" charset="0"/>
                        <a:ea typeface="DM Sans" charset="0"/>
                        <a:cs typeface="DM Sans" charset="0"/>
                      </a:endParaRPr>
                    </a:p>
                  </a:txBody>
                  <a:tcPr marL="57785" marR="57785" marT="57785" marB="57785">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nSpc>
                          <a:spcPts val="1820"/>
                        </a:lnSpc>
                        <a:buNone/>
                      </a:pPr>
                      <a:r>
                        <a:rPr lang="en-US" sz="1300" dirty="0">
                          <a:solidFill>
                            <a:srgbClr val="131B2E"/>
                          </a:solidFill>
                          <a:latin typeface="DM Sans" pitchFamily="34" charset="0"/>
                          <a:ea typeface="DM Sans" pitchFamily="34" charset="-122"/>
                          <a:cs typeface="DM Sans" pitchFamily="34" charset="-120"/>
                        </a:rPr>
                        <a:t>Depende del diseño</a:t>
                      </a:r>
                      <a:endParaRPr lang="en-US" sz="1300" dirty="0">
                        <a:latin typeface="DM Sans" charset="0"/>
                        <a:ea typeface="DM Sans" charset="0"/>
                        <a:cs typeface="DM Sans" charset="0"/>
                      </a:endParaRPr>
                    </a:p>
                  </a:txBody>
                  <a:tcPr marL="57785" marR="57785" marT="57785" marB="57785">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extLst>
                  <a:ext uri="{0D108BD9-81ED-4DB2-BD59-A6C34878D82A}">
                    <a16:rowId xmlns:a16="http://schemas.microsoft.com/office/drawing/2014/main" val="10005"/>
                  </a:ext>
                </a:extLst>
              </a:tr>
              <a:tr h="359304">
                <a:tc>
                  <a:txBody>
                    <a:bodyPr/>
                    <a:lstStyle/>
                    <a:p>
                      <a:pPr marL="0" indent="0">
                        <a:lnSpc>
                          <a:spcPts val="1820"/>
                        </a:lnSpc>
                        <a:buNone/>
                      </a:pPr>
                      <a:r>
                        <a:rPr lang="en-US" sz="1300" dirty="0">
                          <a:solidFill>
                            <a:srgbClr val="6B7285"/>
                          </a:solidFill>
                          <a:latin typeface="DM Sans" pitchFamily="34" charset="0"/>
                          <a:ea typeface="DM Sans" pitchFamily="34" charset="-122"/>
                          <a:cs typeface="DM Sans" pitchFamily="34" charset="-120"/>
                        </a:rPr>
                        <a:t>H6</a:t>
                      </a:r>
                      <a:endParaRPr lang="en-US" sz="1300" dirty="0">
                        <a:latin typeface="DM Sans" charset="0"/>
                        <a:ea typeface="DM Sans" charset="0"/>
                        <a:cs typeface="DM Sans" charset="0"/>
                      </a:endParaRPr>
                    </a:p>
                  </a:txBody>
                  <a:tcPr marL="57785" marR="57785" marT="57785" marB="57785">
                    <a:lnL w="0" cap="flat" cmpd="sng" algn="ctr">
                      <a:noFill/>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nSpc>
                          <a:spcPts val="1820"/>
                        </a:lnSpc>
                        <a:buNone/>
                      </a:pPr>
                      <a:r>
                        <a:rPr lang="en-US" sz="1300" dirty="0">
                          <a:solidFill>
                            <a:srgbClr val="131B2E"/>
                          </a:solidFill>
                          <a:latin typeface="DM Sans" pitchFamily="34" charset="0"/>
                          <a:ea typeface="DM Sans" pitchFamily="34" charset="-122"/>
                          <a:cs typeface="DM Sans" pitchFamily="34" charset="-120"/>
                        </a:rPr>
                        <a:t>Género y grupo</a:t>
                      </a:r>
                      <a:endParaRPr lang="en-US" sz="1300" dirty="0">
                        <a:latin typeface="DM Sans" charset="0"/>
                        <a:ea typeface="DM Sans" charset="0"/>
                        <a:cs typeface="DM Sans" charset="0"/>
                      </a:endParaRPr>
                    </a:p>
                  </a:txBody>
                  <a:tcPr marL="57785" marR="57785" marT="57785" marB="57785">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nSpc>
                          <a:spcPts val="1820"/>
                        </a:lnSpc>
                        <a:buNone/>
                      </a:pPr>
                      <a:r>
                        <a:rPr lang="en-US" sz="1300" dirty="0">
                          <a:solidFill>
                            <a:srgbClr val="131B2E"/>
                          </a:solidFill>
                          <a:latin typeface="DM Sans" pitchFamily="34" charset="0"/>
                          <a:ea typeface="DM Sans" pitchFamily="34" charset="-122"/>
                          <a:cs typeface="DM Sans" pitchFamily="34" charset="-120"/>
                        </a:rPr>
                        <a:t>Chi-cuadrado</a:t>
                      </a:r>
                      <a:endParaRPr lang="en-US" sz="1300" dirty="0">
                        <a:latin typeface="DM Sans" charset="0"/>
                        <a:ea typeface="DM Sans" charset="0"/>
                        <a:cs typeface="DM Sans" charset="0"/>
                      </a:endParaRPr>
                    </a:p>
                  </a:txBody>
                  <a:tcPr marL="57785" marR="57785" marT="57785" marB="57785">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nSpc>
                          <a:spcPts val="1820"/>
                        </a:lnSpc>
                        <a:buNone/>
                      </a:pPr>
                      <a:r>
                        <a:rPr lang="en-US" sz="1300" dirty="0">
                          <a:solidFill>
                            <a:srgbClr val="131B2E"/>
                          </a:solidFill>
                          <a:latin typeface="DM Sans" pitchFamily="34" charset="0"/>
                          <a:ea typeface="DM Sans" pitchFamily="34" charset="-122"/>
                          <a:cs typeface="DM Sans" pitchFamily="34" charset="-120"/>
                        </a:rPr>
                        <a:t>χ² = 1,89 · p = 0,39</a:t>
                      </a:r>
                      <a:endParaRPr lang="en-US" sz="1300" dirty="0">
                        <a:latin typeface="DM Sans" charset="0"/>
                        <a:ea typeface="DM Sans" charset="0"/>
                        <a:cs typeface="DM Sans" charset="0"/>
                      </a:endParaRPr>
                    </a:p>
                  </a:txBody>
                  <a:tcPr marL="57785" marR="57785" marT="57785" marB="57785">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nSpc>
                          <a:spcPts val="1820"/>
                        </a:lnSpc>
                        <a:buNone/>
                      </a:pPr>
                      <a:r>
                        <a:rPr lang="en-US" sz="1300" dirty="0">
                          <a:solidFill>
                            <a:srgbClr val="131B2E"/>
                          </a:solidFill>
                          <a:latin typeface="DM Sans" pitchFamily="34" charset="0"/>
                          <a:ea typeface="DM Sans" pitchFamily="34" charset="-122"/>
                          <a:cs typeface="DM Sans" pitchFamily="34" charset="-120"/>
                        </a:rPr>
                        <a:t>Sin diferencias</a:t>
                      </a:r>
                      <a:endParaRPr lang="en-US" sz="1300" dirty="0">
                        <a:latin typeface="DM Sans" charset="0"/>
                        <a:ea typeface="DM Sans" charset="0"/>
                        <a:cs typeface="DM Sans" charset="0"/>
                      </a:endParaRPr>
                    </a:p>
                  </a:txBody>
                  <a:tcPr marL="57785" marR="57785" marT="57785" marB="57785">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7" name="Text 4"/>
          <p:cNvSpPr/>
          <p:nvPr/>
        </p:nvSpPr>
        <p:spPr>
          <a:xfrm>
            <a:off x="812800" y="4635965"/>
            <a:ext cx="9810750" cy="523214"/>
          </a:xfrm>
          <a:prstGeom prst="rect">
            <a:avLst/>
          </a:prstGeom>
          <a:noFill/>
          <a:ln/>
        </p:spPr>
        <p:txBody>
          <a:bodyPr wrap="square" lIns="0" tIns="0" rIns="0" bIns="0" rtlCol="0" anchor="t">
            <a:normAutofit/>
          </a:bodyPr>
          <a:lstStyle/>
          <a:p>
            <a:pPr>
              <a:lnSpc>
                <a:spcPts val="1960"/>
              </a:lnSpc>
            </a:pPr>
            <a:r>
              <a:rPr lang="es-ES" sz="1400" dirty="0"/>
              <a:t>Con muestras grandes, incluso diferencias pequeñas pueden resultar estadísticamente significativas. Por eso también evaluamos su relevancia práctica</a:t>
            </a:r>
            <a:endParaRPr lang="en-US" sz="1400" dirty="0"/>
          </a:p>
        </p:txBody>
      </p:sp>
      <p:sp>
        <p:nvSpPr>
          <p:cNvPr id="8" name="Text 5"/>
          <p:cNvSpPr/>
          <p:nvPr/>
        </p:nvSpPr>
        <p:spPr>
          <a:xfrm>
            <a:off x="812800" y="6238280"/>
            <a:ext cx="7194550" cy="238720"/>
          </a:xfrm>
          <a:prstGeom prst="rect">
            <a:avLst/>
          </a:prstGeom>
          <a:noFill/>
          <a:ln/>
        </p:spPr>
        <p:txBody>
          <a:bodyPr wrap="square" lIns="0" tIns="0" rIns="0" bIns="0" rtlCol="0" anchor="t">
            <a:normAutofit/>
          </a:bodyPr>
          <a:lstStyle/>
          <a:p>
            <a:pPr marL="0" indent="0" algn="l">
              <a:lnSpc>
                <a:spcPts val="1680"/>
              </a:lnSpc>
              <a:buNone/>
            </a:pPr>
            <a:endParaRPr lang="en-US" sz="1200" dirty="0"/>
          </a:p>
        </p:txBody>
      </p:sp>
      <p:sp>
        <p:nvSpPr>
          <p:cNvPr id="9" name="Text 6"/>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7285"/>
                </a:solidFill>
                <a:latin typeface="DM Sans" pitchFamily="34" charset="0"/>
                <a:ea typeface="DM Sans" pitchFamily="34" charset="-122"/>
                <a:cs typeface="DM Sans" pitchFamily="34" charset="-120"/>
              </a:rPr>
              <a:t>04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17">
    <p:bg>
      <p:bgPr>
        <a:solidFill>
          <a:srgbClr val="131B2E"/>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F26B7A"/>
                </a:solidFill>
                <a:latin typeface="DM Sans" pitchFamily="34" charset="0"/>
                <a:ea typeface="DM Sans" pitchFamily="34" charset="-122"/>
                <a:cs typeface="DM Sans" pitchFamily="34" charset="-120"/>
              </a:rPr>
              <a:t>VISUALIZACIONES EN TABLEAU · DEMO EN DIRECTO</a:t>
            </a:r>
            <a:endParaRPr lang="en-US" sz="1200" dirty="0"/>
          </a:p>
        </p:txBody>
      </p:sp>
      <p:sp>
        <p:nvSpPr>
          <p:cNvPr id="20" name="Text 18"/>
          <p:cNvSpPr/>
          <p:nvPr/>
        </p:nvSpPr>
        <p:spPr>
          <a:xfrm>
            <a:off x="812800" y="6238280"/>
            <a:ext cx="8502650" cy="238720"/>
          </a:xfrm>
          <a:prstGeom prst="rect">
            <a:avLst/>
          </a:prstGeom>
          <a:noFill/>
          <a:ln/>
        </p:spPr>
        <p:txBody>
          <a:bodyPr wrap="square" lIns="0" tIns="0" rIns="0" bIns="0" rtlCol="0" anchor="t">
            <a:normAutofit/>
          </a:bodyPr>
          <a:lstStyle/>
          <a:p>
            <a:pPr marL="0" indent="0" algn="l">
              <a:lnSpc>
                <a:spcPts val="1680"/>
              </a:lnSpc>
              <a:buNone/>
            </a:pPr>
            <a:endParaRPr lang="en-US" sz="1200" dirty="0"/>
          </a:p>
        </p:txBody>
      </p:sp>
      <p:sp>
        <p:nvSpPr>
          <p:cNvPr id="21" name="Text 19"/>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9AA3B5"/>
                </a:solidFill>
                <a:latin typeface="DM Sans" pitchFamily="34" charset="0"/>
                <a:ea typeface="DM Sans" pitchFamily="34" charset="-122"/>
                <a:cs typeface="DM Sans" pitchFamily="34" charset="-120"/>
              </a:rPr>
              <a:t>05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C8102E"/>
                </a:solidFill>
                <a:latin typeface="DM Sans" pitchFamily="34" charset="0"/>
                <a:ea typeface="DM Sans" pitchFamily="34" charset="-122"/>
                <a:cs typeface="DM Sans" pitchFamily="34" charset="-120"/>
              </a:rPr>
              <a:t>LIMITACIONES DEL ESTUDIO</a:t>
            </a:r>
            <a:endParaRPr lang="en-US" sz="1200" dirty="0"/>
          </a:p>
        </p:txBody>
      </p:sp>
      <p:sp>
        <p:nvSpPr>
          <p:cNvPr id="3" name="Text 1"/>
          <p:cNvSpPr>
            <a:spLocks noGrp="1"/>
          </p:cNvSpPr>
          <p:nvPr>
            <p:ph type="title"/>
          </p:nvPr>
        </p:nvSpPr>
        <p:spPr>
          <a:xfrm>
            <a:off x="812800" y="1102320"/>
            <a:ext cx="10883392" cy="472414"/>
          </a:xfrm>
          <a:prstGeom prst="rect">
            <a:avLst/>
          </a:prstGeom>
          <a:noFill/>
          <a:ln/>
        </p:spPr>
        <p:txBody>
          <a:bodyPr wrap="square" lIns="0" tIns="0" rIns="0" bIns="0" rtlCol="0" anchor="t">
            <a:normAutofit/>
          </a:bodyPr>
          <a:lstStyle/>
          <a:p>
            <a:pPr marL="0" indent="0" algn="l">
              <a:lnSpc>
                <a:spcPts val="3520"/>
              </a:lnSpc>
              <a:buNone/>
            </a:pPr>
            <a:r>
              <a:rPr lang="en-US" sz="3200" b="1" i="0" dirty="0">
                <a:solidFill>
                  <a:srgbClr val="131B2E"/>
                </a:solidFill>
                <a:latin typeface="Space Grotesk" pitchFamily="34" charset="0"/>
                <a:ea typeface="Space Grotesk" pitchFamily="34" charset="-122"/>
                <a:cs typeface="Space Grotesk" pitchFamily="34" charset="-120"/>
              </a:rPr>
              <a:t>¿Qué no podemos asegurar con estos datos?</a:t>
            </a:r>
            <a:endParaRPr lang="en-US" sz="3200" dirty="0"/>
          </a:p>
        </p:txBody>
      </p:sp>
      <p:sp>
        <p:nvSpPr>
          <p:cNvPr id="4" name="Shape 2"/>
          <p:cNvSpPr/>
          <p:nvPr/>
        </p:nvSpPr>
        <p:spPr>
          <a:xfrm>
            <a:off x="819150" y="1860485"/>
            <a:ext cx="5181600" cy="1254654"/>
          </a:xfrm>
          <a:prstGeom prst="roundRect">
            <a:avLst>
              <a:gd name="adj" fmla="val 9616"/>
            </a:avLst>
          </a:prstGeom>
          <a:solidFill>
            <a:srgbClr val="FFFDF8"/>
          </a:solidFill>
          <a:ln w="12700">
            <a:solidFill>
              <a:srgbClr val="DDD5C6"/>
            </a:solidFill>
            <a:prstDash val="solid"/>
          </a:ln>
        </p:spPr>
      </p:sp>
      <p:pic>
        <p:nvPicPr>
          <p:cNvPr id="5" name="Image 0" descr="Users"/>
          <p:cNvPicPr>
            <a:picLocks noChangeAspect="1"/>
          </p:cNvPicPr>
          <p:nvPr/>
        </p:nvPicPr>
        <p:blipFill>
          <a:blip r:embed="rId3"/>
          <a:srcRect l="-427" r="-427"/>
          <a:stretch/>
        </p:blipFill>
        <p:spPr>
          <a:xfrm>
            <a:off x="1079500" y="2095435"/>
            <a:ext cx="249767" cy="355600"/>
          </a:xfrm>
          <a:prstGeom prst="rect">
            <a:avLst/>
          </a:prstGeom>
        </p:spPr>
      </p:pic>
      <p:sp>
        <p:nvSpPr>
          <p:cNvPr id="6" name="Text 3"/>
          <p:cNvSpPr/>
          <p:nvPr/>
        </p:nvSpPr>
        <p:spPr>
          <a:xfrm>
            <a:off x="1507067" y="2095435"/>
            <a:ext cx="4360333" cy="284427"/>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131B2E"/>
                </a:solidFill>
                <a:latin typeface="Space Grotesk" pitchFamily="34" charset="0"/>
                <a:ea typeface="Space Grotesk" pitchFamily="34" charset="-122"/>
                <a:cs typeface="Space Grotesk" pitchFamily="34" charset="-120"/>
              </a:rPr>
              <a:t>Reparto no equilibrado</a:t>
            </a:r>
            <a:endParaRPr lang="en-US" sz="1700" dirty="0"/>
          </a:p>
        </p:txBody>
      </p:sp>
      <p:sp>
        <p:nvSpPr>
          <p:cNvPr id="7" name="Text 4"/>
          <p:cNvSpPr/>
          <p:nvPr/>
        </p:nvSpPr>
        <p:spPr>
          <a:xfrm>
            <a:off x="1507067" y="2417961"/>
            <a:ext cx="4360333" cy="487627"/>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266"/>
                </a:solidFill>
                <a:latin typeface="DM Sans" pitchFamily="34" charset="0"/>
                <a:ea typeface="DM Sans" pitchFamily="34" charset="-122"/>
                <a:cs typeface="DM Sans" pitchFamily="34" charset="-120"/>
              </a:rPr>
              <a:t>53,4 % en Test y 46,6 % en Control (p &lt; 0,001). No sabemos si era intencionado</a:t>
            </a:r>
            <a:endParaRPr lang="en-US" sz="1300" dirty="0"/>
          </a:p>
        </p:txBody>
      </p:sp>
      <p:sp>
        <p:nvSpPr>
          <p:cNvPr id="8" name="Shape 5"/>
          <p:cNvSpPr/>
          <p:nvPr/>
        </p:nvSpPr>
        <p:spPr>
          <a:xfrm>
            <a:off x="6191250" y="1860485"/>
            <a:ext cx="5181600" cy="1254654"/>
          </a:xfrm>
          <a:prstGeom prst="roundRect">
            <a:avLst>
              <a:gd name="adj" fmla="val 9616"/>
            </a:avLst>
          </a:prstGeom>
          <a:solidFill>
            <a:srgbClr val="FFFDF8"/>
          </a:solidFill>
          <a:ln w="12700">
            <a:solidFill>
              <a:srgbClr val="DDD5C6"/>
            </a:solidFill>
            <a:prstDash val="solid"/>
          </a:ln>
        </p:spPr>
      </p:sp>
      <p:pic>
        <p:nvPicPr>
          <p:cNvPr id="9" name="Image 1" descr="Globe"/>
          <p:cNvPicPr>
            <a:picLocks noChangeAspect="1"/>
          </p:cNvPicPr>
          <p:nvPr/>
        </p:nvPicPr>
        <p:blipFill>
          <a:blip r:embed="rId4"/>
          <a:srcRect l="-90" r="-90"/>
          <a:stretch/>
        </p:blipFill>
        <p:spPr>
          <a:xfrm>
            <a:off x="6451600" y="2095435"/>
            <a:ext cx="330795" cy="355600"/>
          </a:xfrm>
          <a:prstGeom prst="rect">
            <a:avLst/>
          </a:prstGeom>
        </p:spPr>
      </p:pic>
      <p:sp>
        <p:nvSpPr>
          <p:cNvPr id="10" name="Text 6"/>
          <p:cNvSpPr/>
          <p:nvPr/>
        </p:nvSpPr>
        <p:spPr>
          <a:xfrm>
            <a:off x="6960195" y="2095435"/>
            <a:ext cx="4276874" cy="284427"/>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131B2E"/>
                </a:solidFill>
                <a:latin typeface="Space Grotesk" pitchFamily="34" charset="0"/>
                <a:ea typeface="Space Grotesk" pitchFamily="34" charset="-122"/>
                <a:cs typeface="Space Grotesk" pitchFamily="34" charset="-120"/>
              </a:rPr>
              <a:t>Sin dispositivo ni navegador</a:t>
            </a:r>
            <a:endParaRPr lang="en-US" sz="1700" dirty="0"/>
          </a:p>
        </p:txBody>
      </p:sp>
      <p:sp>
        <p:nvSpPr>
          <p:cNvPr id="11" name="Text 7"/>
          <p:cNvSpPr/>
          <p:nvPr/>
        </p:nvSpPr>
        <p:spPr>
          <a:xfrm>
            <a:off x="6960195" y="2417961"/>
            <a:ext cx="4276874" cy="487627"/>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266"/>
                </a:solidFill>
                <a:latin typeface="DM Sans" pitchFamily="34" charset="0"/>
                <a:ea typeface="DM Sans" pitchFamily="34" charset="-122"/>
                <a:cs typeface="DM Sans" pitchFamily="34" charset="-120"/>
              </a:rPr>
              <a:t>No sabemos si el diseño falla más en móvil o en ordenador</a:t>
            </a:r>
            <a:endParaRPr lang="en-US" sz="1300" dirty="0"/>
          </a:p>
        </p:txBody>
      </p:sp>
      <p:sp>
        <p:nvSpPr>
          <p:cNvPr id="12" name="Shape 8"/>
          <p:cNvSpPr/>
          <p:nvPr/>
        </p:nvSpPr>
        <p:spPr>
          <a:xfrm>
            <a:off x="819150" y="3305639"/>
            <a:ext cx="5181600" cy="1254654"/>
          </a:xfrm>
          <a:prstGeom prst="roundRect">
            <a:avLst>
              <a:gd name="adj" fmla="val 9616"/>
            </a:avLst>
          </a:prstGeom>
          <a:solidFill>
            <a:srgbClr val="FFFDF8"/>
          </a:solidFill>
          <a:ln w="12700">
            <a:solidFill>
              <a:srgbClr val="DDD5C6"/>
            </a:solidFill>
            <a:prstDash val="solid"/>
          </a:ln>
        </p:spPr>
      </p:sp>
      <p:pic>
        <p:nvPicPr>
          <p:cNvPr id="13" name="Image 2" descr="Chart"/>
          <p:cNvPicPr>
            <a:picLocks noChangeAspect="1"/>
          </p:cNvPicPr>
          <p:nvPr/>
        </p:nvPicPr>
        <p:blipFill>
          <a:blip r:embed="rId5"/>
          <a:srcRect l="-577" r="-577"/>
          <a:stretch/>
        </p:blipFill>
        <p:spPr>
          <a:xfrm>
            <a:off x="1079500" y="3540589"/>
            <a:ext cx="237662" cy="355600"/>
          </a:xfrm>
          <a:prstGeom prst="rect">
            <a:avLst/>
          </a:prstGeom>
        </p:spPr>
      </p:pic>
      <p:sp>
        <p:nvSpPr>
          <p:cNvPr id="14" name="Text 9"/>
          <p:cNvSpPr/>
          <p:nvPr/>
        </p:nvSpPr>
        <p:spPr>
          <a:xfrm>
            <a:off x="1494962" y="3540589"/>
            <a:ext cx="4372801" cy="284427"/>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131B2E"/>
                </a:solidFill>
                <a:latin typeface="Space Grotesk" pitchFamily="34" charset="0"/>
                <a:ea typeface="Space Grotesk" pitchFamily="34" charset="-122"/>
                <a:cs typeface="Space Grotesk" pitchFamily="34" charset="-120"/>
              </a:rPr>
              <a:t>Sin datos económicos</a:t>
            </a:r>
            <a:endParaRPr lang="en-US" sz="1700" dirty="0"/>
          </a:p>
        </p:txBody>
      </p:sp>
      <p:sp>
        <p:nvSpPr>
          <p:cNvPr id="15" name="Text 10"/>
          <p:cNvSpPr/>
          <p:nvPr/>
        </p:nvSpPr>
        <p:spPr>
          <a:xfrm>
            <a:off x="1494962" y="3863116"/>
            <a:ext cx="4372801" cy="487627"/>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266"/>
                </a:solidFill>
                <a:latin typeface="DM Sans" pitchFamily="34" charset="0"/>
                <a:ea typeface="DM Sans" pitchFamily="34" charset="-122"/>
                <a:cs typeface="DM Sans" pitchFamily="34" charset="-120"/>
              </a:rPr>
              <a:t>Sin el coste del rediseño ni el valor de cada proceso, el 5 % no se traduce en dinero</a:t>
            </a:r>
            <a:endParaRPr lang="en-US" sz="1300" dirty="0"/>
          </a:p>
        </p:txBody>
      </p:sp>
      <p:sp>
        <p:nvSpPr>
          <p:cNvPr id="16" name="Shape 11"/>
          <p:cNvSpPr/>
          <p:nvPr/>
        </p:nvSpPr>
        <p:spPr>
          <a:xfrm>
            <a:off x="6191250" y="3305639"/>
            <a:ext cx="5181600" cy="1254654"/>
          </a:xfrm>
          <a:prstGeom prst="roundRect">
            <a:avLst>
              <a:gd name="adj" fmla="val 9616"/>
            </a:avLst>
          </a:prstGeom>
          <a:solidFill>
            <a:srgbClr val="FFFDF8"/>
          </a:solidFill>
          <a:ln w="12700">
            <a:solidFill>
              <a:srgbClr val="DDD5C6"/>
            </a:solidFill>
            <a:prstDash val="solid"/>
          </a:ln>
        </p:spPr>
      </p:sp>
      <p:pic>
        <p:nvPicPr>
          <p:cNvPr id="17" name="Image 3" descr="Search"/>
          <p:cNvPicPr>
            <a:picLocks noChangeAspect="1"/>
          </p:cNvPicPr>
          <p:nvPr/>
        </p:nvPicPr>
        <p:blipFill>
          <a:blip r:embed="rId6"/>
          <a:srcRect t="-426" b="-426"/>
          <a:stretch/>
        </p:blipFill>
        <p:spPr>
          <a:xfrm>
            <a:off x="6451600" y="3540589"/>
            <a:ext cx="333706" cy="355600"/>
          </a:xfrm>
          <a:prstGeom prst="rect">
            <a:avLst/>
          </a:prstGeom>
        </p:spPr>
      </p:pic>
      <p:sp>
        <p:nvSpPr>
          <p:cNvPr id="18" name="Text 12"/>
          <p:cNvSpPr/>
          <p:nvPr/>
        </p:nvSpPr>
        <p:spPr>
          <a:xfrm>
            <a:off x="6963106" y="3540589"/>
            <a:ext cx="4273876" cy="284427"/>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131B2E"/>
                </a:solidFill>
                <a:latin typeface="Space Grotesk" pitchFamily="34" charset="0"/>
                <a:ea typeface="Space Grotesk" pitchFamily="34" charset="-122"/>
                <a:cs typeface="Space Grotesk" pitchFamily="34" charset="-120"/>
              </a:rPr>
              <a:t>El porqué de los retrocesos</a:t>
            </a:r>
            <a:endParaRPr lang="en-US" sz="1700" dirty="0"/>
          </a:p>
        </p:txBody>
      </p:sp>
      <p:sp>
        <p:nvSpPr>
          <p:cNvPr id="19" name="Text 13"/>
          <p:cNvSpPr/>
          <p:nvPr/>
        </p:nvSpPr>
        <p:spPr>
          <a:xfrm>
            <a:off x="6963106" y="3863116"/>
            <a:ext cx="4273876" cy="487627"/>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266"/>
                </a:solidFill>
                <a:latin typeface="DM Sans" pitchFamily="34" charset="0"/>
                <a:ea typeface="DM Sans" pitchFamily="34" charset="-122"/>
                <a:cs typeface="DM Sans" pitchFamily="34" charset="-120"/>
              </a:rPr>
              <a:t>Los registros dicen dónde vuelven los clientes, no por qué</a:t>
            </a:r>
            <a:endParaRPr lang="en-US" sz="1300" dirty="0"/>
          </a:p>
        </p:txBody>
      </p:sp>
      <p:sp>
        <p:nvSpPr>
          <p:cNvPr id="20" name="Shape 14"/>
          <p:cNvSpPr/>
          <p:nvPr/>
        </p:nvSpPr>
        <p:spPr>
          <a:xfrm>
            <a:off x="812800" y="4871442"/>
            <a:ext cx="10566400" cy="596900"/>
          </a:xfrm>
          <a:prstGeom prst="roundRect">
            <a:avLst>
              <a:gd name="adj" fmla="val 17021"/>
            </a:avLst>
          </a:prstGeom>
          <a:solidFill>
            <a:srgbClr val="131B2E"/>
          </a:solidFill>
          <a:ln/>
        </p:spPr>
      </p:sp>
      <p:sp>
        <p:nvSpPr>
          <p:cNvPr id="21" name="Text 15"/>
          <p:cNvSpPr/>
          <p:nvPr/>
        </p:nvSpPr>
        <p:spPr>
          <a:xfrm>
            <a:off x="1066800" y="5063199"/>
            <a:ext cx="1231768"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F26B7A"/>
                </a:solidFill>
                <a:latin typeface="DM Sans" pitchFamily="34" charset="0"/>
                <a:ea typeface="DM Sans" pitchFamily="34" charset="-122"/>
                <a:cs typeface="DM Sans" pitchFamily="34" charset="-120"/>
              </a:rPr>
              <a:t>EN RESUMEN</a:t>
            </a:r>
            <a:endParaRPr lang="en-US" sz="1200" dirty="0"/>
          </a:p>
        </p:txBody>
      </p:sp>
      <p:sp>
        <p:nvSpPr>
          <p:cNvPr id="22" name="Text 16"/>
          <p:cNvSpPr/>
          <p:nvPr/>
        </p:nvSpPr>
        <p:spPr>
          <a:xfrm>
            <a:off x="2298568" y="5036542"/>
            <a:ext cx="8047434" cy="2921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F5F2EC"/>
                </a:solidFill>
                <a:latin typeface="DM Sans" pitchFamily="34" charset="0"/>
                <a:ea typeface="DM Sans" pitchFamily="34" charset="-122"/>
                <a:cs typeface="DM Sans" pitchFamily="34" charset="-120"/>
              </a:rPr>
              <a:t>Los resultados son prometedores, pero estas dudas condicionan la decisión</a:t>
            </a:r>
            <a:endParaRPr lang="en-US" sz="1500" dirty="0"/>
          </a:p>
        </p:txBody>
      </p:sp>
      <p:sp>
        <p:nvSpPr>
          <p:cNvPr id="23" name="Text 17"/>
          <p:cNvSpPr/>
          <p:nvPr/>
        </p:nvSpPr>
        <p:spPr>
          <a:xfrm>
            <a:off x="812800" y="6238280"/>
            <a:ext cx="719455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5"/>
                </a:solidFill>
                <a:latin typeface="DM Sans" pitchFamily="34" charset="0"/>
                <a:ea typeface="DM Sans" pitchFamily="34" charset="-122"/>
                <a:cs typeface="DM Sans" pitchFamily="34" charset="-120"/>
              </a:rPr>
              <a:t>A esto se suma el posible efecto novedad que vimos en la evolución semanal</a:t>
            </a:r>
            <a:endParaRPr lang="en-US" sz="1200" dirty="0"/>
          </a:p>
        </p:txBody>
      </p:sp>
      <p:sp>
        <p:nvSpPr>
          <p:cNvPr id="24" name="Text 18"/>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7285"/>
                </a:solidFill>
                <a:latin typeface="DM Sans" pitchFamily="34" charset="0"/>
                <a:ea typeface="DM Sans" pitchFamily="34" charset="-122"/>
                <a:cs typeface="DM Sans" pitchFamily="34" charset="-120"/>
              </a:rPr>
              <a:t>06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EAE5DB"/>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680"/>
              </a:lnSpc>
              <a:spcBef>
                <a:spcPts val="0"/>
              </a:spcBef>
              <a:spcAft>
                <a:spcPts val="0"/>
              </a:spcAft>
              <a:buClrTx/>
              <a:buSzTx/>
              <a:buFontTx/>
              <a:buNone/>
              <a:tabLst/>
              <a:defRPr/>
            </a:pPr>
            <a:r>
              <a:rPr kumimoji="0" lang="en-US" sz="1200" b="1" i="0" u="none" strike="noStrike" kern="0" cap="none" spc="150" normalizeH="0" baseline="0" noProof="0" dirty="0">
                <a:ln>
                  <a:noFill/>
                </a:ln>
                <a:solidFill>
                  <a:srgbClr val="C8102E"/>
                </a:solidFill>
                <a:effectLst/>
                <a:uLnTx/>
                <a:uFillTx/>
                <a:latin typeface="DM Sans" pitchFamily="34" charset="0"/>
                <a:ea typeface="DM Sans" pitchFamily="34" charset="-122"/>
                <a:cs typeface="DM Sans" pitchFamily="34" charset="-120"/>
              </a:rPr>
              <a:t>PRÓXIMOS PASOS</a:t>
            </a:r>
            <a:endParaRPr kumimoji="0" lang="en-US" sz="1200" b="0" i="0" u="none" strike="noStrike" kern="1200" cap="none" spc="0" normalizeH="0" baseline="0" noProof="0" dirty="0">
              <a:ln>
                <a:noFill/>
              </a:ln>
              <a:solidFill>
                <a:srgbClr val="131B2E"/>
              </a:solidFill>
              <a:effectLst/>
              <a:uLnTx/>
              <a:uFillTx/>
              <a:latin typeface="DM Sans"/>
              <a:ea typeface="+mn-ea"/>
              <a:cs typeface="+mn-cs"/>
            </a:endParaRPr>
          </a:p>
        </p:txBody>
      </p:sp>
      <p:sp>
        <p:nvSpPr>
          <p:cNvPr id="3" name="Text 1"/>
          <p:cNvSpPr>
            <a:spLocks noGrp="1"/>
          </p:cNvSpPr>
          <p:nvPr>
            <p:ph type="title"/>
          </p:nvPr>
        </p:nvSpPr>
        <p:spPr>
          <a:xfrm>
            <a:off x="812800" y="1102320"/>
            <a:ext cx="10883392" cy="919427"/>
          </a:xfrm>
          <a:prstGeom prst="rect">
            <a:avLst/>
          </a:prstGeom>
          <a:noFill/>
          <a:ln/>
        </p:spPr>
        <p:txBody>
          <a:bodyPr wrap="square" lIns="0" tIns="0" rIns="0" bIns="0" rtlCol="0" anchor="t">
            <a:normAutofit/>
          </a:bodyPr>
          <a:lstStyle/>
          <a:p>
            <a:pPr marL="0" indent="0" algn="l">
              <a:lnSpc>
                <a:spcPts val="3520"/>
              </a:lnSpc>
              <a:buNone/>
            </a:pPr>
            <a:r>
              <a:rPr lang="en-US" sz="3200" b="1" i="0" dirty="0">
                <a:solidFill>
                  <a:srgbClr val="131B2E"/>
                </a:solidFill>
                <a:latin typeface="Space Grotesk" pitchFamily="34" charset="0"/>
                <a:ea typeface="Space Grotesk" pitchFamily="34" charset="-122"/>
                <a:cs typeface="Space Grotesk" pitchFamily="34" charset="-120"/>
              </a:rPr>
              <a:t>De los datos a un plan de mejora que se pueda verificar</a:t>
            </a:r>
            <a:endParaRPr lang="en-US" sz="3200" dirty="0"/>
          </a:p>
        </p:txBody>
      </p:sp>
      <p:sp>
        <p:nvSpPr>
          <p:cNvPr id="4" name="Shape 2"/>
          <p:cNvSpPr/>
          <p:nvPr/>
        </p:nvSpPr>
        <p:spPr>
          <a:xfrm>
            <a:off x="812800" y="2351949"/>
            <a:ext cx="3149600" cy="3490053"/>
          </a:xfrm>
          <a:prstGeom prst="roundRect">
            <a:avLst>
              <a:gd name="adj" fmla="val 4032"/>
            </a:avLst>
          </a:prstGeom>
          <a:solidFill>
            <a:srgbClr val="F5F2EC"/>
          </a:solidFill>
          <a:ln/>
        </p:spPr>
      </p:sp>
      <p:sp>
        <p:nvSpPr>
          <p:cNvPr id="5" name="Text 3"/>
          <p:cNvSpPr/>
          <p:nvPr/>
        </p:nvSpPr>
        <p:spPr>
          <a:xfrm>
            <a:off x="1041400" y="2605949"/>
            <a:ext cx="257506" cy="48260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36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C8102E"/>
                </a:solidFill>
                <a:effectLst/>
                <a:uLnTx/>
                <a:uFillTx/>
                <a:latin typeface="Space Grotesk" pitchFamily="34" charset="0"/>
                <a:ea typeface="Space Grotesk" pitchFamily="34" charset="-122"/>
                <a:cs typeface="Space Grotesk" pitchFamily="34" charset="-120"/>
              </a:rPr>
              <a:t>1</a:t>
            </a:r>
            <a:endParaRPr kumimoji="0" lang="en-US" sz="3600" b="0" i="0" u="none" strike="noStrike" kern="1200" cap="none" spc="0" normalizeH="0" baseline="0" noProof="0" dirty="0">
              <a:ln>
                <a:noFill/>
              </a:ln>
              <a:solidFill>
                <a:srgbClr val="131B2E"/>
              </a:solidFill>
              <a:effectLst/>
              <a:uLnTx/>
              <a:uFillTx/>
              <a:latin typeface="DM Sans"/>
              <a:ea typeface="+mn-ea"/>
              <a:cs typeface="+mn-cs"/>
            </a:endParaRPr>
          </a:p>
        </p:txBody>
      </p:sp>
      <p:pic>
        <p:nvPicPr>
          <p:cNvPr id="6" name="Image 0" descr="Search"/>
          <p:cNvPicPr>
            <a:picLocks noChangeAspect="1"/>
          </p:cNvPicPr>
          <p:nvPr/>
        </p:nvPicPr>
        <p:blipFill>
          <a:blip r:embed="rId3"/>
          <a:srcRect/>
          <a:stretch/>
        </p:blipFill>
        <p:spPr>
          <a:xfrm>
            <a:off x="3403600" y="2669449"/>
            <a:ext cx="330200" cy="330200"/>
          </a:xfrm>
          <a:prstGeom prst="rect">
            <a:avLst/>
          </a:prstGeom>
        </p:spPr>
      </p:pic>
      <p:sp>
        <p:nvSpPr>
          <p:cNvPr id="7" name="Text 4"/>
          <p:cNvSpPr/>
          <p:nvPr/>
        </p:nvSpPr>
        <p:spPr>
          <a:xfrm>
            <a:off x="1041400" y="3177449"/>
            <a:ext cx="2773172" cy="299707"/>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216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131B2E"/>
                </a:solidFill>
                <a:effectLst/>
                <a:uLnTx/>
                <a:uFillTx/>
                <a:latin typeface="Space Grotesk" pitchFamily="34" charset="0"/>
                <a:ea typeface="Space Grotesk" pitchFamily="34" charset="-122"/>
                <a:cs typeface="Space Grotesk" pitchFamily="34" charset="-120"/>
              </a:rPr>
              <a:t>Investigar</a:t>
            </a:r>
            <a:endParaRPr kumimoji="0" lang="en-US" sz="1800" b="0" i="0" u="none" strike="noStrike" kern="1200" cap="none" spc="0" normalizeH="0" baseline="0" noProof="0" dirty="0">
              <a:ln>
                <a:noFill/>
              </a:ln>
              <a:solidFill>
                <a:srgbClr val="131B2E"/>
              </a:solidFill>
              <a:effectLst/>
              <a:uLnTx/>
              <a:uFillTx/>
              <a:latin typeface="DM Sans"/>
              <a:ea typeface="+mn-ea"/>
              <a:cs typeface="+mn-cs"/>
            </a:endParaRPr>
          </a:p>
        </p:txBody>
      </p:sp>
      <p:sp>
        <p:nvSpPr>
          <p:cNvPr id="8" name="Text 5"/>
          <p:cNvSpPr/>
          <p:nvPr/>
        </p:nvSpPr>
        <p:spPr>
          <a:xfrm>
            <a:off x="1041400" y="3566055"/>
            <a:ext cx="2773172" cy="949854"/>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82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4A5266"/>
                </a:solidFill>
                <a:effectLst/>
                <a:uLnTx/>
                <a:uFillTx/>
                <a:latin typeface="DM Sans" pitchFamily="34" charset="0"/>
                <a:ea typeface="DM Sans" pitchFamily="34" charset="-122"/>
                <a:cs typeface="DM Sans" pitchFamily="34" charset="-120"/>
              </a:rPr>
              <a:t>Grabaciones de sesiones y pruebas de usabilidad en el inicio y el </a:t>
            </a:r>
            <a:r>
              <a:rPr kumimoji="0" lang="en-US" sz="1300" b="1" i="0" u="none" strike="noStrike" kern="1200" cap="none" spc="0" normalizeH="0" baseline="0" noProof="0" dirty="0">
                <a:ln>
                  <a:noFill/>
                </a:ln>
                <a:solidFill>
                  <a:srgbClr val="4A5266"/>
                </a:solidFill>
                <a:effectLst/>
                <a:uLnTx/>
                <a:uFillTx/>
                <a:latin typeface="DM Sans" pitchFamily="34" charset="0"/>
                <a:ea typeface="DM Sans" pitchFamily="34" charset="-122"/>
                <a:cs typeface="DM Sans" pitchFamily="34" charset="-120"/>
              </a:rPr>
              <a:t>paso 1,</a:t>
            </a:r>
            <a:r>
              <a:rPr kumimoji="0" lang="en-US" sz="1300" b="0" i="0" u="none" strike="noStrike" kern="1200" cap="none" spc="0" normalizeH="0" baseline="0" noProof="0" dirty="0">
                <a:ln>
                  <a:noFill/>
                </a:ln>
                <a:solidFill>
                  <a:srgbClr val="4A5266"/>
                </a:solidFill>
                <a:effectLst/>
                <a:uLnTx/>
                <a:uFillTx/>
                <a:latin typeface="DM Sans" pitchFamily="34" charset="0"/>
                <a:ea typeface="DM Sans" pitchFamily="34" charset="-122"/>
                <a:cs typeface="DM Sans" pitchFamily="34" charset="-120"/>
              </a:rPr>
              <a:t> donde se concentran las vueltas atrás</a:t>
            </a:r>
            <a:endParaRPr kumimoji="0" lang="en-US" sz="1300" b="0" i="0" u="none" strike="noStrike" kern="1200" cap="none" spc="0" normalizeH="0" baseline="0" noProof="0" dirty="0">
              <a:ln>
                <a:noFill/>
              </a:ln>
              <a:solidFill>
                <a:srgbClr val="131B2E"/>
              </a:solidFill>
              <a:effectLst/>
              <a:uLnTx/>
              <a:uFillTx/>
              <a:latin typeface="DM Sans"/>
              <a:ea typeface="+mn-ea"/>
              <a:cs typeface="+mn-cs"/>
            </a:endParaRPr>
          </a:p>
        </p:txBody>
      </p:sp>
      <p:pic>
        <p:nvPicPr>
          <p:cNvPr id="9" name="Image 1" descr="arrow-right"/>
          <p:cNvPicPr>
            <a:picLocks noChangeAspect="1"/>
          </p:cNvPicPr>
          <p:nvPr/>
        </p:nvPicPr>
        <p:blipFill>
          <a:blip r:embed="rId4"/>
          <a:srcRect/>
          <a:stretch/>
        </p:blipFill>
        <p:spPr>
          <a:xfrm>
            <a:off x="4089400" y="4020741"/>
            <a:ext cx="304800" cy="152400"/>
          </a:xfrm>
          <a:prstGeom prst="rect">
            <a:avLst/>
          </a:prstGeom>
        </p:spPr>
      </p:pic>
      <p:sp>
        <p:nvSpPr>
          <p:cNvPr id="10" name="Shape 6"/>
          <p:cNvSpPr/>
          <p:nvPr/>
        </p:nvSpPr>
        <p:spPr>
          <a:xfrm>
            <a:off x="4521200" y="2351949"/>
            <a:ext cx="3149600" cy="3490053"/>
          </a:xfrm>
          <a:prstGeom prst="roundRect">
            <a:avLst>
              <a:gd name="adj" fmla="val 4032"/>
            </a:avLst>
          </a:prstGeom>
          <a:solidFill>
            <a:srgbClr val="F5F2EC"/>
          </a:solidFill>
          <a:ln/>
        </p:spPr>
      </p:sp>
      <p:sp>
        <p:nvSpPr>
          <p:cNvPr id="11" name="Text 7"/>
          <p:cNvSpPr/>
          <p:nvPr/>
        </p:nvSpPr>
        <p:spPr>
          <a:xfrm>
            <a:off x="4749800" y="2605949"/>
            <a:ext cx="325914" cy="48260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36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C8102E"/>
                </a:solidFill>
                <a:effectLst/>
                <a:uLnTx/>
                <a:uFillTx/>
                <a:latin typeface="Space Grotesk" pitchFamily="34" charset="0"/>
                <a:ea typeface="Space Grotesk" pitchFamily="34" charset="-122"/>
                <a:cs typeface="Space Grotesk" pitchFamily="34" charset="-120"/>
              </a:rPr>
              <a:t>2</a:t>
            </a:r>
            <a:endParaRPr kumimoji="0" lang="en-US" sz="3600" b="0" i="0" u="none" strike="noStrike" kern="1200" cap="none" spc="0" normalizeH="0" baseline="0" noProof="0" dirty="0">
              <a:ln>
                <a:noFill/>
              </a:ln>
              <a:solidFill>
                <a:srgbClr val="131B2E"/>
              </a:solidFill>
              <a:effectLst/>
              <a:uLnTx/>
              <a:uFillTx/>
              <a:latin typeface="DM Sans"/>
              <a:ea typeface="+mn-ea"/>
              <a:cs typeface="+mn-cs"/>
            </a:endParaRPr>
          </a:p>
        </p:txBody>
      </p:sp>
      <p:pic>
        <p:nvPicPr>
          <p:cNvPr id="12" name="Image 2" descr="Wrench"/>
          <p:cNvPicPr>
            <a:picLocks noChangeAspect="1"/>
          </p:cNvPicPr>
          <p:nvPr/>
        </p:nvPicPr>
        <p:blipFill>
          <a:blip r:embed="rId5"/>
          <a:srcRect/>
          <a:stretch/>
        </p:blipFill>
        <p:spPr>
          <a:xfrm>
            <a:off x="7112000" y="2669449"/>
            <a:ext cx="330200" cy="330200"/>
          </a:xfrm>
          <a:prstGeom prst="rect">
            <a:avLst/>
          </a:prstGeom>
        </p:spPr>
      </p:pic>
      <p:sp>
        <p:nvSpPr>
          <p:cNvPr id="13" name="Text 8"/>
          <p:cNvSpPr/>
          <p:nvPr/>
        </p:nvSpPr>
        <p:spPr>
          <a:xfrm>
            <a:off x="4749800" y="3177449"/>
            <a:ext cx="2773172" cy="299707"/>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216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131B2E"/>
                </a:solidFill>
                <a:effectLst/>
                <a:uLnTx/>
                <a:uFillTx/>
                <a:latin typeface="Space Grotesk" pitchFamily="34" charset="0"/>
                <a:ea typeface="Space Grotesk" pitchFamily="34" charset="-122"/>
                <a:cs typeface="Space Grotesk" pitchFamily="34" charset="-120"/>
              </a:rPr>
              <a:t>Optimizar</a:t>
            </a:r>
            <a:endParaRPr kumimoji="0" lang="en-US" sz="1800" b="0" i="0" u="none" strike="noStrike" kern="1200" cap="none" spc="0" normalizeH="0" baseline="0" noProof="0" dirty="0">
              <a:ln>
                <a:noFill/>
              </a:ln>
              <a:solidFill>
                <a:srgbClr val="131B2E"/>
              </a:solidFill>
              <a:effectLst/>
              <a:uLnTx/>
              <a:uFillTx/>
              <a:latin typeface="DM Sans"/>
              <a:ea typeface="+mn-ea"/>
              <a:cs typeface="+mn-cs"/>
            </a:endParaRPr>
          </a:p>
        </p:txBody>
      </p:sp>
      <p:sp>
        <p:nvSpPr>
          <p:cNvPr id="14" name="Text 9"/>
          <p:cNvSpPr/>
          <p:nvPr/>
        </p:nvSpPr>
        <p:spPr>
          <a:xfrm>
            <a:off x="4749800" y="3566055"/>
            <a:ext cx="2773172" cy="718741"/>
          </a:xfrm>
          <a:prstGeom prst="rect">
            <a:avLst/>
          </a:prstGeom>
          <a:noFill/>
          <a:ln/>
        </p:spPr>
        <p:txBody>
          <a:bodyPr wrap="square" lIns="0" tIns="0" rIns="0" bIns="0" rtlCol="0" anchor="t">
            <a:normAutofit fontScale="92500"/>
          </a:bodyPr>
          <a:lstStyle/>
          <a:p>
            <a:pPr marL="0" marR="0" lvl="0" indent="0" algn="l" defTabSz="914400" rtl="0" eaLnBrk="1" fontAlgn="auto" latinLnBrk="0" hangingPunct="1">
              <a:lnSpc>
                <a:spcPts val="182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4A5266"/>
                </a:solidFill>
                <a:effectLst/>
                <a:uLnTx/>
                <a:uFillTx/>
                <a:latin typeface="DM Sans" pitchFamily="34" charset="0"/>
                <a:ea typeface="DM Sans" pitchFamily="34" charset="-122"/>
                <a:cs typeface="DM Sans" pitchFamily="34" charset="-120"/>
              </a:rPr>
              <a:t>Rediseñar las primeras pantallas para que el cliente no tenga que </a:t>
            </a:r>
            <a:r>
              <a:rPr kumimoji="0" lang="en-US" sz="1300" b="0" i="0" u="none" strike="noStrike" kern="1200" cap="none" spc="0" normalizeH="0" baseline="0" noProof="0" dirty="0" err="1">
                <a:ln>
                  <a:noFill/>
                </a:ln>
                <a:solidFill>
                  <a:srgbClr val="4A5266"/>
                </a:solidFill>
                <a:effectLst/>
                <a:uLnTx/>
                <a:uFillTx/>
                <a:latin typeface="DM Sans" pitchFamily="34" charset="0"/>
                <a:ea typeface="DM Sans" pitchFamily="34" charset="-122"/>
                <a:cs typeface="DM Sans" pitchFamily="34" charset="-120"/>
              </a:rPr>
              <a:t>volver</a:t>
            </a:r>
            <a:r>
              <a:rPr kumimoji="0" lang="en-US" sz="1300" b="0" i="0" u="none" strike="noStrike" kern="1200" cap="none" spc="0" normalizeH="0" baseline="0" noProof="0" dirty="0">
                <a:ln>
                  <a:noFill/>
                </a:ln>
                <a:solidFill>
                  <a:srgbClr val="4A5266"/>
                </a:solidFill>
                <a:effectLst/>
                <a:uLnTx/>
                <a:uFillTx/>
                <a:latin typeface="DM Sans" pitchFamily="34" charset="0"/>
                <a:ea typeface="DM Sans" pitchFamily="34" charset="-122"/>
                <a:cs typeface="DM Sans" pitchFamily="34" charset="-120"/>
              </a:rPr>
              <a:t> </a:t>
            </a:r>
            <a:r>
              <a:rPr kumimoji="0" lang="en-US" sz="1300" b="0" i="0" u="none" strike="noStrike" kern="1200" cap="none" spc="0" normalizeH="0" baseline="0" noProof="0" dirty="0" err="1">
                <a:ln>
                  <a:noFill/>
                </a:ln>
                <a:solidFill>
                  <a:srgbClr val="4A5266"/>
                </a:solidFill>
                <a:effectLst/>
                <a:uLnTx/>
                <a:uFillTx/>
                <a:latin typeface="DM Sans" pitchFamily="34" charset="0"/>
                <a:ea typeface="DM Sans" pitchFamily="34" charset="-122"/>
                <a:cs typeface="DM Sans" pitchFamily="34" charset="-120"/>
              </a:rPr>
              <a:t>atrás</a:t>
            </a:r>
            <a:r>
              <a:rPr lang="en-US" sz="1300" dirty="0">
                <a:solidFill>
                  <a:srgbClr val="4A5266"/>
                </a:solidFill>
                <a:latin typeface="DM Sans" pitchFamily="34" charset="0"/>
                <a:ea typeface="DM Sans" pitchFamily="34" charset="-122"/>
                <a:cs typeface="DM Sans" pitchFamily="34" charset="-120"/>
              </a:rPr>
              <a:t> y </a:t>
            </a:r>
            <a:r>
              <a:rPr lang="en-US" sz="1300" dirty="0" err="1">
                <a:solidFill>
                  <a:srgbClr val="4A5266"/>
                </a:solidFill>
                <a:latin typeface="DM Sans" pitchFamily="34" charset="0"/>
                <a:ea typeface="DM Sans" pitchFamily="34" charset="-122"/>
                <a:cs typeface="DM Sans" pitchFamily="34" charset="-120"/>
              </a:rPr>
              <a:t>añadir</a:t>
            </a:r>
            <a:r>
              <a:rPr lang="en-US" sz="1300" dirty="0">
                <a:solidFill>
                  <a:srgbClr val="4A5266"/>
                </a:solidFill>
                <a:latin typeface="DM Sans" pitchFamily="34" charset="0"/>
                <a:ea typeface="DM Sans" pitchFamily="34" charset="-122"/>
                <a:cs typeface="DM Sans" pitchFamily="34" charset="-120"/>
              </a:rPr>
              <a:t> una Demo </a:t>
            </a:r>
            <a:r>
              <a:rPr lang="en-US" sz="1300" dirty="0" err="1">
                <a:solidFill>
                  <a:srgbClr val="4A5266"/>
                </a:solidFill>
                <a:latin typeface="DM Sans" pitchFamily="34" charset="0"/>
                <a:ea typeface="DM Sans" pitchFamily="34" charset="-122"/>
                <a:cs typeface="DM Sans" pitchFamily="34" charset="-120"/>
              </a:rPr>
              <a:t>inicial</a:t>
            </a:r>
            <a:r>
              <a:rPr lang="en-US" sz="1300" dirty="0">
                <a:solidFill>
                  <a:srgbClr val="4A5266"/>
                </a:solidFill>
                <a:latin typeface="DM Sans" pitchFamily="34" charset="0"/>
                <a:ea typeface="DM Sans" pitchFamily="34" charset="-122"/>
                <a:cs typeface="DM Sans" pitchFamily="34" charset="-120"/>
              </a:rPr>
              <a:t>.</a:t>
            </a:r>
            <a:endParaRPr kumimoji="0" lang="en-US" sz="1300" b="0" i="0" u="none" strike="noStrike" kern="1200" cap="none" spc="0" normalizeH="0" baseline="0" noProof="0" dirty="0">
              <a:ln>
                <a:noFill/>
              </a:ln>
              <a:solidFill>
                <a:srgbClr val="131B2E"/>
              </a:solidFill>
              <a:effectLst/>
              <a:uLnTx/>
              <a:uFillTx/>
              <a:latin typeface="DM Sans"/>
              <a:ea typeface="+mn-ea"/>
              <a:cs typeface="+mn-cs"/>
            </a:endParaRPr>
          </a:p>
        </p:txBody>
      </p:sp>
      <p:pic>
        <p:nvPicPr>
          <p:cNvPr id="15" name="Image 3" descr="arrow-right"/>
          <p:cNvPicPr>
            <a:picLocks noChangeAspect="1"/>
          </p:cNvPicPr>
          <p:nvPr/>
        </p:nvPicPr>
        <p:blipFill>
          <a:blip r:embed="rId4"/>
          <a:srcRect/>
          <a:stretch/>
        </p:blipFill>
        <p:spPr>
          <a:xfrm>
            <a:off x="7797800" y="4020741"/>
            <a:ext cx="304800" cy="152400"/>
          </a:xfrm>
          <a:prstGeom prst="rect">
            <a:avLst/>
          </a:prstGeom>
        </p:spPr>
      </p:pic>
      <p:sp>
        <p:nvSpPr>
          <p:cNvPr id="16" name="Shape 10"/>
          <p:cNvSpPr/>
          <p:nvPr/>
        </p:nvSpPr>
        <p:spPr>
          <a:xfrm>
            <a:off x="8229600" y="2351949"/>
            <a:ext cx="3149600" cy="3490053"/>
          </a:xfrm>
          <a:prstGeom prst="roundRect">
            <a:avLst>
              <a:gd name="adj" fmla="val 4032"/>
            </a:avLst>
          </a:prstGeom>
          <a:solidFill>
            <a:srgbClr val="131B2E"/>
          </a:solidFill>
          <a:ln/>
        </p:spPr>
      </p:sp>
      <p:sp>
        <p:nvSpPr>
          <p:cNvPr id="17" name="Text 11"/>
          <p:cNvSpPr/>
          <p:nvPr/>
        </p:nvSpPr>
        <p:spPr>
          <a:xfrm>
            <a:off x="8458200" y="2605949"/>
            <a:ext cx="333613" cy="48260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36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F26B7A"/>
                </a:solidFill>
                <a:effectLst/>
                <a:uLnTx/>
                <a:uFillTx/>
                <a:latin typeface="Space Grotesk" pitchFamily="34" charset="0"/>
                <a:ea typeface="Space Grotesk" pitchFamily="34" charset="-122"/>
                <a:cs typeface="Space Grotesk" pitchFamily="34" charset="-120"/>
              </a:rPr>
              <a:t>3</a:t>
            </a:r>
            <a:endParaRPr kumimoji="0" lang="en-US" sz="3600" b="0" i="0" u="none" strike="noStrike" kern="1200" cap="none" spc="0" normalizeH="0" baseline="0" noProof="0" dirty="0">
              <a:ln>
                <a:noFill/>
              </a:ln>
              <a:solidFill>
                <a:srgbClr val="131B2E"/>
              </a:solidFill>
              <a:effectLst/>
              <a:uLnTx/>
              <a:uFillTx/>
              <a:latin typeface="DM Sans"/>
              <a:ea typeface="+mn-ea"/>
              <a:cs typeface="+mn-cs"/>
            </a:endParaRPr>
          </a:p>
        </p:txBody>
      </p:sp>
      <p:pic>
        <p:nvPicPr>
          <p:cNvPr id="18" name="Image 4" descr="Verified"/>
          <p:cNvPicPr>
            <a:picLocks noChangeAspect="1"/>
          </p:cNvPicPr>
          <p:nvPr/>
        </p:nvPicPr>
        <p:blipFill>
          <a:blip r:embed="rId6"/>
          <a:srcRect/>
          <a:stretch/>
        </p:blipFill>
        <p:spPr>
          <a:xfrm>
            <a:off x="10820400" y="2669449"/>
            <a:ext cx="330200" cy="330200"/>
          </a:xfrm>
          <a:prstGeom prst="rect">
            <a:avLst/>
          </a:prstGeom>
        </p:spPr>
      </p:pic>
      <p:sp>
        <p:nvSpPr>
          <p:cNvPr id="19" name="Text 12"/>
          <p:cNvSpPr/>
          <p:nvPr/>
        </p:nvSpPr>
        <p:spPr>
          <a:xfrm>
            <a:off x="8458200" y="3177449"/>
            <a:ext cx="2773172" cy="299707"/>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216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5F2EC"/>
                </a:solidFill>
                <a:effectLst/>
                <a:uLnTx/>
                <a:uFillTx/>
                <a:latin typeface="Space Grotesk" pitchFamily="34" charset="0"/>
                <a:ea typeface="Space Grotesk" pitchFamily="34" charset="-122"/>
                <a:cs typeface="Space Grotesk" pitchFamily="34" charset="-120"/>
              </a:rPr>
              <a:t>Validar</a:t>
            </a:r>
            <a:endParaRPr kumimoji="0" lang="en-US" sz="1800" b="0" i="0" u="none" strike="noStrike" kern="1200" cap="none" spc="0" normalizeH="0" baseline="0" noProof="0" dirty="0">
              <a:ln>
                <a:noFill/>
              </a:ln>
              <a:solidFill>
                <a:srgbClr val="131B2E"/>
              </a:solidFill>
              <a:effectLst/>
              <a:uLnTx/>
              <a:uFillTx/>
              <a:latin typeface="DM Sans"/>
              <a:ea typeface="+mn-ea"/>
              <a:cs typeface="+mn-cs"/>
            </a:endParaRPr>
          </a:p>
        </p:txBody>
      </p:sp>
      <p:sp>
        <p:nvSpPr>
          <p:cNvPr id="20" name="Text 13"/>
          <p:cNvSpPr/>
          <p:nvPr/>
        </p:nvSpPr>
        <p:spPr>
          <a:xfrm>
            <a:off x="8458200" y="3566055"/>
            <a:ext cx="2773172" cy="718741"/>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82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D9DEE8"/>
                </a:solidFill>
                <a:effectLst/>
                <a:uLnTx/>
                <a:uFillTx/>
                <a:latin typeface="DM Sans" pitchFamily="34" charset="0"/>
                <a:ea typeface="DM Sans" pitchFamily="34" charset="-122"/>
                <a:cs typeface="DM Sans" pitchFamily="34" charset="-120"/>
              </a:rPr>
              <a:t>Repetir el test con reparto 50 / 50, más semanas y midiendo también el impacto económico</a:t>
            </a:r>
            <a:endParaRPr kumimoji="0" lang="en-US" sz="1300" b="0" i="0" u="none" strike="noStrike" kern="1200" cap="none" spc="0" normalizeH="0" baseline="0" noProof="0" dirty="0">
              <a:ln>
                <a:noFill/>
              </a:ln>
              <a:solidFill>
                <a:srgbClr val="131B2E"/>
              </a:solidFill>
              <a:effectLst/>
              <a:uLnTx/>
              <a:uFillTx/>
              <a:latin typeface="DM Sans"/>
              <a:ea typeface="+mn-ea"/>
              <a:cs typeface="+mn-cs"/>
            </a:endParaRPr>
          </a:p>
        </p:txBody>
      </p:sp>
      <p:sp>
        <p:nvSpPr>
          <p:cNvPr id="22" name="Text 15"/>
          <p:cNvSpPr/>
          <p:nvPr/>
        </p:nvSpPr>
        <p:spPr>
          <a:xfrm>
            <a:off x="10058400" y="6238280"/>
            <a:ext cx="1320800" cy="238720"/>
          </a:xfrm>
          <a:prstGeom prst="rect">
            <a:avLst/>
          </a:prstGeom>
          <a:noFill/>
          <a:ln/>
        </p:spPr>
        <p:txBody>
          <a:bodyPr wrap="square" lIns="0" tIns="0" rIns="0" bIns="0" rtlCol="0" anchor="t">
            <a:normAutofit/>
          </a:bodyPr>
          <a:lstStyle/>
          <a:p>
            <a:pPr marL="0" marR="0" lvl="0" indent="0" algn="r" defTabSz="914400" rtl="0" eaLnBrk="1" fontAlgn="auto" latinLnBrk="0" hangingPunct="1">
              <a:lnSpc>
                <a:spcPts val="1680"/>
              </a:lnSpc>
              <a:spcBef>
                <a:spcPts val="0"/>
              </a:spcBef>
              <a:spcAft>
                <a:spcPts val="0"/>
              </a:spcAft>
              <a:buClrTx/>
              <a:buSzTx/>
              <a:buFontTx/>
              <a:buNone/>
              <a:tabLst/>
              <a:defRPr/>
            </a:pPr>
            <a:r>
              <a:rPr lang="en-US" sz="1200" dirty="0">
                <a:solidFill>
                  <a:srgbClr val="6B7285"/>
                </a:solidFill>
                <a:latin typeface="DM Sans" pitchFamily="34" charset="0"/>
                <a:ea typeface="DM Sans" pitchFamily="34" charset="-122"/>
                <a:cs typeface="DM Sans" pitchFamily="34" charset="-120"/>
              </a:rPr>
              <a:t>07</a:t>
            </a:r>
            <a:endParaRPr kumimoji="0" lang="en-US" sz="1200" b="0" i="0" u="none" strike="noStrike" kern="1200" cap="none" spc="0" normalizeH="0" baseline="0" noProof="0" dirty="0">
              <a:ln>
                <a:noFill/>
              </a:ln>
              <a:solidFill>
                <a:srgbClr val="131B2E"/>
              </a:solidFill>
              <a:effectLst/>
              <a:uLnTx/>
              <a:uFillTx/>
              <a:latin typeface="DM Sans"/>
              <a:ea typeface="+mn-ea"/>
              <a:cs typeface="+mn-cs"/>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131B2E"/>
        </a:solidFill>
        <a:effectLst/>
      </p:bgPr>
    </p:bg>
    <p:spTree>
      <p:nvGrpSpPr>
        <p:cNvPr id="1" name=""/>
        <p:cNvGrpSpPr/>
        <p:nvPr/>
      </p:nvGrpSpPr>
      <p:grpSpPr>
        <a:xfrm>
          <a:off x="0" y="0"/>
          <a:ext cx="0" cy="0"/>
          <a:chOff x="0" y="0"/>
          <a:chExt cx="0" cy="0"/>
        </a:xfrm>
      </p:grpSpPr>
      <p:sp>
        <p:nvSpPr>
          <p:cNvPr id="2" name="Text 0"/>
          <p:cNvSpPr/>
          <p:nvPr/>
        </p:nvSpPr>
        <p:spPr>
          <a:xfrm>
            <a:off x="812800" y="812800"/>
            <a:ext cx="10203180" cy="23872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680"/>
              </a:lnSpc>
              <a:spcBef>
                <a:spcPts val="0"/>
              </a:spcBef>
              <a:spcAft>
                <a:spcPts val="0"/>
              </a:spcAft>
              <a:buClrTx/>
              <a:buSzTx/>
              <a:buFontTx/>
              <a:buNone/>
              <a:tabLst/>
              <a:defRPr/>
            </a:pPr>
            <a:r>
              <a:rPr kumimoji="0" lang="en-US" sz="1200" b="1" i="0" u="none" strike="noStrike" kern="0" cap="none" spc="150" normalizeH="0" baseline="0" noProof="0" dirty="0">
                <a:ln>
                  <a:noFill/>
                </a:ln>
                <a:solidFill>
                  <a:srgbClr val="F26B7A"/>
                </a:solidFill>
                <a:effectLst/>
                <a:uLnTx/>
                <a:uFillTx/>
                <a:latin typeface="DM Sans" pitchFamily="34" charset="0"/>
                <a:ea typeface="DM Sans" pitchFamily="34" charset="-122"/>
                <a:cs typeface="DM Sans" pitchFamily="34" charset="-120"/>
              </a:rPr>
              <a:t>CONCLUSIÓN FINAL</a:t>
            </a:r>
            <a:endParaRPr kumimoji="0" lang="en-US" sz="1200" b="0" i="0" u="none" strike="noStrike" kern="1200" cap="none" spc="0" normalizeH="0" baseline="0" noProof="0" dirty="0">
              <a:ln>
                <a:noFill/>
              </a:ln>
              <a:solidFill>
                <a:srgbClr val="131B2E"/>
              </a:solidFill>
              <a:effectLst/>
              <a:uLnTx/>
              <a:uFillTx/>
              <a:latin typeface="DM Sans"/>
              <a:ea typeface="+mn-ea"/>
              <a:cs typeface="+mn-cs"/>
            </a:endParaRPr>
          </a:p>
        </p:txBody>
      </p:sp>
      <p:sp>
        <p:nvSpPr>
          <p:cNvPr id="3" name="Text 1"/>
          <p:cNvSpPr>
            <a:spLocks noGrp="1"/>
          </p:cNvSpPr>
          <p:nvPr>
            <p:ph type="title"/>
          </p:nvPr>
        </p:nvSpPr>
        <p:spPr>
          <a:xfrm>
            <a:off x="812800" y="1254720"/>
            <a:ext cx="10203180" cy="1143000"/>
          </a:xfrm>
          <a:prstGeom prst="rect">
            <a:avLst/>
          </a:prstGeom>
          <a:noFill/>
          <a:ln/>
        </p:spPr>
        <p:txBody>
          <a:bodyPr wrap="square" lIns="0" tIns="0" rIns="0" bIns="0" rtlCol="0" anchor="t">
            <a:normAutofit/>
          </a:bodyPr>
          <a:lstStyle/>
          <a:p>
            <a:pPr marL="0" indent="0" algn="l">
              <a:lnSpc>
                <a:spcPts val="4400"/>
              </a:lnSpc>
              <a:buNone/>
            </a:pPr>
            <a:r>
              <a:rPr lang="en-US" sz="4000" b="1" i="0" dirty="0">
                <a:solidFill>
                  <a:srgbClr val="F5F2EC"/>
                </a:solidFill>
                <a:latin typeface="Space Grotesk" pitchFamily="34" charset="0"/>
                <a:ea typeface="Space Grotesk" pitchFamily="34" charset="-122"/>
                <a:cs typeface="Space Grotesk" pitchFamily="34" charset="-120"/>
              </a:rPr>
              <a:t>Mejorar no siempre significa estar listo para lanzar</a:t>
            </a:r>
            <a:endParaRPr lang="en-US" sz="4000" dirty="0"/>
          </a:p>
        </p:txBody>
      </p:sp>
      <p:sp>
        <p:nvSpPr>
          <p:cNvPr id="4" name="Text 2"/>
          <p:cNvSpPr/>
          <p:nvPr/>
        </p:nvSpPr>
        <p:spPr>
          <a:xfrm>
            <a:off x="812800" y="2600920"/>
            <a:ext cx="8502650" cy="629841"/>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2380"/>
              </a:lnSpc>
              <a:spcBef>
                <a:spcPts val="0"/>
              </a:spcBef>
              <a:spcAft>
                <a:spcPts val="0"/>
              </a:spcAft>
              <a:buClrTx/>
              <a:buSzTx/>
              <a:buFontTx/>
              <a:buNone/>
              <a:tabLst/>
              <a:defRPr/>
            </a:pPr>
            <a:r>
              <a:rPr kumimoji="0" lang="en-US" sz="1700" b="0" i="0" u="none" strike="noStrike" kern="1200" cap="none" spc="0" normalizeH="0" baseline="0" noProof="0" dirty="0">
                <a:ln>
                  <a:noFill/>
                </a:ln>
                <a:solidFill>
                  <a:srgbClr val="B9C0CF"/>
                </a:solidFill>
                <a:effectLst/>
                <a:uLnTx/>
                <a:uFillTx/>
                <a:latin typeface="DM Sans" pitchFamily="34" charset="0"/>
                <a:ea typeface="DM Sans" pitchFamily="34" charset="-122"/>
                <a:cs typeface="DM Sans" pitchFamily="34" charset="-120"/>
              </a:rPr>
              <a:t>Una mejora estadísticamente significativa no siempre basta para justificar una decisión de negocio.</a:t>
            </a:r>
            <a:endParaRPr kumimoji="0" lang="en-US" sz="1700" b="0" i="0" u="none" strike="noStrike" kern="1200" cap="none" spc="0" normalizeH="0" baseline="0" noProof="0" dirty="0">
              <a:ln>
                <a:noFill/>
              </a:ln>
              <a:solidFill>
                <a:srgbClr val="131B2E"/>
              </a:solidFill>
              <a:effectLst/>
              <a:uLnTx/>
              <a:uFillTx/>
              <a:latin typeface="DM Sans"/>
              <a:ea typeface="+mn-ea"/>
              <a:cs typeface="+mn-cs"/>
            </a:endParaRPr>
          </a:p>
        </p:txBody>
      </p:sp>
      <p:sp>
        <p:nvSpPr>
          <p:cNvPr id="5" name="Shape 3"/>
          <p:cNvSpPr/>
          <p:nvPr/>
        </p:nvSpPr>
        <p:spPr>
          <a:xfrm>
            <a:off x="812800" y="3970009"/>
            <a:ext cx="3403600" cy="0"/>
          </a:xfrm>
          <a:prstGeom prst="line">
            <a:avLst/>
          </a:prstGeom>
          <a:noFill/>
          <a:ln w="25400">
            <a:solidFill>
              <a:srgbClr val="F26B7A"/>
            </a:solidFill>
            <a:prstDash val="solid"/>
          </a:ln>
        </p:spPr>
      </p:sp>
      <p:sp>
        <p:nvSpPr>
          <p:cNvPr id="6" name="Text 4"/>
          <p:cNvSpPr/>
          <p:nvPr/>
        </p:nvSpPr>
        <p:spPr>
          <a:xfrm>
            <a:off x="812800" y="4122409"/>
            <a:ext cx="3505708" cy="41652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308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F5F2EC"/>
                </a:solidFill>
                <a:effectLst/>
                <a:uLnTx/>
                <a:uFillTx/>
                <a:latin typeface="Space Grotesk" pitchFamily="34" charset="0"/>
                <a:ea typeface="Space Grotesk" pitchFamily="34" charset="-122"/>
                <a:cs typeface="Space Grotesk" pitchFamily="34" charset="-120"/>
              </a:rPr>
              <a:t>+3,7 pp</a:t>
            </a:r>
            <a:endParaRPr kumimoji="0" lang="en-US" sz="2200" b="0" i="0" u="none" strike="noStrike" kern="1200" cap="none" spc="0" normalizeH="0" baseline="0" noProof="0" dirty="0">
              <a:ln>
                <a:noFill/>
              </a:ln>
              <a:solidFill>
                <a:srgbClr val="131B2E"/>
              </a:solidFill>
              <a:effectLst/>
              <a:uLnTx/>
              <a:uFillTx/>
              <a:latin typeface="DM Sans"/>
              <a:ea typeface="+mn-ea"/>
              <a:cs typeface="+mn-cs"/>
            </a:endParaRPr>
          </a:p>
        </p:txBody>
      </p:sp>
      <p:sp>
        <p:nvSpPr>
          <p:cNvPr id="7" name="Text 5"/>
          <p:cNvSpPr/>
          <p:nvPr/>
        </p:nvSpPr>
        <p:spPr>
          <a:xfrm>
            <a:off x="812800" y="4564329"/>
            <a:ext cx="3505708" cy="256514"/>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82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B9C0CF"/>
                </a:solidFill>
                <a:effectLst/>
                <a:uLnTx/>
                <a:uFillTx/>
                <a:latin typeface="DM Sans" pitchFamily="34" charset="0"/>
                <a:ea typeface="DM Sans" pitchFamily="34" charset="-122"/>
                <a:cs typeface="DM Sans" pitchFamily="34" charset="-120"/>
              </a:rPr>
              <a:t>más clientes terminan: significativo</a:t>
            </a:r>
            <a:endParaRPr kumimoji="0" lang="en-US" sz="1300" b="0" i="0" u="none" strike="noStrike" kern="1200" cap="none" spc="0" normalizeH="0" baseline="0" noProof="0" dirty="0">
              <a:ln>
                <a:noFill/>
              </a:ln>
              <a:solidFill>
                <a:srgbClr val="131B2E"/>
              </a:solidFill>
              <a:effectLst/>
              <a:uLnTx/>
              <a:uFillTx/>
              <a:latin typeface="DM Sans"/>
              <a:ea typeface="+mn-ea"/>
              <a:cs typeface="+mn-cs"/>
            </a:endParaRPr>
          </a:p>
        </p:txBody>
      </p:sp>
      <p:sp>
        <p:nvSpPr>
          <p:cNvPr id="8" name="Shape 6"/>
          <p:cNvSpPr/>
          <p:nvPr/>
        </p:nvSpPr>
        <p:spPr>
          <a:xfrm>
            <a:off x="4394200" y="3970009"/>
            <a:ext cx="3403600" cy="0"/>
          </a:xfrm>
          <a:prstGeom prst="line">
            <a:avLst/>
          </a:prstGeom>
          <a:noFill/>
          <a:ln w="25400">
            <a:solidFill>
              <a:srgbClr val="F26B7A"/>
            </a:solidFill>
            <a:prstDash val="solid"/>
          </a:ln>
        </p:spPr>
      </p:sp>
      <p:sp>
        <p:nvSpPr>
          <p:cNvPr id="9" name="Text 7"/>
          <p:cNvSpPr/>
          <p:nvPr/>
        </p:nvSpPr>
        <p:spPr>
          <a:xfrm>
            <a:off x="4394200" y="4122409"/>
            <a:ext cx="3505708" cy="41652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308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F5F2EC"/>
                </a:solidFill>
                <a:effectLst/>
                <a:uLnTx/>
                <a:uFillTx/>
                <a:latin typeface="Space Grotesk" pitchFamily="34" charset="0"/>
                <a:ea typeface="Space Grotesk" pitchFamily="34" charset="-122"/>
                <a:cs typeface="Space Grotesk" pitchFamily="34" charset="-120"/>
              </a:rPr>
              <a:t>5 %</a:t>
            </a:r>
            <a:endParaRPr kumimoji="0" lang="en-US" sz="2200" b="0" i="0" u="none" strike="noStrike" kern="1200" cap="none" spc="0" normalizeH="0" baseline="0" noProof="0" dirty="0">
              <a:ln>
                <a:noFill/>
              </a:ln>
              <a:solidFill>
                <a:srgbClr val="131B2E"/>
              </a:solidFill>
              <a:effectLst/>
              <a:uLnTx/>
              <a:uFillTx/>
              <a:latin typeface="DM Sans"/>
              <a:ea typeface="+mn-ea"/>
              <a:cs typeface="+mn-cs"/>
            </a:endParaRPr>
          </a:p>
        </p:txBody>
      </p:sp>
      <p:sp>
        <p:nvSpPr>
          <p:cNvPr id="10" name="Text 8"/>
          <p:cNvSpPr/>
          <p:nvPr/>
        </p:nvSpPr>
        <p:spPr>
          <a:xfrm>
            <a:off x="4394200" y="4564329"/>
            <a:ext cx="3505708" cy="256514"/>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82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B9C0CF"/>
                </a:solidFill>
                <a:effectLst/>
                <a:uLnTx/>
                <a:uFillTx/>
                <a:latin typeface="DM Sans" pitchFamily="34" charset="0"/>
                <a:ea typeface="DM Sans" pitchFamily="34" charset="-122"/>
                <a:cs typeface="DM Sans" pitchFamily="34" charset="-120"/>
              </a:rPr>
              <a:t>umbral de rentabilidad: no demostrado</a:t>
            </a:r>
            <a:endParaRPr kumimoji="0" lang="en-US" sz="1300" b="0" i="0" u="none" strike="noStrike" kern="1200" cap="none" spc="0" normalizeH="0" baseline="0" noProof="0" dirty="0">
              <a:ln>
                <a:noFill/>
              </a:ln>
              <a:solidFill>
                <a:srgbClr val="131B2E"/>
              </a:solidFill>
              <a:effectLst/>
              <a:uLnTx/>
              <a:uFillTx/>
              <a:latin typeface="DM Sans"/>
              <a:ea typeface="+mn-ea"/>
              <a:cs typeface="+mn-cs"/>
            </a:endParaRPr>
          </a:p>
        </p:txBody>
      </p:sp>
      <p:sp>
        <p:nvSpPr>
          <p:cNvPr id="11" name="Shape 9"/>
          <p:cNvSpPr/>
          <p:nvPr/>
        </p:nvSpPr>
        <p:spPr>
          <a:xfrm>
            <a:off x="7975600" y="3970009"/>
            <a:ext cx="3403600" cy="0"/>
          </a:xfrm>
          <a:prstGeom prst="line">
            <a:avLst/>
          </a:prstGeom>
          <a:noFill/>
          <a:ln w="25400">
            <a:solidFill>
              <a:srgbClr val="F26B7A"/>
            </a:solidFill>
            <a:prstDash val="solid"/>
          </a:ln>
        </p:spPr>
      </p:sp>
      <p:sp>
        <p:nvSpPr>
          <p:cNvPr id="12" name="Text 10"/>
          <p:cNvSpPr/>
          <p:nvPr/>
        </p:nvSpPr>
        <p:spPr>
          <a:xfrm>
            <a:off x="7975600" y="4122409"/>
            <a:ext cx="3505708" cy="41652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308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F5F2EC"/>
                </a:solidFill>
                <a:effectLst/>
                <a:uLnTx/>
                <a:uFillTx/>
                <a:latin typeface="Space Grotesk" pitchFamily="34" charset="0"/>
                <a:ea typeface="Space Grotesk" pitchFamily="34" charset="-122"/>
                <a:cs typeface="Space Grotesk" pitchFamily="34" charset="-120"/>
              </a:rPr>
              <a:t>Mejorar y validar</a:t>
            </a:r>
            <a:endParaRPr kumimoji="0" lang="en-US" sz="2200" b="0" i="0" u="none" strike="noStrike" kern="1200" cap="none" spc="0" normalizeH="0" baseline="0" noProof="0" dirty="0">
              <a:ln>
                <a:noFill/>
              </a:ln>
              <a:solidFill>
                <a:srgbClr val="131B2E"/>
              </a:solidFill>
              <a:effectLst/>
              <a:uLnTx/>
              <a:uFillTx/>
              <a:latin typeface="DM Sans"/>
              <a:ea typeface="+mn-ea"/>
              <a:cs typeface="+mn-cs"/>
            </a:endParaRPr>
          </a:p>
        </p:txBody>
      </p:sp>
      <p:sp>
        <p:nvSpPr>
          <p:cNvPr id="13" name="Text 11"/>
          <p:cNvSpPr/>
          <p:nvPr/>
        </p:nvSpPr>
        <p:spPr>
          <a:xfrm>
            <a:off x="7975600" y="4564329"/>
            <a:ext cx="3505708" cy="256514"/>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82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B9C0CF"/>
                </a:solidFill>
                <a:effectLst/>
                <a:uLnTx/>
                <a:uFillTx/>
                <a:latin typeface="DM Sans" pitchFamily="34" charset="0"/>
                <a:ea typeface="DM Sans" pitchFamily="34" charset="-122"/>
                <a:cs typeface="DM Sans" pitchFamily="34" charset="-120"/>
              </a:rPr>
              <a:t>antes de lanzarlo a todos</a:t>
            </a:r>
            <a:endParaRPr kumimoji="0" lang="en-US" sz="1300" b="0" i="0" u="none" strike="noStrike" kern="1200" cap="none" spc="0" normalizeH="0" baseline="0" noProof="0" dirty="0">
              <a:ln>
                <a:noFill/>
              </a:ln>
              <a:solidFill>
                <a:srgbClr val="131B2E"/>
              </a:solidFill>
              <a:effectLst/>
              <a:uLnTx/>
              <a:uFillTx/>
              <a:latin typeface="DM Sans"/>
              <a:ea typeface="+mn-ea"/>
              <a:cs typeface="+mn-cs"/>
            </a:endParaRPr>
          </a:p>
        </p:txBody>
      </p:sp>
      <p:sp>
        <p:nvSpPr>
          <p:cNvPr id="14" name="Text 12"/>
          <p:cNvSpPr/>
          <p:nvPr/>
        </p:nvSpPr>
        <p:spPr>
          <a:xfrm>
            <a:off x="812800" y="5602867"/>
            <a:ext cx="4497229" cy="523214"/>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392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F5F2EC"/>
                </a:solidFill>
                <a:effectLst/>
                <a:uLnTx/>
                <a:uFillTx/>
                <a:latin typeface="Space Grotesk" pitchFamily="34" charset="0"/>
                <a:ea typeface="Space Grotesk" pitchFamily="34" charset="-122"/>
                <a:cs typeface="Space Grotesk" pitchFamily="34" charset="-120"/>
              </a:rPr>
              <a:t>¡Gracias! </a:t>
            </a:r>
            <a:r>
              <a:rPr kumimoji="0" lang="en-US" sz="2800" b="1" i="0" u="none" strike="noStrike" kern="1200" cap="none" spc="0" normalizeH="0" baseline="0" noProof="0" dirty="0">
                <a:ln>
                  <a:noFill/>
                </a:ln>
                <a:solidFill>
                  <a:srgbClr val="F26B7A"/>
                </a:solidFill>
                <a:effectLst/>
                <a:uLnTx/>
                <a:uFillTx/>
                <a:latin typeface="Space Grotesk" pitchFamily="34" charset="0"/>
                <a:ea typeface="Space Grotesk" pitchFamily="34" charset="-122"/>
                <a:cs typeface="Space Grotesk" pitchFamily="34" charset="-120"/>
              </a:rPr>
              <a:t>¿Preguntas?</a:t>
            </a:r>
            <a:endParaRPr kumimoji="0" lang="en-US" sz="2800" b="0" i="0" u="none" strike="noStrike" kern="1200" cap="none" spc="0" normalizeH="0" baseline="0" noProof="0" dirty="0">
              <a:ln>
                <a:noFill/>
              </a:ln>
              <a:solidFill>
                <a:srgbClr val="131B2E"/>
              </a:solidFill>
              <a:effectLst/>
              <a:uLnTx/>
              <a:uFillTx/>
              <a:latin typeface="DM Sans"/>
              <a:ea typeface="+mn-ea"/>
              <a:cs typeface="+mn-cs"/>
            </a:endParaRPr>
          </a:p>
        </p:txBody>
      </p:sp>
      <p:sp>
        <p:nvSpPr>
          <p:cNvPr id="15" name="Text 13"/>
          <p:cNvSpPr/>
          <p:nvPr/>
        </p:nvSpPr>
        <p:spPr>
          <a:xfrm>
            <a:off x="8296649" y="5826789"/>
            <a:ext cx="3082551" cy="487627"/>
          </a:xfrm>
          <a:prstGeom prst="rect">
            <a:avLst/>
          </a:prstGeom>
          <a:noFill/>
          <a:ln/>
        </p:spPr>
        <p:txBody>
          <a:bodyPr wrap="square" lIns="0" tIns="0" rIns="0" bIns="0" rtlCol="0" anchor="t">
            <a:normAutofit/>
          </a:bodyPr>
          <a:lstStyle/>
          <a:p>
            <a:pPr marL="0" marR="0" lvl="0" indent="0" algn="r" defTabSz="914400" rtl="0" eaLnBrk="1" fontAlgn="auto" latinLnBrk="0" hangingPunct="1">
              <a:lnSpc>
                <a:spcPts val="182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9AA3B5"/>
                </a:solidFill>
                <a:effectLst/>
                <a:uLnTx/>
                <a:uFillTx/>
                <a:latin typeface="DM Sans" pitchFamily="34" charset="0"/>
                <a:ea typeface="DM Sans" pitchFamily="34" charset="-122"/>
                <a:cs typeface="DM Sans" pitchFamily="34" charset="-120"/>
              </a:rPr>
              <a:t>Beatriz Fernández · Juan Carlos Del Mar</a:t>
            </a:r>
            <a:endParaRPr kumimoji="0" lang="en-US" sz="1300" b="0" i="0" u="none" strike="noStrike" kern="1200" cap="none" spc="0" normalizeH="0" baseline="0" noProof="0" dirty="0">
              <a:ln>
                <a:noFill/>
              </a:ln>
              <a:solidFill>
                <a:srgbClr val="131B2E"/>
              </a:solidFill>
              <a:effectLst/>
              <a:uLnTx/>
              <a:uFillTx/>
              <a:latin typeface="DM Sans"/>
              <a:ea typeface="+mn-ea"/>
              <a:cs typeface="+mn-cs"/>
            </a:endParaRPr>
          </a:p>
        </p:txBody>
      </p:sp>
    </p:spTree>
  </p:cSld>
  <p:clrMapOvr>
    <a:masterClrMapping/>
  </p:clrMapOvr>
</p:sld>
</file>

<file path=ppt/theme/theme1.xml><?xml version="1.0" encoding="utf-8"?>
<a:theme xmlns:a="http://schemas.openxmlformats.org/drawingml/2006/main" name="Vanguard A/B test · Presentación">
  <a:themeElements>
    <a:clrScheme name="Vanguard A/B test · Presentación">
      <a:dk1>
        <a:srgbClr val="131B2E"/>
      </a:dk1>
      <a:lt1>
        <a:srgbClr val="F5F2EC"/>
      </a:lt1>
      <a:dk2>
        <a:srgbClr val="4C515E"/>
      </a:dk2>
      <a:lt2>
        <a:srgbClr val="DEDDD9"/>
      </a:lt2>
      <a:accent1>
        <a:srgbClr val="C8102E"/>
      </a:accent1>
      <a:accent2>
        <a:srgbClr val="F26B7A"/>
      </a:accent2>
      <a:accent3>
        <a:srgbClr val="B0102A"/>
      </a:accent3>
      <a:accent4>
        <a:srgbClr val="F4B9C1"/>
      </a:accent4>
      <a:accent5>
        <a:srgbClr val="1F6E43"/>
      </a:accent5>
      <a:accent6>
        <a:srgbClr val="6B7285"/>
      </a:accent6>
      <a:hlink>
        <a:srgbClr val="0563C1"/>
      </a:hlink>
      <a:folHlink>
        <a:srgbClr val="954F72"/>
      </a:folHlink>
    </a:clrScheme>
    <a:fontScheme name="Vanguard A/B test · Presentación">
      <a:majorFont>
        <a:latin typeface="Space Grotesk"/>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DM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Vanguard · Apertura y cierre">
  <a:themeElements>
    <a:clrScheme name="Vanguard · Apertura y cierre">
      <a:dk1>
        <a:srgbClr val="131B2E"/>
      </a:dk1>
      <a:lt1>
        <a:srgbClr val="F5F2EC"/>
      </a:lt1>
      <a:dk2>
        <a:srgbClr val="4C515E"/>
      </a:dk2>
      <a:lt2>
        <a:srgbClr val="DEDDD9"/>
      </a:lt2>
      <a:accent1>
        <a:srgbClr val="C8102E"/>
      </a:accent1>
      <a:accent2>
        <a:srgbClr val="F26B7A"/>
      </a:accent2>
      <a:accent3>
        <a:srgbClr val="6B7285"/>
      </a:accent3>
      <a:accent4>
        <a:srgbClr val="4A5266"/>
      </a:accent4>
      <a:accent5>
        <a:srgbClr val="B9C0CF"/>
      </a:accent5>
      <a:accent6>
        <a:srgbClr val="8C96A6"/>
      </a:accent6>
      <a:hlink>
        <a:srgbClr val="0563C1"/>
      </a:hlink>
      <a:folHlink>
        <a:srgbClr val="954F72"/>
      </a:folHlink>
    </a:clrScheme>
    <a:fontScheme name="Vanguard · Apertura y cierre">
      <a:majorFont>
        <a:latin typeface="Space Grotesk"/>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DM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895</TotalTime>
  <Words>1092</Words>
  <Application>Microsoft Office PowerPoint</Application>
  <PresentationFormat>Panorámica</PresentationFormat>
  <Paragraphs>134</Paragraphs>
  <Slides>8</Slides>
  <Notes>8</Notes>
  <HiddenSlides>0</HiddenSlides>
  <MMClips>0</MMClips>
  <ScaleCrop>false</ScaleCrop>
  <HeadingPairs>
    <vt:vector size="6" baseType="variant">
      <vt:variant>
        <vt:lpstr>Fuentes usadas</vt:lpstr>
      </vt:variant>
      <vt:variant>
        <vt:i4>4</vt:i4>
      </vt:variant>
      <vt:variant>
        <vt:lpstr>Tema</vt:lpstr>
      </vt:variant>
      <vt:variant>
        <vt:i4>2</vt:i4>
      </vt:variant>
      <vt:variant>
        <vt:lpstr>Títulos de diapositiva</vt:lpstr>
      </vt:variant>
      <vt:variant>
        <vt:i4>8</vt:i4>
      </vt:variant>
    </vt:vector>
  </HeadingPairs>
  <TitlesOfParts>
    <vt:vector size="14" baseType="lpstr">
      <vt:lpstr>Arial</vt:lpstr>
      <vt:lpstr>Space Grotesk</vt:lpstr>
      <vt:lpstr>Calibri</vt:lpstr>
      <vt:lpstr>DM Sans</vt:lpstr>
      <vt:lpstr>Vanguard A/B test · Presentación</vt:lpstr>
      <vt:lpstr>Vanguard · Apertura y cierre</vt:lpstr>
      <vt:lpstr>¿Mejora el nuevo diseño digital la experiencia del cliente?</vt:lpstr>
      <vt:lpstr>Vanguard quería mejorar la experiencia digital de sus clientes</vt:lpstr>
      <vt:lpstr>Tres fuentes de datos, unidas por el cliente</vt:lpstr>
      <vt:lpstr>Seis contrastes para evaluar la evidencia</vt:lpstr>
      <vt:lpstr>Presentación de PowerPoint</vt:lpstr>
      <vt:lpstr>¿Qué no podemos asegurar con estos datos?</vt:lpstr>
      <vt:lpstr>De los datos a un plan de mejora que se pueda verificar</vt:lpstr>
      <vt:lpstr>Mejorar no siempre significa estar listo para lanzar</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Vanguard A/B test · Presentación</dc:title>
  <dc:subject/>
  <dc:creator/>
  <dc:description>The font files embedded in this presentation (stored inside it under ppt/fonts/) are files Google Fonts served when the presentation was exported, unpacked from WOFF2 to TrueType and wrapped as Embedded OpenType, the form PowerPoint reads. A file that named another cut of its family, unless it reserves that name, was also changed where it could be, so that PowerPoint matches it to this presentation’s text: its family and style names and the weight and style it declares were rewritten, and any digital signature, which no longer matched, was removed. Google Fonts serves each family in parts, one file per range of characters, so these may not be a family’s complete files. Each family’s copyright lines and license follow, and each family stays under its own license; if you pass this file on, keep these notices with it.
DM Sans
Copyright 2014 The DM Sans Project Authors (https://github.com/googlefonts/dm-fonts)
This Font Software is licensed under the SIL Open Font License, Version 1.1.
This license is copied below, and is also available with a FAQ at:
https://scripts.sil.org/OFL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created using the fonts or their derivatives.
DEFINITIONS
"Font Software" refers to the set of files released by the Copyright
Holder(s) under this license and clearly marked as such. This may
include source files, build scripts and documentation.
"Reserved Font Name" refers to any names specified as such after the
copyright statement(s).
"Original Version" refers to the collection of Font Software components as
distributed by the Copyright Holder(s).
"Modified Version" refers to any derivative made by adding to, deleting,
or substituting -- in part or in whole -- any of the components of the
Original Version, by changing formats or by porting the Font Software to a
new environment.
"Author" refers to any designer, engineer, programmer, technical
writer or other person who contributed to the Font Software.
PERMISSION &amp; CONDITIONS
Permission is hereby granted, free of charge, to any person obtaining
a copy of the Font Software, to use, study, copy, merge, embed, modify,
redistribute, and sell modified and unmodified copies of the Font
Software, subject to the following conditions:
1) Neither the Font Software nor any of its individual components,
in Original or Modified Versions, may be sold by itself.
2) Original or Modified Versions of the Font Software may be bundled,
redistributed and/or sold with any software, provided that each copy
contains the above copyright notice and this license. These can be
included either as stand-alone text files, human-readable headers or
in the appropriate machine-readable metadata fields within text or
binary files as long as those fields can be easily viewed by the user.
3) No Modified Version of the Font Software may use the Reserved Font
Name(s) unless explicit written permission is granted by the corresponding
Copyright Holder. This restriction only applies to the primary font name as
presented to the users.
4) The name(s) of the Copyright Holder(s) or the Author(s) of the Font
Software shall not be used to promote, endorse or advertise any
Modified Version, except to acknowledge the contribution(s) of the
Copyright Holder(s) and the Author(s) or with their explicit written
permission.
5) The Font Software, modified or unmodified, in part or in whole,
must be distributed entirely under this license, and must not be
distributed under any other license. The requirement for fonts to
remain under this license does not apply to any document created
using the Font Software.
TERMINATION
This license becomes null and void if any of the above conditions are
not met.
DISCLAIMER
THE FONT SOFTWARE IS PROVIDED "AS IS", WITHOUT WARRANTY OF ANY KIND,
EXPRESS OR IMPLIED, INCLUDING BUT NOT LIMITED TO ANY WARRANTIES OF
MERCHANTABILITY, FITNESS FOR A PARTICULAR PURPOSE AND NONINFRINGEMENT
OF COPYRIGHT, PATENT, TRADEMARK, OR OTHER RIGHT. IN NO EVENT SHALL THE
COPYRIGHT HOLDER BE LIABLE FOR ANY CLAIM, DAMAGES OR OTHER LIABILITY,
INCLUDING ANY GENERAL, SPECIAL, INDIRECT, INCIDENTAL, OR CONSEQUENTIAL
DAMAGES, WHETHER IN AN ACTION OF CONTRACT, TORT OR OTHERWISE, ARISING
FROM, OUT OF THE USE OR INABILITY TO USE THE FONT SOFTWARE OR FROM
OTHER DEALINGS IN THE FONT SOFTWARE.
Space Grotesk
Copyright 2020 The Space Grotesk Project Authors (https://github.com/floriankarsten/space-grotesk)
This Font Software is licensed under the SIL Open Font License, Version 1.1.
This license is copied below, and is also available with a FAQ at:
http://scripts.sil.org/OFL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created using the fonts or their derivatives.
DEFINITIONS
"Font Software" refers to the set of files released by the Copyright
Holder(s) under this license and clearly marked as such. This may
include source files, build scripts and documentation.
"Reserved Font Name" refers to any names specified as such after the
copyright statement(s).
"Original Version" refers to the collection of Font Software components as
distributed by the Copyright Holder(s).
"Modified Version" refers to any derivative made by adding to, deleting,
or substituting -- in part or in whole -- any of the components of the
Original Version, by changing formats or by porting the Font Software to a
new environment.
"Author" refers to any designer, engineer, programmer, technical
writer or other person who contributed to the Font Software.
PERMISSION &amp; CONDITIONS
Permission is hereby granted, free of charge, to any person obtaining
a copy of the Font Software, to use, study, copy, merge, embed, modify,
redistribute, and sell modified and unmodified copies of the Font
Software, subject to the following conditions:
1) Neither the Font Software nor any of its individual components,
in Original or Modified Versions, may be sold by itself.
2) Original or Modified Versions of the Font Software may be bundled,
redistributed and/or sold with any software, provided that each copy
contains the above copyright notice and this license. These can be
included either as stand-alone text files, human-readable headers or
in the appropriate machine-readable metadata fields within text or
binary files as long as those fields can be easily viewed by the user.
3) No Modified Version of the Font Software may use the Reserved Font
Name(s) unless explicit written permission is granted by the corresponding
Copyright Holder. This restriction only applies to the primary font name as
presented to the users.
4) The name(s) of the Copyright Holder(s) or the Author(s) of the Font
Software shall not be used to promote, endorse or advertise any
Modified Version, except to acknowledge the contribution(s) of the
Copyright Holder(s) and the Author(s) or with their explicit written
permission.
5) The Font Software, modified or unmodified, in part or in whole,
must be distributed entirely under this license, and must not be
distributed under any other license. The requirement for fonts to
remain under this license does not apply to any document created
using the Font Software.
TERMINATION
This license becomes null and void if any of the above conditions are
not met.
DISCLAIMER
THE FONT SOFTWARE IS PROVIDED "AS IS", WITHOUT WARRANTY OF ANY KIND,
EXPRESS OR IMPLIED, INCLUDING BUT NOT LIMITED TO ANY WARRANTIES OF
MERCHANTABILITY, FITNESS FOR A PARTICULAR PURPOSE AND NONINFRINGEMENT
OF COPYRIGHT, PATENT, TRADEMARK, OR OTHER RIGHT. IN NO EVENT SHALL THE
COPYRIGHT HOLDER BE LIABLE FOR ANY CLAIM, DAMAGES OR OTHER LIABILITY,
INCLUDING ANY GENERAL, SPECIAL, INDIRECT, INCIDENTAL, OR CONSEQUENTIAL
DAMAGES, WHETHER IN AN ACTION OF CONTRACT, TORT OR OTHERWISE, ARISING
FROM, OUT OF THE USE OR INABILITY TO USE THE FONT SOFTWARE OR FROM
OTHER DEALINGS IN THE FONT SOFTWARE.
</dc:description>
  <cp:lastModifiedBy>JUAN CARLOS DEL MAR LOSTANAU</cp:lastModifiedBy>
  <cp:revision>29</cp:revision>
  <dcterms:created xsi:type="dcterms:W3CDTF">2026-10-21T19:02:26Z</dcterms:created>
  <dcterms:modified xsi:type="dcterms:W3CDTF">2026-10-23T10:31:49Z</dcterms:modified>
</cp:coreProperties>
</file>