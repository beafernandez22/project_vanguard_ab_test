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51" r:id="rId2"/>
  </p:sldMasterIdLst>
  <p:notesMasterIdLst>
    <p:notesMasterId r:id="rId10"/>
  </p:notesMasterIdLst>
  <p:sldIdLst>
    <p:sldId id="256" r:id="rId3"/>
    <p:sldId id="257" r:id="rId4"/>
    <p:sldId id="259" r:id="rId5"/>
    <p:sldId id="272" r:id="rId6"/>
    <p:sldId id="277" r:id="rId7"/>
    <p:sldId id="278" r:id="rId8"/>
    <p:sldId id="261" r:id="rId9"/>
  </p:sldIdLst>
  <p:sldSz cx="12192000" cy="6858000"/>
  <p:notesSz cx="6858000" cy="12192000"/>
  <p:embeddedFontLst>
    <p:embeddedFont>
      <p:font typeface="DM Sans" pitchFamily="2" charset="0"/>
      <p:regular r:id="rId11"/>
      <p:bold r:id="rId12"/>
    </p:embeddedFont>
    <p:embeddedFont>
      <p:font typeface="Space Grotesk" panose="020B0604020202020204" charset="0"/>
      <p:regular r:id="rId13"/>
      <p:bold r:id="rId1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60858" autoAdjust="0"/>
  </p:normalViewPr>
  <p:slideViewPr>
    <p:cSldViewPr snapToGrid="0" snapToObjects="1">
      <p:cViewPr varScale="1">
        <p:scale>
          <a:sx n="66" d="100"/>
          <a:sy n="66" d="100"/>
        </p:scale>
        <p:origin x="64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font" Target="fonts/font3.fntdata"/><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font" Target="fonts/font2.fntdata"/><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1.fntdata"/><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1613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(8:00–8:45) [Vuelta de Tableau a las diapositivas.] Antes de cerrar, queremos ser honestos con lo que nuestros datos no pueden decir. Primero, el reparto entre grupos no fue 50/50, y no sabemos si fue intencionado. Segundo, no tenemos el dispositivo ni el navegador, así que no sabemos si el problema está en móvil o en ordenador. Tercero, sin el coste del rediseño ni el valor de cada proceso completado, no podemos traducir el 5 % a dinero. Y cuarto, los datos nos dicen dónde vuelven atrás los clientes, pero no por qué. Los resultados son prometedores, pero estas dudas condicionan la decisión.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(8:45–9:30) ¿Qué haríamos ahora? Tres pasos en orden. Primero, investigar: ver grabaciones de sesiones y hacer pruebas de usabilidad en el inicio y el paso 1, que es donde la gente vuelve atrás. Segundo, optimizar esas primeras pantallas. Y tercero, validar: repetir el experimento con un reparto 50/50, durante más semanas y midiendo también el impacto económico. Así pasamos de los datos a un plan de mejora que se puede comprobar.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Para terminar, la idea con la que nos quedamos: mejorar no siempre significa estar listo para lanzar. El diseño nuevo consigue que más clientes terminen, y es significativo, pero no hemos podido demostrar que supere el 5 % que justifica el cambio. Nuestro objetivo no era demostrar que el diseño nuevo era mejor, sino descubrir si había evidencia suficiente para implantarlo. Y la respuesta es: tiene potencial, pero hay que mejorarlo y validarlo antes de lanzarlo a todos. Muchas gracias. ¿Alguna pregunta?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4080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9289870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14"/>
          </a:xfrm>
          <a:prstGeom prst="rect">
            <a:avLst/>
          </a:prstGeom>
          <a:noFill/>
          <a:ln/>
        </p:spPr>
        <p:txBody>
          <a:bodyPr wrap="square" lIns="0" tIns="0" rIns="0" bIns="0" rtlCol="0" anchor="t"/>
          <a:lstStyle>
            <a:lvl1pPr marL="0" indent="0" algn="l">
              <a:lnSpc>
                <a:spcPct val="115000"/>
              </a:lnSpc>
              <a:buNone/>
              <a:defRPr lang="en-US" sz="3200" dirty="0">
                <a:solidFill>
                  <a:srgbClr val="131B2E"/>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34"/>
            <a:ext cx="10566400" cy="4191066"/>
          </a:xfrm>
          <a:prstGeom prst="rect">
            <a:avLst/>
          </a:prstGeom>
          <a:noFill/>
          <a:ln/>
        </p:spPr>
        <p:txBody>
          <a:bodyPr wrap="square" lIns="0" tIns="0" rIns="0" bIns="0" rtlCol="0" anchor="t"/>
          <a:lstStyle>
            <a:lvl1pPr marL="0" indent="0" algn="l">
              <a:lnSpc>
                <a:spcPct val="140000"/>
              </a:lnSpc>
              <a:buNone/>
              <a:defRPr lang="en-US" sz="1600" dirty="0">
                <a:solidFill>
                  <a:srgbClr val="131B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196579212"/>
      </p:ext>
    </p:extLst>
  </p:cSld>
  <p:clrMap bg1="lt1" tx1="dk1" bg2="lt2" tx2="dk2" accent1="accent1" accent2="accent2" accent3="accent3" accent4="accent4" accent5="accent5" accent6="accent6" hlink="hlink" folHlink="folHlink"/>
  <p:sldLayoutIdLst>
    <p:sldLayoutId id="2147483652" r:id="rId1"/>
    <p:sldLayoutId id="2147483653"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B2E"/>
        </a:solidFill>
        <a:effectLst/>
      </p:bgPr>
    </p:bg>
    <p:spTree>
      <p:nvGrpSpPr>
        <p:cNvPr id="1" name=""/>
        <p:cNvGrpSpPr/>
        <p:nvPr/>
      </p:nvGrpSpPr>
      <p:grpSpPr>
        <a:xfrm>
          <a:off x="0" y="0"/>
          <a:ext cx="0" cy="0"/>
          <a:chOff x="0" y="0"/>
          <a:chExt cx="0" cy="0"/>
        </a:xfrm>
      </p:grpSpPr>
      <p:sp>
        <p:nvSpPr>
          <p:cNvPr id="3" name="Text 1"/>
          <p:cNvSpPr/>
          <p:nvPr/>
        </p:nvSpPr>
        <p:spPr>
          <a:xfrm>
            <a:off x="812800" y="812800"/>
            <a:ext cx="6540500" cy="238720"/>
          </a:xfrm>
          <a:prstGeom prst="rect">
            <a:avLst/>
          </a:prstGeom>
          <a:noFill/>
          <a:ln/>
        </p:spPr>
        <p:txBody>
          <a:bodyPr wrap="square" lIns="0" tIns="0" rIns="0" bIns="0" rtlCol="0" anchor="t">
            <a:normAutofit/>
          </a:bodyPr>
          <a:lstStyle/>
          <a:p>
            <a:pPr>
              <a:lnSpc>
                <a:spcPts val="1680"/>
              </a:lnSpc>
            </a:pPr>
            <a:r>
              <a:rPr lang="en-US" sz="1200" b="1" kern="0" spc="150" dirty="0">
                <a:solidFill>
                  <a:srgbClr val="F26B7A"/>
                </a:solidFill>
                <a:latin typeface="DM Sans" pitchFamily="34" charset="0"/>
                <a:ea typeface="DM Sans" pitchFamily="34" charset="-122"/>
                <a:cs typeface="DM Sans" pitchFamily="34" charset="-120"/>
              </a:rPr>
              <a:t>VANGUARD · ANÁLISIS DE UN TEST A/B</a:t>
            </a:r>
            <a:endParaRPr lang="en-US" sz="1200" dirty="0"/>
          </a:p>
        </p:txBody>
      </p:sp>
      <p:sp>
        <p:nvSpPr>
          <p:cNvPr id="4" name="Text 2"/>
          <p:cNvSpPr>
            <a:spLocks noGrp="1"/>
          </p:cNvSpPr>
          <p:nvPr>
            <p:ph type="title"/>
          </p:nvPr>
        </p:nvSpPr>
        <p:spPr>
          <a:xfrm>
            <a:off x="723900" y="1484835"/>
            <a:ext cx="5628774" cy="2134665"/>
          </a:xfrm>
          <a:prstGeom prst="rect">
            <a:avLst/>
          </a:prstGeom>
          <a:noFill/>
          <a:ln/>
        </p:spPr>
        <p:txBody>
          <a:bodyPr wrap="square" lIns="0" tIns="0" rIns="0" bIns="0" rtlCol="0" anchor="t">
            <a:normAutofit fontScale="90000"/>
          </a:bodyPr>
          <a:lstStyle/>
          <a:p>
            <a:pPr marL="0" indent="0" algn="l">
              <a:lnSpc>
                <a:spcPts val="4752"/>
              </a:lnSpc>
              <a:buNone/>
            </a:pPr>
            <a:r>
              <a:rPr lang="es-ES" sz="4400" b="1" i="0" dirty="0">
                <a:solidFill>
                  <a:srgbClr val="F5F2EC"/>
                </a:solidFill>
                <a:latin typeface="Space Grotesk" pitchFamily="34" charset="0"/>
                <a:ea typeface="Space Grotesk" pitchFamily="34" charset="-122"/>
                <a:cs typeface="Space Grotesk" pitchFamily="34" charset="-120"/>
              </a:rPr>
              <a:t>¿Mejora el nuevo diseño digital la experiencia del cliente?</a:t>
            </a:r>
            <a:endParaRPr lang="en-US" sz="4400" dirty="0"/>
          </a:p>
        </p:txBody>
      </p:sp>
      <p:sp>
        <p:nvSpPr>
          <p:cNvPr id="5" name="Text 3"/>
          <p:cNvSpPr/>
          <p:nvPr/>
        </p:nvSpPr>
        <p:spPr>
          <a:xfrm>
            <a:off x="723900" y="4045497"/>
            <a:ext cx="6540500" cy="309827"/>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B9C0CF"/>
                </a:solidFill>
                <a:latin typeface="DM Sans" pitchFamily="34" charset="0"/>
                <a:ea typeface="DM Sans" pitchFamily="34" charset="-122"/>
                <a:cs typeface="DM Sans" pitchFamily="34" charset="-120"/>
              </a:rPr>
              <a:t>15 de </a:t>
            </a:r>
            <a:r>
              <a:rPr lang="en-US" sz="1600" dirty="0" err="1">
                <a:solidFill>
                  <a:srgbClr val="B9C0CF"/>
                </a:solidFill>
                <a:latin typeface="DM Sans" pitchFamily="34" charset="0"/>
                <a:ea typeface="DM Sans" pitchFamily="34" charset="-122"/>
                <a:cs typeface="DM Sans" pitchFamily="34" charset="-120"/>
              </a:rPr>
              <a:t>marzo</a:t>
            </a:r>
            <a:r>
              <a:rPr lang="en-US" sz="1600" dirty="0">
                <a:solidFill>
                  <a:srgbClr val="B9C0CF"/>
                </a:solidFill>
                <a:latin typeface="DM Sans" pitchFamily="34" charset="0"/>
                <a:ea typeface="DM Sans" pitchFamily="34" charset="-122"/>
                <a:cs typeface="DM Sans" pitchFamily="34" charset="-120"/>
              </a:rPr>
              <a:t> – 20 de </a:t>
            </a:r>
            <a:r>
              <a:rPr lang="en-US" sz="1600" dirty="0" err="1">
                <a:solidFill>
                  <a:srgbClr val="B9C0CF"/>
                </a:solidFill>
                <a:latin typeface="DM Sans" pitchFamily="34" charset="0"/>
                <a:ea typeface="DM Sans" pitchFamily="34" charset="-122"/>
                <a:cs typeface="DM Sans" pitchFamily="34" charset="-120"/>
              </a:rPr>
              <a:t>junio</a:t>
            </a:r>
            <a:r>
              <a:rPr lang="en-US" sz="1600" dirty="0">
                <a:solidFill>
                  <a:srgbClr val="B9C0CF"/>
                </a:solidFill>
                <a:latin typeface="DM Sans" pitchFamily="34" charset="0"/>
                <a:ea typeface="DM Sans" pitchFamily="34" charset="-122"/>
                <a:cs typeface="DM Sans" pitchFamily="34" charset="-120"/>
              </a:rPr>
              <a:t> de 2017</a:t>
            </a:r>
            <a:endParaRPr lang="en-US" sz="1600" dirty="0"/>
          </a:p>
        </p:txBody>
      </p:sp>
      <p:sp>
        <p:nvSpPr>
          <p:cNvPr id="6" name="Text 4"/>
          <p:cNvSpPr/>
          <p:nvPr/>
        </p:nvSpPr>
        <p:spPr>
          <a:xfrm>
            <a:off x="812800" y="5796293"/>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2EC"/>
                </a:solidFill>
                <a:latin typeface="DM Sans" pitchFamily="34" charset="0"/>
                <a:ea typeface="DM Sans" pitchFamily="34" charset="-122"/>
                <a:cs typeface="DM Sans" pitchFamily="34" charset="-120"/>
              </a:rPr>
              <a:t>Beatriz Fernández </a:t>
            </a:r>
            <a:r>
              <a:rPr lang="en-US" sz="1400" dirty="0">
                <a:solidFill>
                  <a:srgbClr val="6E7891"/>
                </a:solidFill>
                <a:latin typeface="DM Sans" pitchFamily="34" charset="0"/>
                <a:ea typeface="DM Sans" pitchFamily="34" charset="-122"/>
                <a:cs typeface="DM Sans" pitchFamily="34" charset="-120"/>
              </a:rPr>
              <a:t>·</a:t>
            </a:r>
            <a:r>
              <a:rPr lang="en-US" sz="1400" dirty="0">
                <a:solidFill>
                  <a:srgbClr val="F5F2EC"/>
                </a:solidFill>
                <a:latin typeface="DM Sans" pitchFamily="34" charset="0"/>
                <a:ea typeface="DM Sans" pitchFamily="34" charset="-122"/>
                <a:cs typeface="DM Sans" pitchFamily="34" charset="-120"/>
              </a:rPr>
              <a:t> Juan Carlos Del Mar</a:t>
            </a:r>
            <a:endParaRPr lang="en-US" sz="1400" dirty="0"/>
          </a:p>
        </p:txBody>
      </p:sp>
      <p:sp>
        <p:nvSpPr>
          <p:cNvPr id="13" name="Shape 0">
            <a:extLst>
              <a:ext uri="{FF2B5EF4-FFF2-40B4-BE49-F238E27FC236}">
                <a16:creationId xmlns:a16="http://schemas.microsoft.com/office/drawing/2014/main" id="{27234307-D6A6-2D1B-001B-01540CA45B40}"/>
              </a:ext>
            </a:extLst>
          </p:cNvPr>
          <p:cNvSpPr/>
          <p:nvPr/>
        </p:nvSpPr>
        <p:spPr>
          <a:xfrm>
            <a:off x="7874000" y="812800"/>
            <a:ext cx="3505200" cy="5232400"/>
          </a:xfrm>
          <a:prstGeom prst="roundRect">
            <a:avLst>
              <a:gd name="adj" fmla="val 4348"/>
            </a:avLst>
          </a:prstGeom>
          <a:gradFill rotWithShape="1">
            <a:gsLst>
              <a:gs pos="0">
                <a:srgbClr val="1B2540"/>
              </a:gs>
              <a:gs pos="100000">
                <a:srgbClr val="131B2E"/>
              </a:gs>
            </a:gsLst>
            <a:lin ang="5400000" scaled="0"/>
          </a:gradFill>
          <a:ln/>
        </p:spPr>
      </p:sp>
      <p:sp>
        <p:nvSpPr>
          <p:cNvPr id="14" name="Text 5">
            <a:extLst>
              <a:ext uri="{FF2B5EF4-FFF2-40B4-BE49-F238E27FC236}">
                <a16:creationId xmlns:a16="http://schemas.microsoft.com/office/drawing/2014/main" id="{6B2C8567-EAD9-FD73-BF3F-714367CE56AF}"/>
              </a:ext>
            </a:extLst>
          </p:cNvPr>
          <p:cNvSpPr/>
          <p:nvPr/>
        </p:nvSpPr>
        <p:spPr>
          <a:xfrm>
            <a:off x="8229600" y="1587500"/>
            <a:ext cx="1447800" cy="1803400"/>
          </a:xfrm>
          <a:prstGeom prst="rect">
            <a:avLst/>
          </a:prstGeom>
          <a:noFill/>
          <a:ln/>
        </p:spPr>
        <p:txBody>
          <a:bodyPr wrap="square" lIns="0" tIns="0" rIns="0" bIns="0" rtlCol="0" anchor="t">
            <a:normAutofit fontScale="92500"/>
          </a:bodyPr>
          <a:lstStyle/>
          <a:p>
            <a:pPr marL="0" indent="0" algn="ctr">
              <a:lnSpc>
                <a:spcPts val="14000"/>
              </a:lnSpc>
              <a:buNone/>
            </a:pPr>
            <a:r>
              <a:rPr lang="en-US" sz="14000" b="1" dirty="0">
                <a:solidFill>
                  <a:srgbClr val="8C96A6"/>
                </a:solidFill>
                <a:latin typeface="Space Grotesk" pitchFamily="34" charset="0"/>
                <a:ea typeface="Space Grotesk" pitchFamily="34" charset="-122"/>
                <a:cs typeface="Space Grotesk" pitchFamily="34" charset="-120"/>
              </a:rPr>
              <a:t>A</a:t>
            </a:r>
            <a:endParaRPr lang="en-US" sz="14000" dirty="0"/>
          </a:p>
        </p:txBody>
      </p:sp>
      <p:sp>
        <p:nvSpPr>
          <p:cNvPr id="15" name="Text 6">
            <a:extLst>
              <a:ext uri="{FF2B5EF4-FFF2-40B4-BE49-F238E27FC236}">
                <a16:creationId xmlns:a16="http://schemas.microsoft.com/office/drawing/2014/main" id="{5B519D3B-FE4F-AF9B-1BD1-208C5B9FF624}"/>
              </a:ext>
            </a:extLst>
          </p:cNvPr>
          <p:cNvSpPr/>
          <p:nvPr/>
        </p:nvSpPr>
        <p:spPr>
          <a:xfrm>
            <a:off x="9626600" y="1587500"/>
            <a:ext cx="1447800" cy="1803400"/>
          </a:xfrm>
          <a:prstGeom prst="rect">
            <a:avLst/>
          </a:prstGeom>
          <a:noFill/>
          <a:ln/>
        </p:spPr>
        <p:txBody>
          <a:bodyPr wrap="square" lIns="0" tIns="0" rIns="0" bIns="0" rtlCol="0" anchor="t">
            <a:normAutofit fontScale="92500"/>
          </a:bodyPr>
          <a:lstStyle/>
          <a:p>
            <a:pPr marL="0" indent="0" algn="ctr">
              <a:lnSpc>
                <a:spcPts val="14000"/>
              </a:lnSpc>
              <a:buNone/>
            </a:pPr>
            <a:r>
              <a:rPr lang="en-US" sz="14000" b="1" dirty="0">
                <a:solidFill>
                  <a:srgbClr val="C8102E"/>
                </a:solidFill>
                <a:latin typeface="Space Grotesk" pitchFamily="34" charset="0"/>
                <a:ea typeface="Space Grotesk" pitchFamily="34" charset="-122"/>
                <a:cs typeface="Space Grotesk" pitchFamily="34" charset="-120"/>
              </a:rPr>
              <a:t>B</a:t>
            </a:r>
            <a:endParaRPr lang="en-US" sz="14000" dirty="0"/>
          </a:p>
        </p:txBody>
      </p:sp>
      <p:sp>
        <p:nvSpPr>
          <p:cNvPr id="16" name="Text 7">
            <a:extLst>
              <a:ext uri="{FF2B5EF4-FFF2-40B4-BE49-F238E27FC236}">
                <a16:creationId xmlns:a16="http://schemas.microsoft.com/office/drawing/2014/main" id="{E3777AB3-6CE6-1D2E-BA6B-6DC471FF08E9}"/>
              </a:ext>
            </a:extLst>
          </p:cNvPr>
          <p:cNvSpPr/>
          <p:nvPr/>
        </p:nvSpPr>
        <p:spPr>
          <a:xfrm>
            <a:off x="8229600" y="3619500"/>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B9C0CF"/>
                </a:solidFill>
                <a:latin typeface="DM Sans" pitchFamily="34" charset="0"/>
                <a:ea typeface="DM Sans" pitchFamily="34" charset="-122"/>
                <a:cs typeface="DM Sans" pitchFamily="34" charset="-120"/>
              </a:rPr>
              <a:t>Diseño antiguo</a:t>
            </a:r>
            <a:endParaRPr lang="en-US" sz="1400" dirty="0"/>
          </a:p>
        </p:txBody>
      </p:sp>
      <p:sp>
        <p:nvSpPr>
          <p:cNvPr id="17" name="Text 8">
            <a:extLst>
              <a:ext uri="{FF2B5EF4-FFF2-40B4-BE49-F238E27FC236}">
                <a16:creationId xmlns:a16="http://schemas.microsoft.com/office/drawing/2014/main" id="{F6D9B8D5-D0D1-0E3D-FE1C-F0D9A22424A9}"/>
              </a:ext>
            </a:extLst>
          </p:cNvPr>
          <p:cNvSpPr/>
          <p:nvPr/>
        </p:nvSpPr>
        <p:spPr>
          <a:xfrm>
            <a:off x="9626600" y="3619500"/>
            <a:ext cx="1447800" cy="274307"/>
          </a:xfrm>
          <a:prstGeom prst="rect">
            <a:avLst/>
          </a:prstGeom>
          <a:noFill/>
          <a:ln/>
        </p:spPr>
        <p:txBody>
          <a:bodyPr wrap="square" lIns="0" tIns="0" rIns="0" bIns="0" rtlCol="0" anchor="t">
            <a:normAutofit/>
          </a:bodyPr>
          <a:lstStyle/>
          <a:p>
            <a:pPr marL="0" indent="0" algn="ctr">
              <a:lnSpc>
                <a:spcPts val="1960"/>
              </a:lnSpc>
              <a:buNone/>
            </a:pPr>
            <a:r>
              <a:rPr lang="en-US" sz="1400" b="1" dirty="0">
                <a:solidFill>
                  <a:srgbClr val="F5F2EC"/>
                </a:solidFill>
                <a:latin typeface="DM Sans" pitchFamily="34" charset="0"/>
                <a:ea typeface="DM Sans" pitchFamily="34" charset="-122"/>
                <a:cs typeface="DM Sans" pitchFamily="34" charset="-120"/>
              </a:rPr>
              <a:t>Diseño nuevo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INTRODUCCIÓN</a:t>
            </a:r>
            <a:endParaRPr lang="en-US" sz="1200" dirty="0"/>
          </a:p>
        </p:txBody>
      </p:sp>
      <p:sp>
        <p:nvSpPr>
          <p:cNvPr id="3" name="Text 1"/>
          <p:cNvSpPr>
            <a:spLocks noGrp="1"/>
          </p:cNvSpPr>
          <p:nvPr>
            <p:ph type="title"/>
          </p:nvPr>
        </p:nvSpPr>
        <p:spPr>
          <a:xfrm>
            <a:off x="812800" y="1102320"/>
            <a:ext cx="10478038" cy="919427"/>
          </a:xfrm>
          <a:prstGeom prst="rect">
            <a:avLst/>
          </a:prstGeom>
          <a:noFill/>
          <a:ln/>
        </p:spPr>
        <p:txBody>
          <a:bodyPr wrap="square" lIns="0" tIns="0" rIns="0" bIns="0" rtlCol="0" anchor="t">
            <a:normAutofit/>
          </a:bodyPr>
          <a:lstStyle/>
          <a:p>
            <a:pPr marL="0" indent="0" algn="l">
              <a:lnSpc>
                <a:spcPts val="3520"/>
              </a:lnSpc>
              <a:buNone/>
            </a:pPr>
            <a:r>
              <a:rPr lang="es-ES" sz="3200" b="1" i="0" dirty="0" err="1">
                <a:solidFill>
                  <a:srgbClr val="131B2E"/>
                </a:solidFill>
                <a:latin typeface="Space Grotesk" pitchFamily="34" charset="0"/>
                <a:ea typeface="Space Grotesk" pitchFamily="34" charset="-122"/>
                <a:cs typeface="Space Grotesk" pitchFamily="34" charset="-120"/>
              </a:rPr>
              <a:t>Vanguard</a:t>
            </a:r>
            <a:r>
              <a:rPr lang="es-ES" sz="3200" b="1" i="0" dirty="0">
                <a:solidFill>
                  <a:srgbClr val="131B2E"/>
                </a:solidFill>
                <a:latin typeface="Space Grotesk" pitchFamily="34" charset="0"/>
                <a:ea typeface="Space Grotesk" pitchFamily="34" charset="-122"/>
                <a:cs typeface="Space Grotesk" pitchFamily="34" charset="-120"/>
              </a:rPr>
              <a:t> quería mejorar la experiencia digital de sus clientes</a:t>
            </a:r>
            <a:endParaRPr lang="en-US" sz="3200" dirty="0"/>
          </a:p>
        </p:txBody>
      </p:sp>
      <p:sp>
        <p:nvSpPr>
          <p:cNvPr id="4" name="Text 2"/>
          <p:cNvSpPr/>
          <p:nvPr/>
        </p:nvSpPr>
        <p:spPr>
          <a:xfrm>
            <a:off x="812800" y="2301148"/>
            <a:ext cx="9156700" cy="594254"/>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5266"/>
                </a:solidFill>
                <a:latin typeface="DM Sans" pitchFamily="34" charset="0"/>
                <a:ea typeface="DM Sans" pitchFamily="34" charset="-122"/>
                <a:cs typeface="DM Sans" pitchFamily="34" charset="-120"/>
              </a:rPr>
              <a:t>Vanguard es una gestora de inversiones de EE. UU. Su web tiene un proceso de 5 pantallas. Probaron un diseño más moderno, con indicaciones en cada paso, frente al de siempre.</a:t>
            </a:r>
            <a:endParaRPr lang="en-US" sz="1600" dirty="0"/>
          </a:p>
        </p:txBody>
      </p:sp>
      <p:sp>
        <p:nvSpPr>
          <p:cNvPr id="5" name="Shape 3"/>
          <p:cNvSpPr/>
          <p:nvPr/>
        </p:nvSpPr>
        <p:spPr>
          <a:xfrm>
            <a:off x="819150" y="3181152"/>
            <a:ext cx="1599935" cy="840647"/>
          </a:xfrm>
          <a:prstGeom prst="roundRect">
            <a:avLst>
              <a:gd name="adj" fmla="val 11331"/>
            </a:avLst>
          </a:prstGeom>
          <a:solidFill>
            <a:srgbClr val="FFFDF8"/>
          </a:solidFill>
          <a:ln w="12700">
            <a:solidFill>
              <a:srgbClr val="DDD5C6"/>
            </a:solidFill>
            <a:prstDash val="solid"/>
          </a:ln>
        </p:spPr>
      </p:sp>
      <p:sp>
        <p:nvSpPr>
          <p:cNvPr id="6" name="Text 4"/>
          <p:cNvSpPr/>
          <p:nvPr/>
        </p:nvSpPr>
        <p:spPr>
          <a:xfrm>
            <a:off x="1003300"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Inicio</a:t>
            </a:r>
            <a:endParaRPr lang="en-US" sz="1600" dirty="0"/>
          </a:p>
        </p:txBody>
      </p:sp>
      <p:sp>
        <p:nvSpPr>
          <p:cNvPr id="7" name="Text 5"/>
          <p:cNvSpPr/>
          <p:nvPr/>
        </p:nvSpPr>
        <p:spPr>
          <a:xfrm>
            <a:off x="1003300"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start</a:t>
            </a:r>
            <a:endParaRPr lang="en-US" sz="1200" dirty="0"/>
          </a:p>
        </p:txBody>
      </p:sp>
      <p:pic>
        <p:nvPicPr>
          <p:cNvPr id="8" name="Image 0" descr="arrow-right"/>
          <p:cNvPicPr>
            <a:picLocks noChangeAspect="1"/>
          </p:cNvPicPr>
          <p:nvPr/>
        </p:nvPicPr>
        <p:blipFill>
          <a:blip r:embed="rId3"/>
          <a:srcRect/>
          <a:stretch/>
        </p:blipFill>
        <p:spPr>
          <a:xfrm>
            <a:off x="2552435" y="3531592"/>
            <a:ext cx="279400" cy="139700"/>
          </a:xfrm>
          <a:prstGeom prst="rect">
            <a:avLst/>
          </a:prstGeom>
        </p:spPr>
      </p:pic>
      <p:sp>
        <p:nvSpPr>
          <p:cNvPr id="9" name="Shape 6"/>
          <p:cNvSpPr/>
          <p:nvPr/>
        </p:nvSpPr>
        <p:spPr>
          <a:xfrm>
            <a:off x="2965185" y="3181152"/>
            <a:ext cx="1600002" cy="840647"/>
          </a:xfrm>
          <a:prstGeom prst="roundRect">
            <a:avLst>
              <a:gd name="adj" fmla="val 11331"/>
            </a:avLst>
          </a:prstGeom>
          <a:solidFill>
            <a:srgbClr val="FFFDF8"/>
          </a:solidFill>
          <a:ln w="12700">
            <a:solidFill>
              <a:srgbClr val="DDD5C6"/>
            </a:solidFill>
            <a:prstDash val="solid"/>
          </a:ln>
        </p:spPr>
      </p:sp>
      <p:sp>
        <p:nvSpPr>
          <p:cNvPr id="10" name="Text 7"/>
          <p:cNvSpPr/>
          <p:nvPr/>
        </p:nvSpPr>
        <p:spPr>
          <a:xfrm>
            <a:off x="3149335"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1</a:t>
            </a:r>
            <a:endParaRPr lang="en-US" sz="1600" dirty="0"/>
          </a:p>
        </p:txBody>
      </p:sp>
      <p:sp>
        <p:nvSpPr>
          <p:cNvPr id="11" name="Text 8"/>
          <p:cNvSpPr/>
          <p:nvPr/>
        </p:nvSpPr>
        <p:spPr>
          <a:xfrm>
            <a:off x="3149335"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step_1</a:t>
            </a:r>
            <a:endParaRPr lang="en-US" sz="1200" dirty="0"/>
          </a:p>
        </p:txBody>
      </p:sp>
      <p:pic>
        <p:nvPicPr>
          <p:cNvPr id="12" name="Image 1" descr="arrow-right"/>
          <p:cNvPicPr>
            <a:picLocks noChangeAspect="1"/>
          </p:cNvPicPr>
          <p:nvPr/>
        </p:nvPicPr>
        <p:blipFill>
          <a:blip r:embed="rId3"/>
          <a:srcRect/>
          <a:stretch/>
        </p:blipFill>
        <p:spPr>
          <a:xfrm>
            <a:off x="4698537" y="3531592"/>
            <a:ext cx="279400" cy="139700"/>
          </a:xfrm>
          <a:prstGeom prst="rect">
            <a:avLst/>
          </a:prstGeom>
        </p:spPr>
      </p:pic>
      <p:sp>
        <p:nvSpPr>
          <p:cNvPr id="13" name="Shape 9"/>
          <p:cNvSpPr/>
          <p:nvPr/>
        </p:nvSpPr>
        <p:spPr>
          <a:xfrm>
            <a:off x="5111287" y="3181152"/>
            <a:ext cx="1599935" cy="840647"/>
          </a:xfrm>
          <a:prstGeom prst="roundRect">
            <a:avLst>
              <a:gd name="adj" fmla="val 11331"/>
            </a:avLst>
          </a:prstGeom>
          <a:solidFill>
            <a:srgbClr val="FFFDF8"/>
          </a:solidFill>
          <a:ln w="12700">
            <a:solidFill>
              <a:srgbClr val="DDD5C6"/>
            </a:solidFill>
            <a:prstDash val="solid"/>
          </a:ln>
        </p:spPr>
      </p:sp>
      <p:sp>
        <p:nvSpPr>
          <p:cNvPr id="14" name="Text 10"/>
          <p:cNvSpPr/>
          <p:nvPr/>
        </p:nvSpPr>
        <p:spPr>
          <a:xfrm>
            <a:off x="5295437" y="3339902"/>
            <a:ext cx="1282435"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2</a:t>
            </a:r>
            <a:endParaRPr lang="en-US" sz="1600" dirty="0"/>
          </a:p>
        </p:txBody>
      </p:sp>
      <p:sp>
        <p:nvSpPr>
          <p:cNvPr id="15" name="Text 11"/>
          <p:cNvSpPr/>
          <p:nvPr/>
        </p:nvSpPr>
        <p:spPr>
          <a:xfrm>
            <a:off x="5295437" y="3649729"/>
            <a:ext cx="12824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step_2</a:t>
            </a:r>
            <a:endParaRPr lang="en-US" sz="1200" dirty="0"/>
          </a:p>
        </p:txBody>
      </p:sp>
      <p:pic>
        <p:nvPicPr>
          <p:cNvPr id="16" name="Image 2" descr="arrow-right"/>
          <p:cNvPicPr>
            <a:picLocks noChangeAspect="1"/>
          </p:cNvPicPr>
          <p:nvPr/>
        </p:nvPicPr>
        <p:blipFill>
          <a:blip r:embed="rId3"/>
          <a:srcRect/>
          <a:stretch/>
        </p:blipFill>
        <p:spPr>
          <a:xfrm>
            <a:off x="6844573" y="3531592"/>
            <a:ext cx="279400" cy="139700"/>
          </a:xfrm>
          <a:prstGeom prst="rect">
            <a:avLst/>
          </a:prstGeom>
        </p:spPr>
      </p:pic>
      <p:sp>
        <p:nvSpPr>
          <p:cNvPr id="17" name="Shape 12"/>
          <p:cNvSpPr/>
          <p:nvPr/>
        </p:nvSpPr>
        <p:spPr>
          <a:xfrm>
            <a:off x="7257323" y="3181152"/>
            <a:ext cx="1600002" cy="840647"/>
          </a:xfrm>
          <a:prstGeom prst="roundRect">
            <a:avLst>
              <a:gd name="adj" fmla="val 11331"/>
            </a:avLst>
          </a:prstGeom>
          <a:solidFill>
            <a:srgbClr val="FFFDF8"/>
          </a:solidFill>
          <a:ln w="12700">
            <a:solidFill>
              <a:srgbClr val="DDD5C6"/>
            </a:solidFill>
            <a:prstDash val="solid"/>
          </a:ln>
        </p:spPr>
      </p:sp>
      <p:sp>
        <p:nvSpPr>
          <p:cNvPr id="18" name="Text 13"/>
          <p:cNvSpPr/>
          <p:nvPr/>
        </p:nvSpPr>
        <p:spPr>
          <a:xfrm>
            <a:off x="7441473" y="3339902"/>
            <a:ext cx="1282502"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31B2E"/>
                </a:solidFill>
                <a:latin typeface="DM Sans" pitchFamily="34" charset="0"/>
                <a:ea typeface="DM Sans" pitchFamily="34" charset="-122"/>
                <a:cs typeface="DM Sans" pitchFamily="34" charset="-120"/>
              </a:rPr>
              <a:t>Paso 3</a:t>
            </a:r>
            <a:endParaRPr lang="en-US" sz="1600" dirty="0"/>
          </a:p>
        </p:txBody>
      </p:sp>
      <p:sp>
        <p:nvSpPr>
          <p:cNvPr id="19" name="Text 14"/>
          <p:cNvSpPr/>
          <p:nvPr/>
        </p:nvSpPr>
        <p:spPr>
          <a:xfrm>
            <a:off x="7441473" y="3649729"/>
            <a:ext cx="12825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step_3</a:t>
            </a:r>
            <a:endParaRPr lang="en-US" sz="1200" dirty="0"/>
          </a:p>
        </p:txBody>
      </p:sp>
      <p:pic>
        <p:nvPicPr>
          <p:cNvPr id="20" name="Image 3" descr="arrow-right"/>
          <p:cNvPicPr>
            <a:picLocks noChangeAspect="1"/>
          </p:cNvPicPr>
          <p:nvPr/>
        </p:nvPicPr>
        <p:blipFill>
          <a:blip r:embed="rId3"/>
          <a:srcRect/>
          <a:stretch/>
        </p:blipFill>
        <p:spPr>
          <a:xfrm>
            <a:off x="8990674" y="3531592"/>
            <a:ext cx="279400" cy="139700"/>
          </a:xfrm>
          <a:prstGeom prst="rect">
            <a:avLst/>
          </a:prstGeom>
        </p:spPr>
      </p:pic>
      <p:sp>
        <p:nvSpPr>
          <p:cNvPr id="21" name="Shape 15"/>
          <p:cNvSpPr/>
          <p:nvPr/>
        </p:nvSpPr>
        <p:spPr>
          <a:xfrm>
            <a:off x="9397074" y="3174802"/>
            <a:ext cx="1982126" cy="853347"/>
          </a:xfrm>
          <a:prstGeom prst="roundRect">
            <a:avLst>
              <a:gd name="adj" fmla="val 11906"/>
            </a:avLst>
          </a:prstGeom>
          <a:solidFill>
            <a:srgbClr val="131B2E"/>
          </a:solidFill>
          <a:ln/>
        </p:spPr>
      </p:sp>
      <p:sp>
        <p:nvSpPr>
          <p:cNvPr id="22" name="Text 16"/>
          <p:cNvSpPr/>
          <p:nvPr/>
        </p:nvSpPr>
        <p:spPr>
          <a:xfrm>
            <a:off x="9587574" y="3339902"/>
            <a:ext cx="1651926"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2EC"/>
                </a:solidFill>
                <a:latin typeface="DM Sans" pitchFamily="34" charset="0"/>
                <a:ea typeface="DM Sans" pitchFamily="34" charset="-122"/>
                <a:cs typeface="DM Sans" pitchFamily="34" charset="-120"/>
              </a:rPr>
              <a:t>Confirmación</a:t>
            </a:r>
            <a:endParaRPr lang="en-US" sz="1600" dirty="0"/>
          </a:p>
        </p:txBody>
      </p:sp>
      <p:sp>
        <p:nvSpPr>
          <p:cNvPr id="23" name="Text 17"/>
          <p:cNvSpPr/>
          <p:nvPr/>
        </p:nvSpPr>
        <p:spPr>
          <a:xfrm>
            <a:off x="9587574" y="3649729"/>
            <a:ext cx="165192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C0CF"/>
                </a:solidFill>
                <a:latin typeface="DM Sans" pitchFamily="34" charset="0"/>
                <a:ea typeface="DM Sans" pitchFamily="34" charset="-122"/>
                <a:cs typeface="DM Sans" pitchFamily="34" charset="-120"/>
              </a:rPr>
              <a:t>confirm</a:t>
            </a:r>
            <a:endParaRPr lang="en-US" sz="1200" dirty="0"/>
          </a:p>
        </p:txBody>
      </p:sp>
      <p:sp>
        <p:nvSpPr>
          <p:cNvPr id="24" name="Shape 18"/>
          <p:cNvSpPr/>
          <p:nvPr/>
        </p:nvSpPr>
        <p:spPr>
          <a:xfrm>
            <a:off x="838200" y="4332949"/>
            <a:ext cx="0" cy="1076920"/>
          </a:xfrm>
          <a:prstGeom prst="line">
            <a:avLst/>
          </a:prstGeom>
          <a:noFill/>
          <a:ln w="50800">
            <a:solidFill>
              <a:srgbClr val="8C96A6"/>
            </a:solidFill>
            <a:prstDash val="solid"/>
          </a:ln>
        </p:spPr>
      </p:sp>
      <p:sp>
        <p:nvSpPr>
          <p:cNvPr id="25" name="Text 19"/>
          <p:cNvSpPr/>
          <p:nvPr/>
        </p:nvSpPr>
        <p:spPr>
          <a:xfrm>
            <a:off x="1041400" y="4383749"/>
            <a:ext cx="28162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Control · diseño antiguo</a:t>
            </a:r>
            <a:endParaRPr lang="en-US" sz="1200" dirty="0"/>
          </a:p>
        </p:txBody>
      </p:sp>
      <p:sp>
        <p:nvSpPr>
          <p:cNvPr id="26" name="Text 20"/>
          <p:cNvSpPr/>
          <p:nvPr/>
        </p:nvSpPr>
        <p:spPr>
          <a:xfrm>
            <a:off x="1041400" y="4647870"/>
            <a:ext cx="2816230"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23.532 clientes</a:t>
            </a:r>
            <a:endParaRPr lang="en-US" sz="2200" dirty="0"/>
          </a:p>
        </p:txBody>
      </p:sp>
      <p:sp>
        <p:nvSpPr>
          <p:cNvPr id="27" name="Shape 21"/>
          <p:cNvSpPr/>
          <p:nvPr/>
        </p:nvSpPr>
        <p:spPr>
          <a:xfrm>
            <a:off x="4004204" y="4332949"/>
            <a:ext cx="0" cy="1076920"/>
          </a:xfrm>
          <a:prstGeom prst="line">
            <a:avLst/>
          </a:prstGeom>
          <a:noFill/>
          <a:ln w="50800">
            <a:solidFill>
              <a:srgbClr val="C8102E"/>
            </a:solidFill>
            <a:prstDash val="solid"/>
          </a:ln>
        </p:spPr>
      </p:sp>
      <p:sp>
        <p:nvSpPr>
          <p:cNvPr id="28" name="Text 22"/>
          <p:cNvSpPr/>
          <p:nvPr/>
        </p:nvSpPr>
        <p:spPr>
          <a:xfrm>
            <a:off x="4207404" y="4383749"/>
            <a:ext cx="281629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Test · diseño nuevo</a:t>
            </a:r>
            <a:endParaRPr lang="en-US" sz="1200" dirty="0"/>
          </a:p>
        </p:txBody>
      </p:sp>
      <p:sp>
        <p:nvSpPr>
          <p:cNvPr id="29" name="Text 23"/>
          <p:cNvSpPr/>
          <p:nvPr/>
        </p:nvSpPr>
        <p:spPr>
          <a:xfrm>
            <a:off x="4207404" y="4647870"/>
            <a:ext cx="2816298"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31B2E"/>
                </a:solidFill>
                <a:latin typeface="Space Grotesk" pitchFamily="34" charset="0"/>
                <a:ea typeface="Space Grotesk" pitchFamily="34" charset="-122"/>
                <a:cs typeface="Space Grotesk" pitchFamily="34" charset="-120"/>
              </a:rPr>
              <a:t>26.968 clientes</a:t>
            </a:r>
            <a:endParaRPr lang="en-US" sz="2200" dirty="0"/>
          </a:p>
        </p:txBody>
      </p:sp>
      <p:sp>
        <p:nvSpPr>
          <p:cNvPr id="30" name="Shape 24"/>
          <p:cNvSpPr/>
          <p:nvPr/>
        </p:nvSpPr>
        <p:spPr>
          <a:xfrm>
            <a:off x="7144875" y="4332949"/>
            <a:ext cx="4234326" cy="1076920"/>
          </a:xfrm>
          <a:prstGeom prst="roundRect">
            <a:avLst>
              <a:gd name="adj" fmla="val 9434"/>
            </a:avLst>
          </a:prstGeom>
          <a:solidFill>
            <a:srgbClr val="C8102E"/>
          </a:solidFill>
          <a:ln/>
        </p:spPr>
      </p:sp>
      <p:sp>
        <p:nvSpPr>
          <p:cNvPr id="31" name="Text 25"/>
          <p:cNvSpPr/>
          <p:nvPr/>
        </p:nvSpPr>
        <p:spPr>
          <a:xfrm>
            <a:off x="7348075" y="4485349"/>
            <a:ext cx="394276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BE3E6"/>
                </a:solidFill>
                <a:latin typeface="DM Sans" pitchFamily="34" charset="0"/>
                <a:ea typeface="DM Sans" pitchFamily="34" charset="-122"/>
                <a:cs typeface="DM Sans" pitchFamily="34" charset="-120"/>
              </a:rPr>
              <a:t>Nuestra pregunta</a:t>
            </a:r>
            <a:endParaRPr lang="en-US" sz="1200" dirty="0"/>
          </a:p>
        </p:txBody>
      </p:sp>
      <p:sp>
        <p:nvSpPr>
          <p:cNvPr id="32" name="Text 26"/>
          <p:cNvSpPr/>
          <p:nvPr/>
        </p:nvSpPr>
        <p:spPr>
          <a:xfrm>
            <a:off x="7348075" y="4749470"/>
            <a:ext cx="3942763" cy="533400"/>
          </a:xfrm>
          <a:prstGeom prst="rect">
            <a:avLst/>
          </a:prstGeom>
          <a:noFill/>
          <a:ln/>
        </p:spPr>
        <p:txBody>
          <a:bodyPr wrap="square" lIns="0" tIns="0" rIns="0" bIns="0" rtlCol="0" anchor="t">
            <a:normAutofit/>
          </a:bodyPr>
          <a:lstStyle/>
          <a:p>
            <a:pPr marL="0" indent="0" algn="l">
              <a:lnSpc>
                <a:spcPts val="2000"/>
              </a:lnSpc>
              <a:buNone/>
            </a:pPr>
            <a:r>
              <a:rPr lang="es-ES" sz="1600" b="1" dirty="0">
                <a:solidFill>
                  <a:srgbClr val="FFF8F2"/>
                </a:solidFill>
                <a:latin typeface="DM Sans" pitchFamily="34" charset="0"/>
                <a:ea typeface="DM Sans" pitchFamily="34" charset="-122"/>
                <a:cs typeface="DM Sans" pitchFamily="34" charset="-120"/>
              </a:rPr>
              <a:t>¿Conseguirá el nuevo diseño que más clientes lleguen hasta el final?</a:t>
            </a:r>
            <a:endParaRPr lang="en-US" sz="1600" dirty="0"/>
          </a:p>
        </p:txBody>
      </p:sp>
      <p:sp>
        <p:nvSpPr>
          <p:cNvPr id="34" name="Text 2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02</a:t>
            </a:r>
            <a:endParaRPr lang="en-US" sz="1200" dirty="0"/>
          </a:p>
        </p:txBody>
      </p:sp>
      <p:sp>
        <p:nvSpPr>
          <p:cNvPr id="36" name="Text 27">
            <a:extLst>
              <a:ext uri="{FF2B5EF4-FFF2-40B4-BE49-F238E27FC236}">
                <a16:creationId xmlns:a16="http://schemas.microsoft.com/office/drawing/2014/main" id="{04159C82-41AC-2F62-85DE-74B9F814A207}"/>
              </a:ext>
            </a:extLst>
          </p:cNvPr>
          <p:cNvSpPr/>
          <p:nvPr/>
        </p:nvSpPr>
        <p:spPr>
          <a:xfrm>
            <a:off x="812800" y="6238280"/>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Del 15/03/2017 al 20/06/2017 · 50.500 clientes con grupo asignado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RESUMEN DE DATOS</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Tres fuentes de datos, unidas por el cliente</a:t>
            </a:r>
            <a:endParaRPr lang="en-US" sz="3200" dirty="0"/>
          </a:p>
        </p:txBody>
      </p:sp>
      <p:sp>
        <p:nvSpPr>
          <p:cNvPr id="4" name="Shape 2"/>
          <p:cNvSpPr/>
          <p:nvPr/>
        </p:nvSpPr>
        <p:spPr>
          <a:xfrm>
            <a:off x="819150" y="1911285"/>
            <a:ext cx="3373967" cy="2730368"/>
          </a:xfrm>
          <a:prstGeom prst="roundRect">
            <a:avLst>
              <a:gd name="adj" fmla="val 4419"/>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a:stretch/>
        </p:blipFill>
        <p:spPr>
          <a:xfrm>
            <a:off x="1079500" y="2171635"/>
            <a:ext cx="355600" cy="355600"/>
          </a:xfrm>
          <a:prstGeom prst="rect">
            <a:avLst/>
          </a:prstGeom>
        </p:spPr>
      </p:pic>
      <p:sp>
        <p:nvSpPr>
          <p:cNvPr id="6" name="Text 3"/>
          <p:cNvSpPr/>
          <p:nvPr/>
        </p:nvSpPr>
        <p:spPr>
          <a:xfrm>
            <a:off x="1079500"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Perfiles de clientes</a:t>
            </a:r>
            <a:endParaRPr lang="en-US" sz="1800" dirty="0"/>
          </a:p>
        </p:txBody>
      </p:sp>
      <p:sp>
        <p:nvSpPr>
          <p:cNvPr id="7" name="Text 4"/>
          <p:cNvSpPr/>
          <p:nvPr/>
        </p:nvSpPr>
        <p:spPr>
          <a:xfrm>
            <a:off x="1079500"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df_final_demo</a:t>
            </a:r>
            <a:endParaRPr lang="en-US" sz="1200" dirty="0"/>
          </a:p>
        </p:txBody>
      </p:sp>
      <p:sp>
        <p:nvSpPr>
          <p:cNvPr id="8" name="Text 5"/>
          <p:cNvSpPr/>
          <p:nvPr/>
        </p:nvSpPr>
        <p:spPr>
          <a:xfrm>
            <a:off x="1079500"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70.609</a:t>
            </a:r>
            <a:endParaRPr lang="en-US" sz="2800" dirty="0"/>
          </a:p>
        </p:txBody>
      </p:sp>
      <p:sp>
        <p:nvSpPr>
          <p:cNvPr id="9" name="Text 6"/>
          <p:cNvSpPr/>
          <p:nvPr/>
        </p:nvSpPr>
        <p:spPr>
          <a:xfrm>
            <a:off x="1079500"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edad, antigüedad, género, saldo, cuentas y actividad</a:t>
            </a:r>
            <a:endParaRPr lang="en-US" sz="1300" dirty="0"/>
          </a:p>
        </p:txBody>
      </p:sp>
      <p:sp>
        <p:nvSpPr>
          <p:cNvPr id="10" name="Shape 7"/>
          <p:cNvSpPr/>
          <p:nvPr/>
        </p:nvSpPr>
        <p:spPr>
          <a:xfrm>
            <a:off x="4409017" y="1911285"/>
            <a:ext cx="3373967" cy="2730368"/>
          </a:xfrm>
          <a:prstGeom prst="roundRect">
            <a:avLst>
              <a:gd name="adj" fmla="val 4419"/>
            </a:avLst>
          </a:prstGeom>
          <a:solidFill>
            <a:srgbClr val="FFFDF8"/>
          </a:solidFill>
          <a:ln w="12700">
            <a:solidFill>
              <a:srgbClr val="DDD5C6"/>
            </a:solidFill>
            <a:prstDash val="solid"/>
          </a:ln>
        </p:spPr>
      </p:sp>
      <p:pic>
        <p:nvPicPr>
          <p:cNvPr id="11" name="Image 1" descr="Activity"/>
          <p:cNvPicPr>
            <a:picLocks noChangeAspect="1"/>
          </p:cNvPicPr>
          <p:nvPr/>
        </p:nvPicPr>
        <p:blipFill>
          <a:blip r:embed="rId4"/>
          <a:srcRect/>
          <a:stretch/>
        </p:blipFill>
        <p:spPr>
          <a:xfrm>
            <a:off x="4669367" y="2171635"/>
            <a:ext cx="355600" cy="355600"/>
          </a:xfrm>
          <a:prstGeom prst="rect">
            <a:avLst/>
          </a:prstGeom>
        </p:spPr>
      </p:pic>
      <p:sp>
        <p:nvSpPr>
          <p:cNvPr id="12" name="Text 8"/>
          <p:cNvSpPr/>
          <p:nvPr/>
        </p:nvSpPr>
        <p:spPr>
          <a:xfrm>
            <a:off x="4669367"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Huellas digitales</a:t>
            </a:r>
            <a:endParaRPr lang="en-US" sz="1800" dirty="0"/>
          </a:p>
        </p:txBody>
      </p:sp>
      <p:sp>
        <p:nvSpPr>
          <p:cNvPr id="13" name="Text 9"/>
          <p:cNvSpPr/>
          <p:nvPr/>
        </p:nvSpPr>
        <p:spPr>
          <a:xfrm>
            <a:off x="4669367"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df_final_web_data (pt 1 + pt 2)</a:t>
            </a:r>
            <a:endParaRPr lang="en-US" sz="1200" dirty="0"/>
          </a:p>
        </p:txBody>
      </p:sp>
      <p:sp>
        <p:nvSpPr>
          <p:cNvPr id="14" name="Text 10"/>
          <p:cNvSpPr/>
          <p:nvPr/>
        </p:nvSpPr>
        <p:spPr>
          <a:xfrm>
            <a:off x="4669367"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755.405</a:t>
            </a:r>
            <a:endParaRPr lang="en-US" sz="2800" dirty="0"/>
          </a:p>
        </p:txBody>
      </p:sp>
      <p:sp>
        <p:nvSpPr>
          <p:cNvPr id="15" name="Text 11"/>
          <p:cNvSpPr/>
          <p:nvPr/>
        </p:nvSpPr>
        <p:spPr>
          <a:xfrm>
            <a:off x="4669367"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registros web: cliente, visita, paso y fecha-hora</a:t>
            </a:r>
            <a:endParaRPr lang="en-US" sz="1300" dirty="0"/>
          </a:p>
        </p:txBody>
      </p:sp>
      <p:sp>
        <p:nvSpPr>
          <p:cNvPr id="16" name="Shape 12"/>
          <p:cNvSpPr/>
          <p:nvPr/>
        </p:nvSpPr>
        <p:spPr>
          <a:xfrm>
            <a:off x="7998884" y="1911285"/>
            <a:ext cx="3373967" cy="2730368"/>
          </a:xfrm>
          <a:prstGeom prst="roundRect">
            <a:avLst>
              <a:gd name="adj" fmla="val 4419"/>
            </a:avLst>
          </a:prstGeom>
          <a:solidFill>
            <a:srgbClr val="FFFDF8"/>
          </a:solidFill>
          <a:ln w="12700">
            <a:solidFill>
              <a:srgbClr val="DDD5C6"/>
            </a:solidFill>
            <a:prstDash val="solid"/>
          </a:ln>
        </p:spPr>
      </p:sp>
      <p:pic>
        <p:nvPicPr>
          <p:cNvPr id="17" name="Image 2" descr="Verified"/>
          <p:cNvPicPr>
            <a:picLocks noChangeAspect="1"/>
          </p:cNvPicPr>
          <p:nvPr/>
        </p:nvPicPr>
        <p:blipFill>
          <a:blip r:embed="rId5"/>
          <a:srcRect/>
          <a:stretch/>
        </p:blipFill>
        <p:spPr>
          <a:xfrm>
            <a:off x="8259234" y="2171635"/>
            <a:ext cx="355600" cy="355600"/>
          </a:xfrm>
          <a:prstGeom prst="rect">
            <a:avLst/>
          </a:prstGeom>
        </p:spPr>
      </p:pic>
      <p:sp>
        <p:nvSpPr>
          <p:cNvPr id="18" name="Text 13"/>
          <p:cNvSpPr/>
          <p:nvPr/>
        </p:nvSpPr>
        <p:spPr>
          <a:xfrm>
            <a:off x="8259234" y="2628835"/>
            <a:ext cx="2938865"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31B2E"/>
                </a:solidFill>
                <a:latin typeface="Space Grotesk" pitchFamily="34" charset="0"/>
                <a:ea typeface="Space Grotesk" pitchFamily="34" charset="-122"/>
                <a:cs typeface="Space Grotesk" pitchFamily="34" charset="-120"/>
              </a:rPr>
              <a:t>Participantes</a:t>
            </a:r>
            <a:endParaRPr lang="en-US" sz="1800" dirty="0"/>
          </a:p>
        </p:txBody>
      </p:sp>
      <p:sp>
        <p:nvSpPr>
          <p:cNvPr id="19" name="Text 14"/>
          <p:cNvSpPr/>
          <p:nvPr/>
        </p:nvSpPr>
        <p:spPr>
          <a:xfrm>
            <a:off x="8259234" y="3004741"/>
            <a:ext cx="29388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df_final_experiment_clients</a:t>
            </a:r>
            <a:endParaRPr lang="en-US" sz="1200" dirty="0"/>
          </a:p>
        </p:txBody>
      </p:sp>
      <p:sp>
        <p:nvSpPr>
          <p:cNvPr id="20" name="Text 15"/>
          <p:cNvSpPr/>
          <p:nvPr/>
        </p:nvSpPr>
        <p:spPr>
          <a:xfrm>
            <a:off x="8259234" y="3319661"/>
            <a:ext cx="2938865"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131B2E"/>
                </a:solidFill>
                <a:latin typeface="Space Grotesk" pitchFamily="34" charset="0"/>
                <a:ea typeface="Space Grotesk" pitchFamily="34" charset="-122"/>
                <a:cs typeface="Space Grotesk" pitchFamily="34" charset="-120"/>
              </a:rPr>
              <a:t>50.500</a:t>
            </a:r>
            <a:endParaRPr lang="en-US" sz="2800" dirty="0"/>
          </a:p>
        </p:txBody>
      </p:sp>
      <p:sp>
        <p:nvSpPr>
          <p:cNvPr id="21" name="Text 16"/>
          <p:cNvSpPr/>
          <p:nvPr/>
        </p:nvSpPr>
        <p:spPr>
          <a:xfrm>
            <a:off x="8259234" y="3919076"/>
            <a:ext cx="2938865"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clientes con grupo asignado: Control o Test</a:t>
            </a:r>
            <a:endParaRPr lang="en-US" sz="1300" dirty="0"/>
          </a:p>
        </p:txBody>
      </p:sp>
      <p:sp>
        <p:nvSpPr>
          <p:cNvPr id="22" name="Shape 17"/>
          <p:cNvSpPr/>
          <p:nvPr/>
        </p:nvSpPr>
        <p:spPr>
          <a:xfrm>
            <a:off x="812800" y="5003602"/>
            <a:ext cx="10566400" cy="635000"/>
          </a:xfrm>
          <a:prstGeom prst="roundRect">
            <a:avLst>
              <a:gd name="adj" fmla="val 16000"/>
            </a:avLst>
          </a:prstGeom>
          <a:solidFill>
            <a:srgbClr val="131B2E"/>
          </a:solidFill>
          <a:ln/>
        </p:spPr>
      </p:sp>
      <p:pic>
        <p:nvPicPr>
          <p:cNvPr id="23" name="Image 3" descr="Link"/>
          <p:cNvPicPr>
            <a:picLocks noChangeAspect="1"/>
          </p:cNvPicPr>
          <p:nvPr/>
        </p:nvPicPr>
        <p:blipFill>
          <a:blip r:embed="rId6"/>
          <a:srcRect/>
          <a:stretch/>
        </p:blipFill>
        <p:spPr>
          <a:xfrm>
            <a:off x="1066800" y="5181402"/>
            <a:ext cx="279400" cy="279400"/>
          </a:xfrm>
          <a:prstGeom prst="rect">
            <a:avLst/>
          </a:prstGeom>
        </p:spPr>
      </p:pic>
      <p:sp>
        <p:nvSpPr>
          <p:cNvPr id="24" name="Text 18"/>
          <p:cNvSpPr/>
          <p:nvPr/>
        </p:nvSpPr>
        <p:spPr>
          <a:xfrm>
            <a:off x="1498600" y="5187752"/>
            <a:ext cx="9053286" cy="292100"/>
          </a:xfrm>
          <a:prstGeom prst="rect">
            <a:avLst/>
          </a:prstGeom>
          <a:noFill/>
          <a:ln/>
        </p:spPr>
        <p:txBody>
          <a:bodyPr wrap="square" lIns="0" tIns="0" rIns="0" bIns="0" rtlCol="0" anchor="t">
            <a:noAutofit/>
          </a:bodyPr>
          <a:lstStyle/>
          <a:p>
            <a:pPr marL="0" indent="0" algn="l">
              <a:lnSpc>
                <a:spcPts val="2100"/>
              </a:lnSpc>
              <a:buNone/>
            </a:pPr>
            <a:r>
              <a:rPr lang="es-ES" sz="1300" dirty="0">
                <a:solidFill>
                  <a:srgbClr val="F5F2EC"/>
                </a:solidFill>
                <a:latin typeface="DM Sans" pitchFamily="34" charset="0"/>
                <a:ea typeface="DM Sans" pitchFamily="34" charset="-122"/>
                <a:cs typeface="DM Sans" pitchFamily="34" charset="-120"/>
              </a:rPr>
              <a:t>Unimos los datos mediante </a:t>
            </a:r>
            <a:r>
              <a:rPr lang="es-ES" sz="1300" dirty="0" err="1">
                <a:solidFill>
                  <a:srgbClr val="F5F2EC"/>
                </a:solidFill>
                <a:latin typeface="DM Sans" pitchFamily="34" charset="0"/>
                <a:ea typeface="DM Sans" pitchFamily="34" charset="-122"/>
                <a:cs typeface="DM Sans" pitchFamily="34" charset="-120"/>
              </a:rPr>
              <a:t>client_id</a:t>
            </a:r>
            <a:r>
              <a:rPr lang="es-ES" sz="1300" dirty="0">
                <a:solidFill>
                  <a:srgbClr val="F5F2EC"/>
                </a:solidFill>
                <a:latin typeface="DM Sans" pitchFamily="34" charset="0"/>
                <a:ea typeface="DM Sans" pitchFamily="34" charset="-122"/>
                <a:cs typeface="DM Sans" pitchFamily="34" charset="-120"/>
              </a:rPr>
              <a:t>, los limpiamos y analizamos en Python y visualizamos los resultados en </a:t>
            </a:r>
            <a:r>
              <a:rPr lang="es-ES" sz="1300" dirty="0" err="1">
                <a:solidFill>
                  <a:srgbClr val="F5F2EC"/>
                </a:solidFill>
                <a:latin typeface="DM Sans" pitchFamily="34" charset="0"/>
                <a:ea typeface="DM Sans" pitchFamily="34" charset="-122"/>
                <a:cs typeface="DM Sans" pitchFamily="34" charset="-120"/>
              </a:rPr>
              <a:t>Tableau</a:t>
            </a:r>
            <a:endParaRPr lang="en-US" sz="1300" dirty="0"/>
          </a:p>
        </p:txBody>
      </p:sp>
      <p:sp>
        <p:nvSpPr>
          <p:cNvPr id="26" name="Text 2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6B7A"/>
                </a:solidFill>
                <a:latin typeface="DM Sans" pitchFamily="34" charset="0"/>
                <a:ea typeface="DM Sans" pitchFamily="34" charset="-122"/>
                <a:cs typeface="DM Sans" pitchFamily="34" charset="-120"/>
              </a:rPr>
              <a:t>VISUALIZACIONES EN TABLEAU · DEMO EN DIRECTO</a:t>
            </a:r>
            <a:endParaRPr lang="en-US" sz="1200" dirty="0"/>
          </a:p>
        </p:txBody>
      </p:sp>
      <p:sp>
        <p:nvSpPr>
          <p:cNvPr id="20" name="Text 18"/>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AA3B5"/>
                </a:solidFill>
                <a:latin typeface="DM Sans" pitchFamily="34" charset="0"/>
                <a:ea typeface="DM Sans" pitchFamily="34" charset="-122"/>
                <a:cs typeface="DM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8102E"/>
                </a:solidFill>
                <a:latin typeface="DM Sans" pitchFamily="34" charset="0"/>
                <a:ea typeface="DM Sans" pitchFamily="34" charset="-122"/>
                <a:cs typeface="DM Sans" pitchFamily="34" charset="-120"/>
              </a:rPr>
              <a:t>LIMITACIONES DEL ESTUDIO</a:t>
            </a:r>
            <a:endParaRPr lang="en-US" sz="1200" dirty="0"/>
          </a:p>
        </p:txBody>
      </p:sp>
      <p:sp>
        <p:nvSpPr>
          <p:cNvPr id="3" name="Text 1"/>
          <p:cNvSpPr>
            <a:spLocks noGrp="1"/>
          </p:cNvSpPr>
          <p:nvPr>
            <p:ph type="title"/>
          </p:nvPr>
        </p:nvSpPr>
        <p:spPr>
          <a:xfrm>
            <a:off x="812800" y="1102320"/>
            <a:ext cx="10883392" cy="472414"/>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¿Qué no podemos asegurar con estos datos?</a:t>
            </a:r>
            <a:endParaRPr lang="en-US" sz="3200" dirty="0"/>
          </a:p>
        </p:txBody>
      </p:sp>
      <p:sp>
        <p:nvSpPr>
          <p:cNvPr id="4" name="Shape 2"/>
          <p:cNvSpPr/>
          <p:nvPr/>
        </p:nvSpPr>
        <p:spPr>
          <a:xfrm>
            <a:off x="819150" y="1860485"/>
            <a:ext cx="5181600" cy="1254654"/>
          </a:xfrm>
          <a:prstGeom prst="roundRect">
            <a:avLst>
              <a:gd name="adj" fmla="val 9616"/>
            </a:avLst>
          </a:prstGeom>
          <a:solidFill>
            <a:srgbClr val="FFFDF8"/>
          </a:solidFill>
          <a:ln w="12700">
            <a:solidFill>
              <a:srgbClr val="DDD5C6"/>
            </a:solidFill>
            <a:prstDash val="solid"/>
          </a:ln>
        </p:spPr>
      </p:sp>
      <p:pic>
        <p:nvPicPr>
          <p:cNvPr id="5" name="Image 0" descr="Users"/>
          <p:cNvPicPr>
            <a:picLocks noChangeAspect="1"/>
          </p:cNvPicPr>
          <p:nvPr/>
        </p:nvPicPr>
        <p:blipFill>
          <a:blip r:embed="rId3"/>
          <a:srcRect l="-427" r="-427"/>
          <a:stretch/>
        </p:blipFill>
        <p:spPr>
          <a:xfrm>
            <a:off x="1079500" y="2095435"/>
            <a:ext cx="249767" cy="355600"/>
          </a:xfrm>
          <a:prstGeom prst="rect">
            <a:avLst/>
          </a:prstGeom>
        </p:spPr>
      </p:pic>
      <p:sp>
        <p:nvSpPr>
          <p:cNvPr id="6" name="Text 3"/>
          <p:cNvSpPr/>
          <p:nvPr/>
        </p:nvSpPr>
        <p:spPr>
          <a:xfrm>
            <a:off x="1507067" y="2095435"/>
            <a:ext cx="4360333"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Reparto no equilibrado</a:t>
            </a:r>
            <a:endParaRPr lang="en-US" sz="1700" dirty="0"/>
          </a:p>
        </p:txBody>
      </p:sp>
      <p:sp>
        <p:nvSpPr>
          <p:cNvPr id="7" name="Text 4"/>
          <p:cNvSpPr/>
          <p:nvPr/>
        </p:nvSpPr>
        <p:spPr>
          <a:xfrm>
            <a:off x="1507067" y="2417961"/>
            <a:ext cx="4360333"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53,4 % en Test y 46,6 % en Control (p &lt; 0,001). No sabemos si era intencionado</a:t>
            </a:r>
            <a:endParaRPr lang="en-US" sz="1300" dirty="0"/>
          </a:p>
        </p:txBody>
      </p:sp>
      <p:sp>
        <p:nvSpPr>
          <p:cNvPr id="8" name="Shape 5"/>
          <p:cNvSpPr/>
          <p:nvPr/>
        </p:nvSpPr>
        <p:spPr>
          <a:xfrm>
            <a:off x="6191250" y="1860485"/>
            <a:ext cx="5181600" cy="1254654"/>
          </a:xfrm>
          <a:prstGeom prst="roundRect">
            <a:avLst>
              <a:gd name="adj" fmla="val 9616"/>
            </a:avLst>
          </a:prstGeom>
          <a:solidFill>
            <a:srgbClr val="FFFDF8"/>
          </a:solidFill>
          <a:ln w="12700">
            <a:solidFill>
              <a:srgbClr val="DDD5C6"/>
            </a:solidFill>
            <a:prstDash val="solid"/>
          </a:ln>
        </p:spPr>
      </p:sp>
      <p:pic>
        <p:nvPicPr>
          <p:cNvPr id="9" name="Image 1" descr="Globe"/>
          <p:cNvPicPr>
            <a:picLocks noChangeAspect="1"/>
          </p:cNvPicPr>
          <p:nvPr/>
        </p:nvPicPr>
        <p:blipFill>
          <a:blip r:embed="rId4"/>
          <a:srcRect l="-90" r="-90"/>
          <a:stretch/>
        </p:blipFill>
        <p:spPr>
          <a:xfrm>
            <a:off x="6451600" y="2095435"/>
            <a:ext cx="330795" cy="355600"/>
          </a:xfrm>
          <a:prstGeom prst="rect">
            <a:avLst/>
          </a:prstGeom>
        </p:spPr>
      </p:pic>
      <p:sp>
        <p:nvSpPr>
          <p:cNvPr id="10" name="Text 6"/>
          <p:cNvSpPr/>
          <p:nvPr/>
        </p:nvSpPr>
        <p:spPr>
          <a:xfrm>
            <a:off x="6960195" y="2095435"/>
            <a:ext cx="4276874"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Sin dispositivo ni navegador</a:t>
            </a:r>
            <a:endParaRPr lang="en-US" sz="1700" dirty="0"/>
          </a:p>
        </p:txBody>
      </p:sp>
      <p:sp>
        <p:nvSpPr>
          <p:cNvPr id="11" name="Text 7"/>
          <p:cNvSpPr/>
          <p:nvPr/>
        </p:nvSpPr>
        <p:spPr>
          <a:xfrm>
            <a:off x="6960195" y="2417961"/>
            <a:ext cx="427687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No sabemos si el diseño falla más en móvil o en ordenador</a:t>
            </a:r>
            <a:endParaRPr lang="en-US" sz="1300" dirty="0"/>
          </a:p>
        </p:txBody>
      </p:sp>
      <p:sp>
        <p:nvSpPr>
          <p:cNvPr id="12" name="Shape 8"/>
          <p:cNvSpPr/>
          <p:nvPr/>
        </p:nvSpPr>
        <p:spPr>
          <a:xfrm>
            <a:off x="819150" y="3305639"/>
            <a:ext cx="5181600" cy="1254654"/>
          </a:xfrm>
          <a:prstGeom prst="roundRect">
            <a:avLst>
              <a:gd name="adj" fmla="val 9616"/>
            </a:avLst>
          </a:prstGeom>
          <a:solidFill>
            <a:srgbClr val="FFFDF8"/>
          </a:solidFill>
          <a:ln w="12700">
            <a:solidFill>
              <a:srgbClr val="DDD5C6"/>
            </a:solidFill>
            <a:prstDash val="solid"/>
          </a:ln>
        </p:spPr>
      </p:sp>
      <p:pic>
        <p:nvPicPr>
          <p:cNvPr id="13" name="Image 2" descr="Chart"/>
          <p:cNvPicPr>
            <a:picLocks noChangeAspect="1"/>
          </p:cNvPicPr>
          <p:nvPr/>
        </p:nvPicPr>
        <p:blipFill>
          <a:blip r:embed="rId5"/>
          <a:srcRect l="-577" r="-577"/>
          <a:stretch/>
        </p:blipFill>
        <p:spPr>
          <a:xfrm>
            <a:off x="1079500" y="3540589"/>
            <a:ext cx="237662" cy="355600"/>
          </a:xfrm>
          <a:prstGeom prst="rect">
            <a:avLst/>
          </a:prstGeom>
        </p:spPr>
      </p:pic>
      <p:sp>
        <p:nvSpPr>
          <p:cNvPr id="14" name="Text 9"/>
          <p:cNvSpPr/>
          <p:nvPr/>
        </p:nvSpPr>
        <p:spPr>
          <a:xfrm>
            <a:off x="1494962" y="3540589"/>
            <a:ext cx="4372801"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Sin datos económicos</a:t>
            </a:r>
            <a:endParaRPr lang="en-US" sz="1700" dirty="0"/>
          </a:p>
        </p:txBody>
      </p:sp>
      <p:sp>
        <p:nvSpPr>
          <p:cNvPr id="15" name="Text 10"/>
          <p:cNvSpPr/>
          <p:nvPr/>
        </p:nvSpPr>
        <p:spPr>
          <a:xfrm>
            <a:off x="1494962" y="3863116"/>
            <a:ext cx="4372801"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Sin el coste del rediseño ni el valor de cada proceso, el 5 % no se traduce en dinero</a:t>
            </a:r>
            <a:endParaRPr lang="en-US" sz="1300" dirty="0"/>
          </a:p>
        </p:txBody>
      </p:sp>
      <p:sp>
        <p:nvSpPr>
          <p:cNvPr id="16" name="Shape 11"/>
          <p:cNvSpPr/>
          <p:nvPr/>
        </p:nvSpPr>
        <p:spPr>
          <a:xfrm>
            <a:off x="6191250" y="3305639"/>
            <a:ext cx="5181600" cy="1254654"/>
          </a:xfrm>
          <a:prstGeom prst="roundRect">
            <a:avLst>
              <a:gd name="adj" fmla="val 9616"/>
            </a:avLst>
          </a:prstGeom>
          <a:solidFill>
            <a:srgbClr val="FFFDF8"/>
          </a:solidFill>
          <a:ln w="12700">
            <a:solidFill>
              <a:srgbClr val="DDD5C6"/>
            </a:solidFill>
            <a:prstDash val="solid"/>
          </a:ln>
        </p:spPr>
      </p:sp>
      <p:pic>
        <p:nvPicPr>
          <p:cNvPr id="17" name="Image 3" descr="Search"/>
          <p:cNvPicPr>
            <a:picLocks noChangeAspect="1"/>
          </p:cNvPicPr>
          <p:nvPr/>
        </p:nvPicPr>
        <p:blipFill>
          <a:blip r:embed="rId6"/>
          <a:srcRect t="-426" b="-426"/>
          <a:stretch/>
        </p:blipFill>
        <p:spPr>
          <a:xfrm>
            <a:off x="6451600" y="3540589"/>
            <a:ext cx="333706" cy="355600"/>
          </a:xfrm>
          <a:prstGeom prst="rect">
            <a:avLst/>
          </a:prstGeom>
        </p:spPr>
      </p:pic>
      <p:sp>
        <p:nvSpPr>
          <p:cNvPr id="18" name="Text 12"/>
          <p:cNvSpPr/>
          <p:nvPr/>
        </p:nvSpPr>
        <p:spPr>
          <a:xfrm>
            <a:off x="6963106" y="3540589"/>
            <a:ext cx="4273876"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31B2E"/>
                </a:solidFill>
                <a:latin typeface="Space Grotesk" pitchFamily="34" charset="0"/>
                <a:ea typeface="Space Grotesk" pitchFamily="34" charset="-122"/>
                <a:cs typeface="Space Grotesk" pitchFamily="34" charset="-120"/>
              </a:rPr>
              <a:t>El porqué de los retrocesos</a:t>
            </a:r>
            <a:endParaRPr lang="en-US" sz="1700" dirty="0"/>
          </a:p>
        </p:txBody>
      </p:sp>
      <p:sp>
        <p:nvSpPr>
          <p:cNvPr id="19" name="Text 13"/>
          <p:cNvSpPr/>
          <p:nvPr/>
        </p:nvSpPr>
        <p:spPr>
          <a:xfrm>
            <a:off x="6963106" y="3863116"/>
            <a:ext cx="4273876"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266"/>
                </a:solidFill>
                <a:latin typeface="DM Sans" pitchFamily="34" charset="0"/>
                <a:ea typeface="DM Sans" pitchFamily="34" charset="-122"/>
                <a:cs typeface="DM Sans" pitchFamily="34" charset="-120"/>
              </a:rPr>
              <a:t>Los registros dicen dónde vuelven los clientes, no por qué</a:t>
            </a:r>
            <a:endParaRPr lang="en-US" sz="1300" dirty="0"/>
          </a:p>
        </p:txBody>
      </p:sp>
      <p:sp>
        <p:nvSpPr>
          <p:cNvPr id="20" name="Shape 14"/>
          <p:cNvSpPr/>
          <p:nvPr/>
        </p:nvSpPr>
        <p:spPr>
          <a:xfrm>
            <a:off x="812800" y="4871442"/>
            <a:ext cx="10566400" cy="596900"/>
          </a:xfrm>
          <a:prstGeom prst="roundRect">
            <a:avLst>
              <a:gd name="adj" fmla="val 17021"/>
            </a:avLst>
          </a:prstGeom>
          <a:solidFill>
            <a:srgbClr val="131B2E"/>
          </a:solidFill>
          <a:ln/>
        </p:spPr>
      </p:sp>
      <p:sp>
        <p:nvSpPr>
          <p:cNvPr id="21" name="Text 15"/>
          <p:cNvSpPr/>
          <p:nvPr/>
        </p:nvSpPr>
        <p:spPr>
          <a:xfrm>
            <a:off x="1066800" y="5063199"/>
            <a:ext cx="123176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6B7A"/>
                </a:solidFill>
                <a:latin typeface="DM Sans" pitchFamily="34" charset="0"/>
                <a:ea typeface="DM Sans" pitchFamily="34" charset="-122"/>
                <a:cs typeface="DM Sans" pitchFamily="34" charset="-120"/>
              </a:rPr>
              <a:t>EN RESUMEN</a:t>
            </a:r>
            <a:endParaRPr lang="en-US" sz="1200" dirty="0"/>
          </a:p>
        </p:txBody>
      </p:sp>
      <p:sp>
        <p:nvSpPr>
          <p:cNvPr id="22" name="Text 16"/>
          <p:cNvSpPr/>
          <p:nvPr/>
        </p:nvSpPr>
        <p:spPr>
          <a:xfrm>
            <a:off x="2298568" y="5036542"/>
            <a:ext cx="804743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5F2EC"/>
                </a:solidFill>
                <a:latin typeface="DM Sans" pitchFamily="34" charset="0"/>
                <a:ea typeface="DM Sans" pitchFamily="34" charset="-122"/>
                <a:cs typeface="DM Sans" pitchFamily="34" charset="-120"/>
              </a:rPr>
              <a:t>Los resultados son prometedores, pero estas dudas condicionan la decisión</a:t>
            </a:r>
            <a:endParaRPr lang="en-US" sz="1500" dirty="0"/>
          </a:p>
        </p:txBody>
      </p:sp>
      <p:sp>
        <p:nvSpPr>
          <p:cNvPr id="23" name="Text 17"/>
          <p:cNvSpPr/>
          <p:nvPr/>
        </p:nvSpPr>
        <p:spPr>
          <a:xfrm>
            <a:off x="812800" y="6238280"/>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5"/>
                </a:solidFill>
                <a:latin typeface="DM Sans" pitchFamily="34" charset="0"/>
                <a:ea typeface="DM Sans" pitchFamily="34" charset="-122"/>
                <a:cs typeface="DM Sans" pitchFamily="34" charset="-120"/>
              </a:rPr>
              <a:t>A esto se suma el posible efecto novedad que vimos en la evolución semanal</a:t>
            </a:r>
            <a:endParaRPr lang="en-US" sz="1200" dirty="0"/>
          </a:p>
        </p:txBody>
      </p:sp>
      <p:sp>
        <p:nvSpPr>
          <p:cNvPr id="24" name="Text 1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5"/>
                </a:solidFill>
                <a:latin typeface="DM Sans" pitchFamily="34" charset="0"/>
                <a:ea typeface="DM Sans" pitchFamily="34" charset="-122"/>
                <a:cs typeface="DM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AE5D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C8102E"/>
                </a:solidFill>
                <a:effectLst/>
                <a:uLnTx/>
                <a:uFillTx/>
                <a:latin typeface="DM Sans" pitchFamily="34" charset="0"/>
                <a:ea typeface="DM Sans" pitchFamily="34" charset="-122"/>
                <a:cs typeface="DM Sans" pitchFamily="34" charset="-120"/>
              </a:rPr>
              <a:t>PRÓXIMOS PASOS</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3" name="Text 1"/>
          <p:cNvSpPr>
            <a:spLocks noGrp="1"/>
          </p:cNvSpPr>
          <p:nvPr>
            <p:ph type="title"/>
          </p:nvPr>
        </p:nvSpPr>
        <p:spPr>
          <a:xfrm>
            <a:off x="812800" y="1102320"/>
            <a:ext cx="10883392" cy="919427"/>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31B2E"/>
                </a:solidFill>
                <a:latin typeface="Space Grotesk" pitchFamily="34" charset="0"/>
                <a:ea typeface="Space Grotesk" pitchFamily="34" charset="-122"/>
                <a:cs typeface="Space Grotesk" pitchFamily="34" charset="-120"/>
              </a:rPr>
              <a:t>De los datos a un plan de mejora que se pueda verificar</a:t>
            </a:r>
            <a:endParaRPr lang="en-US" sz="3200" dirty="0"/>
          </a:p>
        </p:txBody>
      </p:sp>
      <p:sp>
        <p:nvSpPr>
          <p:cNvPr id="4" name="Shape 2"/>
          <p:cNvSpPr/>
          <p:nvPr/>
        </p:nvSpPr>
        <p:spPr>
          <a:xfrm>
            <a:off x="812800" y="2351949"/>
            <a:ext cx="3149600" cy="3490053"/>
          </a:xfrm>
          <a:prstGeom prst="roundRect">
            <a:avLst>
              <a:gd name="adj" fmla="val 4032"/>
            </a:avLst>
          </a:prstGeom>
          <a:solidFill>
            <a:srgbClr val="F5F2EC"/>
          </a:solidFill>
          <a:ln/>
        </p:spPr>
      </p:sp>
      <p:sp>
        <p:nvSpPr>
          <p:cNvPr id="5" name="Text 3"/>
          <p:cNvSpPr/>
          <p:nvPr/>
        </p:nvSpPr>
        <p:spPr>
          <a:xfrm>
            <a:off x="1041400" y="2605949"/>
            <a:ext cx="257506"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C8102E"/>
                </a:solidFill>
                <a:effectLst/>
                <a:uLnTx/>
                <a:uFillTx/>
                <a:latin typeface="Space Grotesk" pitchFamily="34" charset="0"/>
                <a:ea typeface="Space Grotesk" pitchFamily="34" charset="-122"/>
                <a:cs typeface="Space Grotesk" pitchFamily="34" charset="-120"/>
              </a:rPr>
              <a:t>1</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6" name="Image 0" descr="Search"/>
          <p:cNvPicPr>
            <a:picLocks noChangeAspect="1"/>
          </p:cNvPicPr>
          <p:nvPr/>
        </p:nvPicPr>
        <p:blipFill>
          <a:blip r:embed="rId3"/>
          <a:srcRect/>
          <a:stretch/>
        </p:blipFill>
        <p:spPr>
          <a:xfrm>
            <a:off x="3403600" y="2669449"/>
            <a:ext cx="330200" cy="330200"/>
          </a:xfrm>
          <a:prstGeom prst="rect">
            <a:avLst/>
          </a:prstGeom>
        </p:spPr>
      </p:pic>
      <p:sp>
        <p:nvSpPr>
          <p:cNvPr id="7" name="Text 4"/>
          <p:cNvSpPr/>
          <p:nvPr/>
        </p:nvSpPr>
        <p:spPr>
          <a:xfrm>
            <a:off x="10414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31B2E"/>
                </a:solidFill>
                <a:effectLst/>
                <a:uLnTx/>
                <a:uFillTx/>
                <a:latin typeface="Space Grotesk" pitchFamily="34" charset="0"/>
                <a:ea typeface="Space Grotesk" pitchFamily="34" charset="-122"/>
                <a:cs typeface="Space Grotesk" pitchFamily="34" charset="-120"/>
              </a:rPr>
              <a:t>Investigar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8" name="Text 5"/>
          <p:cNvSpPr/>
          <p:nvPr/>
        </p:nvSpPr>
        <p:spPr>
          <a:xfrm>
            <a:off x="1041400" y="3566055"/>
            <a:ext cx="2773172" cy="94985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Grabaciones de sesiones y pruebas de usabilidad en el inicio y el paso 1, donde se concentran las vueltas atrás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9" name="Image 1" descr="arrow-right"/>
          <p:cNvPicPr>
            <a:picLocks noChangeAspect="1"/>
          </p:cNvPicPr>
          <p:nvPr/>
        </p:nvPicPr>
        <p:blipFill>
          <a:blip r:embed="rId4"/>
          <a:srcRect/>
          <a:stretch/>
        </p:blipFill>
        <p:spPr>
          <a:xfrm>
            <a:off x="4089400" y="4020741"/>
            <a:ext cx="304800" cy="152400"/>
          </a:xfrm>
          <a:prstGeom prst="rect">
            <a:avLst/>
          </a:prstGeom>
        </p:spPr>
      </p:pic>
      <p:sp>
        <p:nvSpPr>
          <p:cNvPr id="10" name="Shape 6"/>
          <p:cNvSpPr/>
          <p:nvPr/>
        </p:nvSpPr>
        <p:spPr>
          <a:xfrm>
            <a:off x="4521200" y="2351949"/>
            <a:ext cx="3149600" cy="3490053"/>
          </a:xfrm>
          <a:prstGeom prst="roundRect">
            <a:avLst>
              <a:gd name="adj" fmla="val 4032"/>
            </a:avLst>
          </a:prstGeom>
          <a:solidFill>
            <a:srgbClr val="F5F2EC"/>
          </a:solidFill>
          <a:ln/>
        </p:spPr>
      </p:sp>
      <p:sp>
        <p:nvSpPr>
          <p:cNvPr id="11" name="Text 7"/>
          <p:cNvSpPr/>
          <p:nvPr/>
        </p:nvSpPr>
        <p:spPr>
          <a:xfrm>
            <a:off x="4749800" y="2605949"/>
            <a:ext cx="325914"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C8102E"/>
                </a:solidFill>
                <a:effectLst/>
                <a:uLnTx/>
                <a:uFillTx/>
                <a:latin typeface="Space Grotesk" pitchFamily="34" charset="0"/>
                <a:ea typeface="Space Grotesk" pitchFamily="34" charset="-122"/>
                <a:cs typeface="Space Grotesk" pitchFamily="34" charset="-120"/>
              </a:rPr>
              <a:t>2</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2" name="Image 2" descr="Wrench"/>
          <p:cNvPicPr>
            <a:picLocks noChangeAspect="1"/>
          </p:cNvPicPr>
          <p:nvPr/>
        </p:nvPicPr>
        <p:blipFill>
          <a:blip r:embed="rId5"/>
          <a:srcRect/>
          <a:stretch/>
        </p:blipFill>
        <p:spPr>
          <a:xfrm>
            <a:off x="7112000" y="2669449"/>
            <a:ext cx="330200" cy="330200"/>
          </a:xfrm>
          <a:prstGeom prst="rect">
            <a:avLst/>
          </a:prstGeom>
        </p:spPr>
      </p:pic>
      <p:sp>
        <p:nvSpPr>
          <p:cNvPr id="13" name="Text 8"/>
          <p:cNvSpPr/>
          <p:nvPr/>
        </p:nvSpPr>
        <p:spPr>
          <a:xfrm>
            <a:off x="47498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31B2E"/>
                </a:solidFill>
                <a:effectLst/>
                <a:uLnTx/>
                <a:uFillTx/>
                <a:latin typeface="Space Grotesk" pitchFamily="34" charset="0"/>
                <a:ea typeface="Space Grotesk" pitchFamily="34" charset="-122"/>
                <a:cs typeface="Space Grotesk" pitchFamily="34" charset="-120"/>
              </a:rPr>
              <a:t>Optimizar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4" name="Text 9"/>
          <p:cNvSpPr/>
          <p:nvPr/>
        </p:nvSpPr>
        <p:spPr>
          <a:xfrm>
            <a:off x="4749800" y="3566055"/>
            <a:ext cx="2773172" cy="7187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A5266"/>
                </a:solidFill>
                <a:effectLst/>
                <a:uLnTx/>
                <a:uFillTx/>
                <a:latin typeface="DM Sans" pitchFamily="34" charset="0"/>
                <a:ea typeface="DM Sans" pitchFamily="34" charset="-122"/>
                <a:cs typeface="DM Sans" pitchFamily="34" charset="-120"/>
              </a:rPr>
              <a:t>Rediseñar las primeras pantallas para que el cliente no tenga que volver atrás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5" name="Image 3" descr="arrow-right"/>
          <p:cNvPicPr>
            <a:picLocks noChangeAspect="1"/>
          </p:cNvPicPr>
          <p:nvPr/>
        </p:nvPicPr>
        <p:blipFill>
          <a:blip r:embed="rId4"/>
          <a:srcRect/>
          <a:stretch/>
        </p:blipFill>
        <p:spPr>
          <a:xfrm>
            <a:off x="7797800" y="4020741"/>
            <a:ext cx="304800" cy="152400"/>
          </a:xfrm>
          <a:prstGeom prst="rect">
            <a:avLst/>
          </a:prstGeom>
        </p:spPr>
      </p:pic>
      <p:sp>
        <p:nvSpPr>
          <p:cNvPr id="16" name="Shape 10"/>
          <p:cNvSpPr/>
          <p:nvPr/>
        </p:nvSpPr>
        <p:spPr>
          <a:xfrm>
            <a:off x="8229600" y="2351949"/>
            <a:ext cx="3149600" cy="3490053"/>
          </a:xfrm>
          <a:prstGeom prst="roundRect">
            <a:avLst>
              <a:gd name="adj" fmla="val 4032"/>
            </a:avLst>
          </a:prstGeom>
          <a:solidFill>
            <a:srgbClr val="131B2E"/>
          </a:solidFill>
          <a:ln/>
        </p:spPr>
      </p:sp>
      <p:sp>
        <p:nvSpPr>
          <p:cNvPr id="17" name="Text 11"/>
          <p:cNvSpPr/>
          <p:nvPr/>
        </p:nvSpPr>
        <p:spPr>
          <a:xfrm>
            <a:off x="8458200" y="2605949"/>
            <a:ext cx="333613" cy="4826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6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26B7A"/>
                </a:solidFill>
                <a:effectLst/>
                <a:uLnTx/>
                <a:uFillTx/>
                <a:latin typeface="Space Grotesk" pitchFamily="34" charset="0"/>
                <a:ea typeface="Space Grotesk" pitchFamily="34" charset="-122"/>
                <a:cs typeface="Space Grotesk" pitchFamily="34" charset="-120"/>
              </a:rPr>
              <a:t>3</a:t>
            </a:r>
            <a:endParaRPr kumimoji="0" lang="en-US" sz="3600" b="0" i="0" u="none" strike="noStrike" kern="1200" cap="none" spc="0" normalizeH="0" baseline="0" noProof="0" dirty="0">
              <a:ln>
                <a:noFill/>
              </a:ln>
              <a:solidFill>
                <a:srgbClr val="131B2E"/>
              </a:solidFill>
              <a:effectLst/>
              <a:uLnTx/>
              <a:uFillTx/>
              <a:latin typeface="DM Sans"/>
              <a:ea typeface="+mn-ea"/>
              <a:cs typeface="+mn-cs"/>
            </a:endParaRPr>
          </a:p>
        </p:txBody>
      </p:sp>
      <p:pic>
        <p:nvPicPr>
          <p:cNvPr id="18" name="Image 4" descr="Verified"/>
          <p:cNvPicPr>
            <a:picLocks noChangeAspect="1"/>
          </p:cNvPicPr>
          <p:nvPr/>
        </p:nvPicPr>
        <p:blipFill>
          <a:blip r:embed="rId6"/>
          <a:srcRect/>
          <a:stretch/>
        </p:blipFill>
        <p:spPr>
          <a:xfrm>
            <a:off x="10820400" y="2669449"/>
            <a:ext cx="330200" cy="330200"/>
          </a:xfrm>
          <a:prstGeom prst="rect">
            <a:avLst/>
          </a:prstGeom>
        </p:spPr>
      </p:pic>
      <p:sp>
        <p:nvSpPr>
          <p:cNvPr id="19" name="Text 12"/>
          <p:cNvSpPr/>
          <p:nvPr/>
        </p:nvSpPr>
        <p:spPr>
          <a:xfrm>
            <a:off x="8458200" y="3177449"/>
            <a:ext cx="2773172" cy="299707"/>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Validar</a:t>
            </a:r>
            <a:endParaRPr kumimoji="0" lang="en-US" sz="1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20" name="Text 13"/>
          <p:cNvSpPr/>
          <p:nvPr/>
        </p:nvSpPr>
        <p:spPr>
          <a:xfrm>
            <a:off x="8458200" y="3566055"/>
            <a:ext cx="2773172" cy="7187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D9DEE8"/>
                </a:solidFill>
                <a:effectLst/>
                <a:uLnTx/>
                <a:uFillTx/>
                <a:latin typeface="DM Sans" pitchFamily="34" charset="0"/>
                <a:ea typeface="DM Sans" pitchFamily="34" charset="-122"/>
                <a:cs typeface="DM Sans" pitchFamily="34" charset="-120"/>
              </a:rPr>
              <a:t>Repetir el test con reparto 50 / 50, más semanas y midiendo también el impacto económico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22" name="Text 15"/>
          <p:cNvSpPr/>
          <p:nvPr/>
        </p:nvSpPr>
        <p:spPr>
          <a:xfrm>
            <a:off x="10058400" y="6238280"/>
            <a:ext cx="1320800" cy="238720"/>
          </a:xfrm>
          <a:prstGeom prst="rect">
            <a:avLst/>
          </a:prstGeom>
          <a:noFill/>
          <a:ln/>
        </p:spPr>
        <p:txBody>
          <a:bodyPr wrap="square" lIns="0" tIns="0" rIns="0" bIns="0" rtlCol="0" anchor="t">
            <a:normAutofit/>
          </a:bodyPr>
          <a:lstStyle/>
          <a:p>
            <a:pPr marL="0" marR="0" lvl="0" indent="0" algn="r" defTabSz="914400" rtl="0" eaLnBrk="1" fontAlgn="auto" latinLnBrk="0" hangingPunct="1">
              <a:lnSpc>
                <a:spcPts val="1680"/>
              </a:lnSpc>
              <a:spcBef>
                <a:spcPts val="0"/>
              </a:spcBef>
              <a:spcAft>
                <a:spcPts val="0"/>
              </a:spcAft>
              <a:buClrTx/>
              <a:buSzTx/>
              <a:buFontTx/>
              <a:buNone/>
              <a:tabLst/>
              <a:defRPr/>
            </a:pPr>
            <a:r>
              <a:rPr lang="en-US" sz="1200" dirty="0">
                <a:solidFill>
                  <a:srgbClr val="6B7285"/>
                </a:solidFill>
                <a:latin typeface="DM Sans" pitchFamily="34" charset="0"/>
                <a:ea typeface="DM Sans" pitchFamily="34" charset="-122"/>
                <a:cs typeface="DM Sans" pitchFamily="34" charset="-120"/>
              </a:rPr>
              <a:t>06</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31B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20318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F26B7A"/>
                </a:solidFill>
                <a:effectLst/>
                <a:uLnTx/>
                <a:uFillTx/>
                <a:latin typeface="DM Sans" pitchFamily="34" charset="0"/>
                <a:ea typeface="DM Sans" pitchFamily="34" charset="-122"/>
                <a:cs typeface="DM Sans" pitchFamily="34" charset="-120"/>
              </a:rPr>
              <a:t>CONCLUSIÓN FINAL</a:t>
            </a:r>
            <a:endParaRPr kumimoji="0" lang="en-US" sz="1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3" name="Text 1"/>
          <p:cNvSpPr>
            <a:spLocks noGrp="1"/>
          </p:cNvSpPr>
          <p:nvPr>
            <p:ph type="title"/>
          </p:nvPr>
        </p:nvSpPr>
        <p:spPr>
          <a:xfrm>
            <a:off x="812800" y="1254720"/>
            <a:ext cx="10203180" cy="11430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5F2EC"/>
                </a:solidFill>
                <a:latin typeface="Space Grotesk" pitchFamily="34" charset="0"/>
                <a:ea typeface="Space Grotesk" pitchFamily="34" charset="-122"/>
                <a:cs typeface="Space Grotesk" pitchFamily="34" charset="-120"/>
              </a:rPr>
              <a:t>Mejorar no siempre significa estar listo para lanzar</a:t>
            </a:r>
            <a:endParaRPr lang="en-US" sz="4000" dirty="0"/>
          </a:p>
        </p:txBody>
      </p:sp>
      <p:sp>
        <p:nvSpPr>
          <p:cNvPr id="4" name="Text 2"/>
          <p:cNvSpPr/>
          <p:nvPr/>
        </p:nvSpPr>
        <p:spPr>
          <a:xfrm>
            <a:off x="812800" y="2600920"/>
            <a:ext cx="8502650" cy="6298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38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Una mejora estadísticamente significativa no siempre basta para justificar una decisión de negocio.</a:t>
            </a:r>
            <a:endParaRPr kumimoji="0" lang="en-US" sz="1700" b="0" i="0" u="none" strike="noStrike" kern="1200" cap="none" spc="0" normalizeH="0" baseline="0" noProof="0" dirty="0">
              <a:ln>
                <a:noFill/>
              </a:ln>
              <a:solidFill>
                <a:srgbClr val="131B2E"/>
              </a:solidFill>
              <a:effectLst/>
              <a:uLnTx/>
              <a:uFillTx/>
              <a:latin typeface="DM Sans"/>
              <a:ea typeface="+mn-ea"/>
              <a:cs typeface="+mn-cs"/>
            </a:endParaRPr>
          </a:p>
        </p:txBody>
      </p:sp>
      <p:sp>
        <p:nvSpPr>
          <p:cNvPr id="5" name="Shape 3"/>
          <p:cNvSpPr/>
          <p:nvPr/>
        </p:nvSpPr>
        <p:spPr>
          <a:xfrm>
            <a:off x="812800" y="3970009"/>
            <a:ext cx="3403600" cy="0"/>
          </a:xfrm>
          <a:prstGeom prst="line">
            <a:avLst/>
          </a:prstGeom>
          <a:noFill/>
          <a:ln w="25400">
            <a:solidFill>
              <a:srgbClr val="F26B7A"/>
            </a:solidFill>
            <a:prstDash val="solid"/>
          </a:ln>
        </p:spPr>
      </p:sp>
      <p:sp>
        <p:nvSpPr>
          <p:cNvPr id="6" name="Text 4"/>
          <p:cNvSpPr/>
          <p:nvPr/>
        </p:nvSpPr>
        <p:spPr>
          <a:xfrm>
            <a:off x="8128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+3,7 pp</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7" name="Text 5"/>
          <p:cNvSpPr/>
          <p:nvPr/>
        </p:nvSpPr>
        <p:spPr>
          <a:xfrm>
            <a:off x="8128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más clientes terminan: significativo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8" name="Shape 6"/>
          <p:cNvSpPr/>
          <p:nvPr/>
        </p:nvSpPr>
        <p:spPr>
          <a:xfrm>
            <a:off x="4394200" y="3970009"/>
            <a:ext cx="3403600" cy="0"/>
          </a:xfrm>
          <a:prstGeom prst="line">
            <a:avLst/>
          </a:prstGeom>
          <a:noFill/>
          <a:ln w="25400">
            <a:solidFill>
              <a:srgbClr val="F26B7A"/>
            </a:solidFill>
            <a:prstDash val="solid"/>
          </a:ln>
        </p:spPr>
      </p:sp>
      <p:sp>
        <p:nvSpPr>
          <p:cNvPr id="9" name="Text 7"/>
          <p:cNvSpPr/>
          <p:nvPr/>
        </p:nvSpPr>
        <p:spPr>
          <a:xfrm>
            <a:off x="43942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5 %</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0" name="Text 8"/>
          <p:cNvSpPr/>
          <p:nvPr/>
        </p:nvSpPr>
        <p:spPr>
          <a:xfrm>
            <a:off x="43942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umbral de rentabilidad: no demostrado</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1" name="Shape 9"/>
          <p:cNvSpPr/>
          <p:nvPr/>
        </p:nvSpPr>
        <p:spPr>
          <a:xfrm>
            <a:off x="7975600" y="3970009"/>
            <a:ext cx="3403600" cy="0"/>
          </a:xfrm>
          <a:prstGeom prst="line">
            <a:avLst/>
          </a:prstGeom>
          <a:noFill/>
          <a:ln w="25400">
            <a:solidFill>
              <a:srgbClr val="F26B7A"/>
            </a:solidFill>
            <a:prstDash val="solid"/>
          </a:ln>
        </p:spPr>
      </p:sp>
      <p:sp>
        <p:nvSpPr>
          <p:cNvPr id="12" name="Text 10"/>
          <p:cNvSpPr/>
          <p:nvPr/>
        </p:nvSpPr>
        <p:spPr>
          <a:xfrm>
            <a:off x="7975600" y="4122409"/>
            <a:ext cx="3505708" cy="4165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Mejorar y validar</a:t>
            </a:r>
            <a:endParaRPr kumimoji="0" lang="en-US" sz="22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3" name="Text 11"/>
          <p:cNvSpPr/>
          <p:nvPr/>
        </p:nvSpPr>
        <p:spPr>
          <a:xfrm>
            <a:off x="7975600" y="4564329"/>
            <a:ext cx="3505708" cy="2565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9C0CF"/>
                </a:solidFill>
                <a:effectLst/>
                <a:uLnTx/>
                <a:uFillTx/>
                <a:latin typeface="DM Sans" pitchFamily="34" charset="0"/>
                <a:ea typeface="DM Sans" pitchFamily="34" charset="-122"/>
                <a:cs typeface="DM Sans" pitchFamily="34" charset="-120"/>
              </a:rPr>
              <a:t>antes de lanzarlo a todos</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4" name="Text 12"/>
          <p:cNvSpPr/>
          <p:nvPr/>
        </p:nvSpPr>
        <p:spPr>
          <a:xfrm>
            <a:off x="812800" y="5602867"/>
            <a:ext cx="4497229" cy="523214"/>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92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5F2EC"/>
                </a:solidFill>
                <a:effectLst/>
                <a:uLnTx/>
                <a:uFillTx/>
                <a:latin typeface="Space Grotesk" pitchFamily="34" charset="0"/>
                <a:ea typeface="Space Grotesk" pitchFamily="34" charset="-122"/>
                <a:cs typeface="Space Grotesk" pitchFamily="34" charset="-120"/>
              </a:rPr>
              <a:t>¡Gracias! </a:t>
            </a:r>
            <a:r>
              <a:rPr kumimoji="0" lang="en-US" sz="2800" b="1" i="0" u="none" strike="noStrike" kern="1200" cap="none" spc="0" normalizeH="0" baseline="0" noProof="0" dirty="0">
                <a:ln>
                  <a:noFill/>
                </a:ln>
                <a:solidFill>
                  <a:srgbClr val="F26B7A"/>
                </a:solidFill>
                <a:effectLst/>
                <a:uLnTx/>
                <a:uFillTx/>
                <a:latin typeface="Space Grotesk" pitchFamily="34" charset="0"/>
                <a:ea typeface="Space Grotesk" pitchFamily="34" charset="-122"/>
                <a:cs typeface="Space Grotesk" pitchFamily="34" charset="-120"/>
              </a:rPr>
              <a:t>¿Preguntas?</a:t>
            </a:r>
            <a:endParaRPr kumimoji="0" lang="en-US" sz="2800" b="0" i="0" u="none" strike="noStrike" kern="1200" cap="none" spc="0" normalizeH="0" baseline="0" noProof="0" dirty="0">
              <a:ln>
                <a:noFill/>
              </a:ln>
              <a:solidFill>
                <a:srgbClr val="131B2E"/>
              </a:solidFill>
              <a:effectLst/>
              <a:uLnTx/>
              <a:uFillTx/>
              <a:latin typeface="DM Sans"/>
              <a:ea typeface="+mn-ea"/>
              <a:cs typeface="+mn-cs"/>
            </a:endParaRPr>
          </a:p>
        </p:txBody>
      </p:sp>
      <p:sp>
        <p:nvSpPr>
          <p:cNvPr id="15" name="Text 13"/>
          <p:cNvSpPr/>
          <p:nvPr/>
        </p:nvSpPr>
        <p:spPr>
          <a:xfrm>
            <a:off x="8296649" y="5826789"/>
            <a:ext cx="3082551" cy="487627"/>
          </a:xfrm>
          <a:prstGeom prst="rect">
            <a:avLst/>
          </a:prstGeom>
          <a:noFill/>
          <a:ln/>
        </p:spPr>
        <p:txBody>
          <a:bodyPr wrap="square" lIns="0" tIns="0" rIns="0" bIns="0" rtlCol="0" anchor="t">
            <a:normAutofit/>
          </a:bodyPr>
          <a:lstStyle/>
          <a:p>
            <a:pPr marL="0" marR="0" lvl="0" indent="0" algn="r"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9AA3B5"/>
                </a:solidFill>
                <a:effectLst/>
                <a:uLnTx/>
                <a:uFillTx/>
                <a:latin typeface="DM Sans" pitchFamily="34" charset="0"/>
                <a:ea typeface="DM Sans" pitchFamily="34" charset="-122"/>
                <a:cs typeface="DM Sans" pitchFamily="34" charset="-120"/>
              </a:rPr>
              <a:t>Beatriz Fernández · Juan Carlos Del Mar</a:t>
            </a:r>
            <a:endParaRPr kumimoji="0" lang="en-US" sz="1300" b="0" i="0" u="none" strike="noStrike" kern="1200" cap="none" spc="0" normalizeH="0" baseline="0" noProof="0" dirty="0">
              <a:ln>
                <a:noFill/>
              </a:ln>
              <a:solidFill>
                <a:srgbClr val="131B2E"/>
              </a:solidFill>
              <a:effectLst/>
              <a:uLnTx/>
              <a:uFillTx/>
              <a:latin typeface="DM Sans"/>
              <a:ea typeface="+mn-ea"/>
              <a:cs typeface="+mn-cs"/>
            </a:endParaRPr>
          </a:p>
        </p:txBody>
      </p:sp>
    </p:spTree>
  </p:cSld>
  <p:clrMapOvr>
    <a:masterClrMapping/>
  </p:clrMapOvr>
</p:sld>
</file>

<file path=ppt/theme/theme1.xml><?xml version="1.0" encoding="utf-8"?>
<a:theme xmlns:a="http://schemas.openxmlformats.org/drawingml/2006/main" name="Vanguard A/B test · Presentación">
  <a:themeElements>
    <a:clrScheme name="Vanguard A/B test · Presentación">
      <a:dk1>
        <a:srgbClr val="131B2E"/>
      </a:dk1>
      <a:lt1>
        <a:srgbClr val="F5F2EC"/>
      </a:lt1>
      <a:dk2>
        <a:srgbClr val="4C515E"/>
      </a:dk2>
      <a:lt2>
        <a:srgbClr val="DEDDD9"/>
      </a:lt2>
      <a:accent1>
        <a:srgbClr val="C8102E"/>
      </a:accent1>
      <a:accent2>
        <a:srgbClr val="F26B7A"/>
      </a:accent2>
      <a:accent3>
        <a:srgbClr val="B0102A"/>
      </a:accent3>
      <a:accent4>
        <a:srgbClr val="F4B9C1"/>
      </a:accent4>
      <a:accent5>
        <a:srgbClr val="1F6E43"/>
      </a:accent5>
      <a:accent6>
        <a:srgbClr val="6B7285"/>
      </a:accent6>
      <a:hlink>
        <a:srgbClr val="0563C1"/>
      </a:hlink>
      <a:folHlink>
        <a:srgbClr val="954F72"/>
      </a:folHlink>
    </a:clrScheme>
    <a:fontScheme name="Vanguard A/B test · Presentació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Vanguard · Apertura y cierre">
  <a:themeElements>
    <a:clrScheme name="Vanguard · Apertura y cierre">
      <a:dk1>
        <a:srgbClr val="131B2E"/>
      </a:dk1>
      <a:lt1>
        <a:srgbClr val="F5F2EC"/>
      </a:lt1>
      <a:dk2>
        <a:srgbClr val="4C515E"/>
      </a:dk2>
      <a:lt2>
        <a:srgbClr val="DEDDD9"/>
      </a:lt2>
      <a:accent1>
        <a:srgbClr val="C8102E"/>
      </a:accent1>
      <a:accent2>
        <a:srgbClr val="F26B7A"/>
      </a:accent2>
      <a:accent3>
        <a:srgbClr val="6B7285"/>
      </a:accent3>
      <a:accent4>
        <a:srgbClr val="4A5266"/>
      </a:accent4>
      <a:accent5>
        <a:srgbClr val="B9C0CF"/>
      </a:accent5>
      <a:accent6>
        <a:srgbClr val="8C96A6"/>
      </a:accent6>
      <a:hlink>
        <a:srgbClr val="0563C1"/>
      </a:hlink>
      <a:folHlink>
        <a:srgbClr val="954F72"/>
      </a:folHlink>
    </a:clrScheme>
    <a:fontScheme name="Vanguard · Apertura y cierr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718</TotalTime>
  <Words>818</Words>
  <Application>Microsoft Office PowerPoint</Application>
  <PresentationFormat>Panorámica</PresentationFormat>
  <Paragraphs>94</Paragraphs>
  <Slides>7</Slides>
  <Notes>7</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7</vt:i4>
      </vt:variant>
    </vt:vector>
  </HeadingPairs>
  <TitlesOfParts>
    <vt:vector size="13" baseType="lpstr">
      <vt:lpstr>DM Sans</vt:lpstr>
      <vt:lpstr>Calibri</vt:lpstr>
      <vt:lpstr>Arial</vt:lpstr>
      <vt:lpstr>Space Grotesk</vt:lpstr>
      <vt:lpstr>Vanguard A/B test · Presentación</vt:lpstr>
      <vt:lpstr>Vanguard · Apertura y cierre</vt:lpstr>
      <vt:lpstr>¿Mejora el nuevo diseño digital la experiencia del cliente?</vt:lpstr>
      <vt:lpstr>Vanguard quería mejorar la experiencia digital de sus clientes</vt:lpstr>
      <vt:lpstr>Tres fuentes de datos, unidas por el cliente</vt:lpstr>
      <vt:lpstr>Presentación de PowerPoint</vt:lpstr>
      <vt:lpstr>¿Qué no podemos asegurar con estos datos?</vt:lpstr>
      <vt:lpstr>De los datos a un plan de mejora que se pueda verificar</vt:lpstr>
      <vt:lpstr>Mejorar no siempre significa estar listo para lanzar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Vanguard A/B test · Presentación</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José Ramón Fernández</cp:lastModifiedBy>
  <cp:revision>20</cp:revision>
  <dcterms:created xsi:type="dcterms:W3CDTF">2026-10-21T19:02:26Z</dcterms:created>
  <dcterms:modified xsi:type="dcterms:W3CDTF">2026-10-23T01:27:32Z</dcterms:modified>
</cp:coreProperties>
</file>