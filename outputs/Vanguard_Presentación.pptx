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9" r:id="rId4"/>
    <p:sldId id="260" r:id="rId5"/>
    <p:sldId id="262" r:id="rId6"/>
    <p:sldId id="263" r:id="rId7"/>
    <p:sldId id="264" r:id="rId8"/>
    <p:sldId id="266" r:id="rId9"/>
    <p:sldId id="267" r:id="rId10"/>
    <p:sldId id="265" r:id="rId11"/>
    <p:sldId id="268" r:id="rId12"/>
    <p:sldId id="270" r:id="rId13"/>
    <p:sldId id="272" r:id="rId14"/>
    <p:sldId id="274" r:id="rId15"/>
    <p:sldId id="275" r:id="rId16"/>
    <p:sldId id="276" r:id="rId17"/>
  </p:sldIdLst>
  <p:sldSz cx="12192000" cy="6858000"/>
  <p:notesSz cx="6858000" cy="12192000"/>
  <p:embeddedFontLst>
    <p:embeddedFont>
      <p:font typeface="Calibri" panose="020F0502020204030204" pitchFamily="34" charset="0"/>
      <p:regular r:id="rId19"/>
      <p:bold r:id="rId20"/>
      <p:italic r:id="rId21"/>
      <p:boldItalic r:id="rId22"/>
    </p:embeddedFont>
    <p:embeddedFont>
      <p:font typeface="DM Sans" panose="020B0604020202020204" charset="0"/>
      <p:regular r:id="rId23"/>
      <p:bold r:id="rId24"/>
    </p:embeddedFont>
    <p:embeddedFont>
      <p:font typeface="Space Grotesk" panose="020B0604020202020204" charset="0"/>
      <p:regular r:id="rId25"/>
      <p:bold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6301" autoAdjust="0"/>
  </p:normalViewPr>
  <p:slideViewPr>
    <p:cSldViewPr snapToGrid="0" snapToObjects="1">
      <p:cViewPr varScale="1">
        <p:scale>
          <a:sx n="69" d="100"/>
          <a:sy n="69" d="100"/>
        </p:scale>
        <p:origin x="90" y="8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1613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31B2E"/>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31B2E"/>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31B2E"/>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31B2E"/>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B2E"/>
        </a:solidFill>
        <a:effectLst/>
      </p:bgPr>
    </p:bg>
    <p:spTree>
      <p:nvGrpSpPr>
        <p:cNvPr id="1" name=""/>
        <p:cNvGrpSpPr/>
        <p:nvPr/>
      </p:nvGrpSpPr>
      <p:grpSpPr>
        <a:xfrm>
          <a:off x="0" y="0"/>
          <a:ext cx="0" cy="0"/>
          <a:chOff x="0" y="0"/>
          <a:chExt cx="0" cy="0"/>
        </a:xfrm>
      </p:grpSpPr>
      <p:sp>
        <p:nvSpPr>
          <p:cNvPr id="2" name="Shape 0"/>
          <p:cNvSpPr/>
          <p:nvPr/>
        </p:nvSpPr>
        <p:spPr>
          <a:xfrm>
            <a:off x="7874000" y="812800"/>
            <a:ext cx="3505200" cy="5232400"/>
          </a:xfrm>
          <a:prstGeom prst="roundRect">
            <a:avLst>
              <a:gd name="adj" fmla="val 4348"/>
            </a:avLst>
          </a:prstGeom>
          <a:gradFill rotWithShape="1">
            <a:gsLst>
              <a:gs pos="0">
                <a:srgbClr val="1B2540"/>
              </a:gs>
              <a:gs pos="100000">
                <a:srgbClr val="131B2E"/>
              </a:gs>
            </a:gsLst>
            <a:lin ang="5400000" scaled="0"/>
          </a:gradFill>
          <a:ln/>
        </p:spPr>
      </p:sp>
      <p:sp>
        <p:nvSpPr>
          <p:cNvPr id="3" name="Text 1"/>
          <p:cNvSpPr/>
          <p:nvPr/>
        </p:nvSpPr>
        <p:spPr>
          <a:xfrm>
            <a:off x="812800" y="812800"/>
            <a:ext cx="65405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6B7A"/>
                </a:solidFill>
                <a:latin typeface="DM Sans" pitchFamily="34" charset="0"/>
                <a:ea typeface="DM Sans" pitchFamily="34" charset="-122"/>
                <a:cs typeface="DM Sans" pitchFamily="34" charset="-120"/>
              </a:rPr>
              <a:t>IRONHACK DATA ANALYTICS</a:t>
            </a:r>
            <a:endParaRPr lang="en-US" sz="1200" dirty="0"/>
          </a:p>
        </p:txBody>
      </p:sp>
      <p:sp>
        <p:nvSpPr>
          <p:cNvPr id="4" name="Text 2"/>
          <p:cNvSpPr>
            <a:spLocks noGrp="1"/>
          </p:cNvSpPr>
          <p:nvPr>
            <p:ph type="title"/>
          </p:nvPr>
        </p:nvSpPr>
        <p:spPr>
          <a:xfrm>
            <a:off x="723900" y="1484835"/>
            <a:ext cx="6540500" cy="2439194"/>
          </a:xfrm>
          <a:prstGeom prst="rect">
            <a:avLst/>
          </a:prstGeom>
          <a:noFill/>
          <a:ln/>
        </p:spPr>
        <p:txBody>
          <a:bodyPr wrap="square" lIns="0" tIns="0" rIns="0" bIns="0" rtlCol="0" anchor="t">
            <a:normAutofit/>
          </a:bodyPr>
          <a:lstStyle/>
          <a:p>
            <a:pPr marL="0" indent="0" algn="l">
              <a:lnSpc>
                <a:spcPts val="4752"/>
              </a:lnSpc>
              <a:buNone/>
            </a:pPr>
            <a:r>
              <a:rPr lang="en-US" sz="4400" b="1" i="0" dirty="0">
                <a:solidFill>
                  <a:srgbClr val="F5F2EC"/>
                </a:solidFill>
                <a:latin typeface="Space Grotesk" pitchFamily="34" charset="0"/>
                <a:ea typeface="Space Grotesk" pitchFamily="34" charset="-122"/>
                <a:cs typeface="Space Grotesk" pitchFamily="34" charset="-120"/>
              </a:rPr>
              <a:t>Vanguard A/B Test: </a:t>
            </a:r>
            <a:r>
              <a:rPr lang="en-US" sz="4400" b="1" i="0" dirty="0" err="1">
                <a:solidFill>
                  <a:srgbClr val="F5F2EC"/>
                </a:solidFill>
                <a:latin typeface="Space Grotesk" pitchFamily="34" charset="0"/>
                <a:ea typeface="Space Grotesk" pitchFamily="34" charset="-122"/>
                <a:cs typeface="Space Grotesk" pitchFamily="34" charset="-120"/>
              </a:rPr>
              <a:t>Evaluación</a:t>
            </a:r>
            <a:r>
              <a:rPr lang="en-US" sz="4400" b="1" i="0" dirty="0">
                <a:solidFill>
                  <a:srgbClr val="F5F2EC"/>
                </a:solidFill>
                <a:latin typeface="Space Grotesk" pitchFamily="34" charset="0"/>
                <a:ea typeface="Space Grotesk" pitchFamily="34" charset="-122"/>
                <a:cs typeface="Space Grotesk" pitchFamily="34" charset="-120"/>
              </a:rPr>
              <a:t> del </a:t>
            </a:r>
            <a:r>
              <a:rPr lang="en-US" sz="4400" b="1" i="0" dirty="0" err="1">
                <a:solidFill>
                  <a:srgbClr val="F5F2EC"/>
                </a:solidFill>
                <a:latin typeface="Space Grotesk" pitchFamily="34" charset="0"/>
                <a:ea typeface="Space Grotesk" pitchFamily="34" charset="-122"/>
                <a:cs typeface="Space Grotesk" pitchFamily="34" charset="-120"/>
              </a:rPr>
              <a:t>impacto</a:t>
            </a:r>
            <a:r>
              <a:rPr lang="en-US" sz="4400" b="1" i="0" dirty="0">
                <a:solidFill>
                  <a:srgbClr val="F5F2EC"/>
                </a:solidFill>
                <a:latin typeface="Space Grotesk" pitchFamily="34" charset="0"/>
                <a:ea typeface="Space Grotesk" pitchFamily="34" charset="-122"/>
                <a:cs typeface="Space Grotesk" pitchFamily="34" charset="-120"/>
              </a:rPr>
              <a:t> de un </a:t>
            </a:r>
            <a:r>
              <a:rPr lang="en-US" sz="4400" b="1" i="0" dirty="0" err="1">
                <a:solidFill>
                  <a:srgbClr val="F5F2EC"/>
                </a:solidFill>
                <a:latin typeface="Space Grotesk" pitchFamily="34" charset="0"/>
                <a:ea typeface="Space Grotesk" pitchFamily="34" charset="-122"/>
                <a:cs typeface="Space Grotesk" pitchFamily="34" charset="-120"/>
              </a:rPr>
              <a:t>rediseño</a:t>
            </a:r>
            <a:r>
              <a:rPr lang="en-US" sz="4400" b="1" i="0" dirty="0">
                <a:solidFill>
                  <a:srgbClr val="F5F2EC"/>
                </a:solidFill>
                <a:latin typeface="Space Grotesk" pitchFamily="34" charset="0"/>
                <a:ea typeface="Space Grotesk" pitchFamily="34" charset="-122"/>
                <a:cs typeface="Space Grotesk" pitchFamily="34" charset="-120"/>
              </a:rPr>
              <a:t> digital</a:t>
            </a:r>
            <a:endParaRPr lang="en-US" sz="4400" dirty="0"/>
          </a:p>
        </p:txBody>
      </p:sp>
      <p:sp>
        <p:nvSpPr>
          <p:cNvPr id="5" name="Text 3"/>
          <p:cNvSpPr/>
          <p:nvPr/>
        </p:nvSpPr>
        <p:spPr>
          <a:xfrm>
            <a:off x="812800" y="3947914"/>
            <a:ext cx="654050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0CF"/>
                </a:solidFill>
                <a:latin typeface="DM Sans" pitchFamily="34" charset="0"/>
                <a:ea typeface="DM Sans" pitchFamily="34" charset="-122"/>
                <a:cs typeface="DM Sans" pitchFamily="34" charset="-120"/>
              </a:rPr>
              <a:t>Análisis del test A/B · 15 de marzo – 20 de junio de 2017</a:t>
            </a:r>
            <a:endParaRPr lang="en-US" sz="1600" dirty="0"/>
          </a:p>
        </p:txBody>
      </p:sp>
      <p:sp>
        <p:nvSpPr>
          <p:cNvPr id="6" name="Text 4"/>
          <p:cNvSpPr/>
          <p:nvPr/>
        </p:nvSpPr>
        <p:spPr>
          <a:xfrm>
            <a:off x="812800" y="5796293"/>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2EC"/>
                </a:solidFill>
                <a:latin typeface="DM Sans" pitchFamily="34" charset="0"/>
                <a:ea typeface="DM Sans" pitchFamily="34" charset="-122"/>
                <a:cs typeface="DM Sans" pitchFamily="34" charset="-120"/>
              </a:rPr>
              <a:t>Beatriz Fernández </a:t>
            </a:r>
            <a:r>
              <a:rPr lang="en-US" sz="1400" dirty="0">
                <a:solidFill>
                  <a:srgbClr val="6E7891"/>
                </a:solidFill>
                <a:latin typeface="DM Sans" pitchFamily="34" charset="0"/>
                <a:ea typeface="DM Sans" pitchFamily="34" charset="-122"/>
                <a:cs typeface="DM Sans" pitchFamily="34" charset="-120"/>
              </a:rPr>
              <a:t>·</a:t>
            </a:r>
            <a:r>
              <a:rPr lang="en-US" sz="1400" dirty="0">
                <a:solidFill>
                  <a:srgbClr val="F5F2EC"/>
                </a:solidFill>
                <a:latin typeface="DM Sans" pitchFamily="34" charset="0"/>
                <a:ea typeface="DM Sans" pitchFamily="34" charset="-122"/>
                <a:cs typeface="DM Sans" pitchFamily="34" charset="-120"/>
              </a:rPr>
              <a:t> Juan Carlos Del Mar</a:t>
            </a:r>
            <a:endParaRPr lang="en-US" sz="1400" dirty="0"/>
          </a:p>
        </p:txBody>
      </p:sp>
      <p:sp>
        <p:nvSpPr>
          <p:cNvPr id="7" name="Shape 5"/>
          <p:cNvSpPr/>
          <p:nvPr/>
        </p:nvSpPr>
        <p:spPr>
          <a:xfrm>
            <a:off x="8483600" y="2463800"/>
            <a:ext cx="1016000" cy="2743200"/>
          </a:xfrm>
          <a:custGeom>
            <a:avLst/>
            <a:gdLst/>
            <a:ahLst/>
            <a:cxnLst/>
            <a:rect l="l" t="t" r="r" b="b"/>
            <a:pathLst>
              <a:path w="1016000" h="2743200">
                <a:moveTo>
                  <a:pt x="101600" y="0"/>
                </a:moveTo>
                <a:lnTo>
                  <a:pt x="914400" y="0"/>
                </a:lnTo>
                <a:arcTo wR="101600" hR="101600" stAng="16200000" swAng="5400000"/>
                <a:lnTo>
                  <a:pt x="1016000" y="2743200"/>
                </a:lnTo>
                <a:lnTo>
                  <a:pt x="0" y="2743200"/>
                </a:lnTo>
                <a:lnTo>
                  <a:pt x="0" y="101600"/>
                </a:lnTo>
                <a:arcTo wR="101600" hR="101600" stAng="10800000" swAng="5400000"/>
                <a:close/>
              </a:path>
            </a:pathLst>
          </a:custGeom>
          <a:solidFill>
            <a:srgbClr val="8C96A6"/>
          </a:solidFill>
          <a:ln/>
        </p:spPr>
      </p:sp>
      <p:sp>
        <p:nvSpPr>
          <p:cNvPr id="8" name="Shape 6"/>
          <p:cNvSpPr/>
          <p:nvPr/>
        </p:nvSpPr>
        <p:spPr>
          <a:xfrm>
            <a:off x="9753600" y="2311400"/>
            <a:ext cx="1016000" cy="2895600"/>
          </a:xfrm>
          <a:custGeom>
            <a:avLst/>
            <a:gdLst/>
            <a:ahLst/>
            <a:cxnLst/>
            <a:rect l="l" t="t" r="r" b="b"/>
            <a:pathLst>
              <a:path w="1016000" h="2895600">
                <a:moveTo>
                  <a:pt x="101600" y="0"/>
                </a:moveTo>
                <a:lnTo>
                  <a:pt x="914400" y="0"/>
                </a:lnTo>
                <a:arcTo wR="101600" hR="101600" stAng="16200000" swAng="5400000"/>
                <a:lnTo>
                  <a:pt x="1016000" y="2895600"/>
                </a:lnTo>
                <a:lnTo>
                  <a:pt x="0" y="2895600"/>
                </a:lnTo>
                <a:lnTo>
                  <a:pt x="0" y="101600"/>
                </a:lnTo>
                <a:arcTo wR="101600" hR="101600" stAng="10800000" swAng="5400000"/>
                <a:close/>
              </a:path>
            </a:pathLst>
          </a:custGeom>
          <a:solidFill>
            <a:srgbClr val="C8102E"/>
          </a:solidFill>
          <a:ln/>
        </p:spPr>
      </p:sp>
      <p:sp>
        <p:nvSpPr>
          <p:cNvPr id="9" name="Text 7"/>
          <p:cNvSpPr/>
          <p:nvPr/>
        </p:nvSpPr>
        <p:spPr>
          <a:xfrm>
            <a:off x="8331200" y="2006600"/>
            <a:ext cx="1320800" cy="381000"/>
          </a:xfrm>
          <a:prstGeom prst="rect">
            <a:avLst/>
          </a:prstGeom>
          <a:noFill/>
          <a:ln/>
        </p:spPr>
        <p:txBody>
          <a:bodyPr wrap="square" lIns="0" tIns="0" rIns="0" bIns="0" rtlCol="0" anchor="t">
            <a:normAutofit/>
          </a:bodyPr>
          <a:lstStyle/>
          <a:p>
            <a:pPr marL="0" indent="0" algn="ctr">
              <a:lnSpc>
                <a:spcPts val="2800"/>
              </a:lnSpc>
              <a:buNone/>
            </a:pPr>
            <a:r>
              <a:rPr lang="en-US" sz="2000" b="1" dirty="0">
                <a:solidFill>
                  <a:srgbClr val="B9C0CF"/>
                </a:solidFill>
                <a:latin typeface="Space Grotesk" pitchFamily="34" charset="0"/>
                <a:ea typeface="Space Grotesk" pitchFamily="34" charset="-122"/>
                <a:cs typeface="Space Grotesk" pitchFamily="34" charset="-120"/>
              </a:rPr>
              <a:t>65,6 %</a:t>
            </a:r>
            <a:endParaRPr lang="en-US" sz="2000" dirty="0"/>
          </a:p>
        </p:txBody>
      </p:sp>
      <p:sp>
        <p:nvSpPr>
          <p:cNvPr id="10" name="Text 8"/>
          <p:cNvSpPr/>
          <p:nvPr/>
        </p:nvSpPr>
        <p:spPr>
          <a:xfrm>
            <a:off x="9601200" y="1854200"/>
            <a:ext cx="1320800" cy="381000"/>
          </a:xfrm>
          <a:prstGeom prst="rect">
            <a:avLst/>
          </a:prstGeom>
          <a:noFill/>
          <a:ln/>
        </p:spPr>
        <p:txBody>
          <a:bodyPr wrap="square" lIns="0" tIns="0" rIns="0" bIns="0" rtlCol="0" anchor="t">
            <a:normAutofit/>
          </a:bodyPr>
          <a:lstStyle/>
          <a:p>
            <a:pPr marL="0" indent="0" algn="ctr">
              <a:lnSpc>
                <a:spcPts val="2800"/>
              </a:lnSpc>
              <a:buNone/>
            </a:pPr>
            <a:r>
              <a:rPr lang="en-US" sz="2000" b="1" dirty="0">
                <a:solidFill>
                  <a:srgbClr val="F5F2EC"/>
                </a:solidFill>
                <a:latin typeface="Space Grotesk" pitchFamily="34" charset="0"/>
                <a:ea typeface="Space Grotesk" pitchFamily="34" charset="-122"/>
                <a:cs typeface="Space Grotesk" pitchFamily="34" charset="-120"/>
              </a:rPr>
              <a:t>69,3 %</a:t>
            </a:r>
            <a:endParaRPr lang="en-US" sz="2000" dirty="0"/>
          </a:p>
        </p:txBody>
      </p:sp>
      <p:sp>
        <p:nvSpPr>
          <p:cNvPr id="11" name="Text 9"/>
          <p:cNvSpPr/>
          <p:nvPr/>
        </p:nvSpPr>
        <p:spPr>
          <a:xfrm>
            <a:off x="8331200" y="53594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9C0CF"/>
                </a:solidFill>
                <a:latin typeface="DM Sans" pitchFamily="34" charset="0"/>
                <a:ea typeface="DM Sans" pitchFamily="34" charset="-122"/>
                <a:cs typeface="DM Sans" pitchFamily="34" charset="-120"/>
              </a:rPr>
              <a:t>Control</a:t>
            </a:r>
            <a:endParaRPr lang="en-US" sz="1200" dirty="0"/>
          </a:p>
        </p:txBody>
      </p:sp>
      <p:sp>
        <p:nvSpPr>
          <p:cNvPr id="12" name="Text 10"/>
          <p:cNvSpPr/>
          <p:nvPr/>
        </p:nvSpPr>
        <p:spPr>
          <a:xfrm>
            <a:off x="9601200" y="535940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5F2EC"/>
                </a:solidFill>
                <a:latin typeface="DM Sans" pitchFamily="34" charset="0"/>
                <a:ea typeface="DM Sans" pitchFamily="34" charset="-122"/>
                <a:cs typeface="DM Sans" pitchFamily="34" charset="-120"/>
              </a:rPr>
              <a:t>Test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DM Sans" pitchFamily="34" charset="0"/>
                <a:ea typeface="DM Sans" pitchFamily="34" charset="-122"/>
                <a:cs typeface="DM Sans" pitchFamily="34" charset="-120"/>
              </a:rPr>
              <a:t>INTRODUCCIÓN</a:t>
            </a:r>
            <a:endParaRPr lang="en-US" sz="1200" dirty="0"/>
          </a:p>
        </p:txBody>
      </p:sp>
      <p:sp>
        <p:nvSpPr>
          <p:cNvPr id="3" name="Text 1"/>
          <p:cNvSpPr>
            <a:spLocks noGrp="1"/>
          </p:cNvSpPr>
          <p:nvPr>
            <p:ph type="title"/>
          </p:nvPr>
        </p:nvSpPr>
        <p:spPr>
          <a:xfrm>
            <a:off x="812800" y="1102320"/>
            <a:ext cx="10478038" cy="919427"/>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1B2E"/>
                </a:solidFill>
                <a:latin typeface="Space Grotesk" pitchFamily="34" charset="0"/>
                <a:ea typeface="Space Grotesk" pitchFamily="34" charset="-122"/>
                <a:cs typeface="Space Grotesk" pitchFamily="34" charset="-120"/>
              </a:rPr>
              <a:t>Vanguard rediseñó su proceso online y </a:t>
            </a:r>
            <a:r>
              <a:rPr lang="en-US" sz="3200" b="1" i="0" dirty="0" err="1">
                <a:solidFill>
                  <a:srgbClr val="131B2E"/>
                </a:solidFill>
                <a:latin typeface="Space Grotesk" pitchFamily="34" charset="0"/>
                <a:ea typeface="Space Grotesk" pitchFamily="34" charset="-122"/>
                <a:cs typeface="Space Grotesk" pitchFamily="34" charset="-120"/>
              </a:rPr>
              <a:t>como</a:t>
            </a:r>
            <a:r>
              <a:rPr lang="en-US" sz="3200" b="1" i="0" dirty="0">
                <a:solidFill>
                  <a:srgbClr val="131B2E"/>
                </a:solidFill>
                <a:latin typeface="Space Grotesk" pitchFamily="34" charset="0"/>
                <a:ea typeface="Space Grotesk" pitchFamily="34" charset="-122"/>
                <a:cs typeface="Space Grotesk" pitchFamily="34" charset="-120"/>
              </a:rPr>
              <a:t> lo puso a prueba</a:t>
            </a:r>
            <a:endParaRPr lang="en-US" sz="3200" dirty="0"/>
          </a:p>
        </p:txBody>
      </p:sp>
      <p:sp>
        <p:nvSpPr>
          <p:cNvPr id="4" name="Text 2"/>
          <p:cNvSpPr/>
          <p:nvPr/>
        </p:nvSpPr>
        <p:spPr>
          <a:xfrm>
            <a:off x="812800" y="2301148"/>
            <a:ext cx="9156700"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266"/>
                </a:solidFill>
                <a:latin typeface="DM Sans" pitchFamily="34" charset="0"/>
                <a:ea typeface="DM Sans" pitchFamily="34" charset="-122"/>
                <a:cs typeface="DM Sans" pitchFamily="34" charset="-120"/>
              </a:rPr>
              <a:t>Vanguard es una gestora de inversiones de EE. UU. Su web tiene un proceso de 5 pantallas. Probaron un diseño más moderno, con indicaciones en cada paso, frente al de siempre.</a:t>
            </a:r>
            <a:endParaRPr lang="en-US" sz="1600" dirty="0"/>
          </a:p>
        </p:txBody>
      </p:sp>
      <p:sp>
        <p:nvSpPr>
          <p:cNvPr id="5" name="Shape 3"/>
          <p:cNvSpPr/>
          <p:nvPr/>
        </p:nvSpPr>
        <p:spPr>
          <a:xfrm>
            <a:off x="819150" y="3181152"/>
            <a:ext cx="1599935" cy="840647"/>
          </a:xfrm>
          <a:prstGeom prst="roundRect">
            <a:avLst>
              <a:gd name="adj" fmla="val 11331"/>
            </a:avLst>
          </a:prstGeom>
          <a:solidFill>
            <a:srgbClr val="FFFDF8"/>
          </a:solidFill>
          <a:ln w="12700">
            <a:solidFill>
              <a:srgbClr val="DDD5C6"/>
            </a:solidFill>
            <a:prstDash val="solid"/>
          </a:ln>
        </p:spPr>
      </p:sp>
      <p:sp>
        <p:nvSpPr>
          <p:cNvPr id="6" name="Text 4"/>
          <p:cNvSpPr/>
          <p:nvPr/>
        </p:nvSpPr>
        <p:spPr>
          <a:xfrm>
            <a:off x="1003300" y="3339902"/>
            <a:ext cx="1282435"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1B2E"/>
                </a:solidFill>
                <a:latin typeface="DM Sans" pitchFamily="34" charset="0"/>
                <a:ea typeface="DM Sans" pitchFamily="34" charset="-122"/>
                <a:cs typeface="DM Sans" pitchFamily="34" charset="-120"/>
              </a:rPr>
              <a:t>Inicio</a:t>
            </a:r>
            <a:endParaRPr lang="en-US" sz="1600" dirty="0"/>
          </a:p>
        </p:txBody>
      </p:sp>
      <p:sp>
        <p:nvSpPr>
          <p:cNvPr id="7" name="Text 5"/>
          <p:cNvSpPr/>
          <p:nvPr/>
        </p:nvSpPr>
        <p:spPr>
          <a:xfrm>
            <a:off x="1003300" y="3649729"/>
            <a:ext cx="128243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start</a:t>
            </a:r>
            <a:endParaRPr lang="en-US" sz="1200" dirty="0"/>
          </a:p>
        </p:txBody>
      </p:sp>
      <p:pic>
        <p:nvPicPr>
          <p:cNvPr id="8" name="Image 0" descr="arrow-right"/>
          <p:cNvPicPr>
            <a:picLocks noChangeAspect="1"/>
          </p:cNvPicPr>
          <p:nvPr/>
        </p:nvPicPr>
        <p:blipFill>
          <a:blip r:embed="rId3"/>
          <a:srcRect/>
          <a:stretch/>
        </p:blipFill>
        <p:spPr>
          <a:xfrm>
            <a:off x="2552435" y="3531592"/>
            <a:ext cx="279400" cy="139700"/>
          </a:xfrm>
          <a:prstGeom prst="rect">
            <a:avLst/>
          </a:prstGeom>
        </p:spPr>
      </p:pic>
      <p:sp>
        <p:nvSpPr>
          <p:cNvPr id="9" name="Shape 6"/>
          <p:cNvSpPr/>
          <p:nvPr/>
        </p:nvSpPr>
        <p:spPr>
          <a:xfrm>
            <a:off x="2965185" y="3181152"/>
            <a:ext cx="1600002" cy="840647"/>
          </a:xfrm>
          <a:prstGeom prst="roundRect">
            <a:avLst>
              <a:gd name="adj" fmla="val 11331"/>
            </a:avLst>
          </a:prstGeom>
          <a:solidFill>
            <a:srgbClr val="FFFDF8"/>
          </a:solidFill>
          <a:ln w="12700">
            <a:solidFill>
              <a:srgbClr val="DDD5C6"/>
            </a:solidFill>
            <a:prstDash val="solid"/>
          </a:ln>
        </p:spPr>
      </p:sp>
      <p:sp>
        <p:nvSpPr>
          <p:cNvPr id="10" name="Text 7"/>
          <p:cNvSpPr/>
          <p:nvPr/>
        </p:nvSpPr>
        <p:spPr>
          <a:xfrm>
            <a:off x="3149335" y="3339902"/>
            <a:ext cx="1282502"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1B2E"/>
                </a:solidFill>
                <a:latin typeface="DM Sans" pitchFamily="34" charset="0"/>
                <a:ea typeface="DM Sans" pitchFamily="34" charset="-122"/>
                <a:cs typeface="DM Sans" pitchFamily="34" charset="-120"/>
              </a:rPr>
              <a:t>Paso 1</a:t>
            </a:r>
            <a:endParaRPr lang="en-US" sz="1600" dirty="0"/>
          </a:p>
        </p:txBody>
      </p:sp>
      <p:sp>
        <p:nvSpPr>
          <p:cNvPr id="11" name="Text 8"/>
          <p:cNvSpPr/>
          <p:nvPr/>
        </p:nvSpPr>
        <p:spPr>
          <a:xfrm>
            <a:off x="3149335" y="3649729"/>
            <a:ext cx="128250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step_1</a:t>
            </a:r>
            <a:endParaRPr lang="en-US" sz="1200" dirty="0"/>
          </a:p>
        </p:txBody>
      </p:sp>
      <p:pic>
        <p:nvPicPr>
          <p:cNvPr id="12" name="Image 1" descr="arrow-right"/>
          <p:cNvPicPr>
            <a:picLocks noChangeAspect="1"/>
          </p:cNvPicPr>
          <p:nvPr/>
        </p:nvPicPr>
        <p:blipFill>
          <a:blip r:embed="rId3"/>
          <a:srcRect/>
          <a:stretch/>
        </p:blipFill>
        <p:spPr>
          <a:xfrm>
            <a:off x="4698537" y="3531592"/>
            <a:ext cx="279400" cy="139700"/>
          </a:xfrm>
          <a:prstGeom prst="rect">
            <a:avLst/>
          </a:prstGeom>
        </p:spPr>
      </p:pic>
      <p:sp>
        <p:nvSpPr>
          <p:cNvPr id="13" name="Shape 9"/>
          <p:cNvSpPr/>
          <p:nvPr/>
        </p:nvSpPr>
        <p:spPr>
          <a:xfrm>
            <a:off x="5111287" y="3181152"/>
            <a:ext cx="1599935" cy="840647"/>
          </a:xfrm>
          <a:prstGeom prst="roundRect">
            <a:avLst>
              <a:gd name="adj" fmla="val 11331"/>
            </a:avLst>
          </a:prstGeom>
          <a:solidFill>
            <a:srgbClr val="FFFDF8"/>
          </a:solidFill>
          <a:ln w="12700">
            <a:solidFill>
              <a:srgbClr val="DDD5C6"/>
            </a:solidFill>
            <a:prstDash val="solid"/>
          </a:ln>
        </p:spPr>
      </p:sp>
      <p:sp>
        <p:nvSpPr>
          <p:cNvPr id="14" name="Text 10"/>
          <p:cNvSpPr/>
          <p:nvPr/>
        </p:nvSpPr>
        <p:spPr>
          <a:xfrm>
            <a:off x="5295437" y="3339902"/>
            <a:ext cx="1282435"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1B2E"/>
                </a:solidFill>
                <a:latin typeface="DM Sans" pitchFamily="34" charset="0"/>
                <a:ea typeface="DM Sans" pitchFamily="34" charset="-122"/>
                <a:cs typeface="DM Sans" pitchFamily="34" charset="-120"/>
              </a:rPr>
              <a:t>Paso 2</a:t>
            </a:r>
            <a:endParaRPr lang="en-US" sz="1600" dirty="0"/>
          </a:p>
        </p:txBody>
      </p:sp>
      <p:sp>
        <p:nvSpPr>
          <p:cNvPr id="15" name="Text 11"/>
          <p:cNvSpPr/>
          <p:nvPr/>
        </p:nvSpPr>
        <p:spPr>
          <a:xfrm>
            <a:off x="5295437" y="3649729"/>
            <a:ext cx="128243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step_2</a:t>
            </a:r>
            <a:endParaRPr lang="en-US" sz="1200" dirty="0"/>
          </a:p>
        </p:txBody>
      </p:sp>
      <p:pic>
        <p:nvPicPr>
          <p:cNvPr id="16" name="Image 2" descr="arrow-right"/>
          <p:cNvPicPr>
            <a:picLocks noChangeAspect="1"/>
          </p:cNvPicPr>
          <p:nvPr/>
        </p:nvPicPr>
        <p:blipFill>
          <a:blip r:embed="rId3"/>
          <a:srcRect/>
          <a:stretch/>
        </p:blipFill>
        <p:spPr>
          <a:xfrm>
            <a:off x="6844573" y="3531592"/>
            <a:ext cx="279400" cy="139700"/>
          </a:xfrm>
          <a:prstGeom prst="rect">
            <a:avLst/>
          </a:prstGeom>
        </p:spPr>
      </p:pic>
      <p:sp>
        <p:nvSpPr>
          <p:cNvPr id="17" name="Shape 12"/>
          <p:cNvSpPr/>
          <p:nvPr/>
        </p:nvSpPr>
        <p:spPr>
          <a:xfrm>
            <a:off x="7257323" y="3181152"/>
            <a:ext cx="1600002" cy="840647"/>
          </a:xfrm>
          <a:prstGeom prst="roundRect">
            <a:avLst>
              <a:gd name="adj" fmla="val 11331"/>
            </a:avLst>
          </a:prstGeom>
          <a:solidFill>
            <a:srgbClr val="FFFDF8"/>
          </a:solidFill>
          <a:ln w="12700">
            <a:solidFill>
              <a:srgbClr val="DDD5C6"/>
            </a:solidFill>
            <a:prstDash val="solid"/>
          </a:ln>
        </p:spPr>
      </p:sp>
      <p:sp>
        <p:nvSpPr>
          <p:cNvPr id="18" name="Text 13"/>
          <p:cNvSpPr/>
          <p:nvPr/>
        </p:nvSpPr>
        <p:spPr>
          <a:xfrm>
            <a:off x="7441473" y="3339902"/>
            <a:ext cx="1282502"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1B2E"/>
                </a:solidFill>
                <a:latin typeface="DM Sans" pitchFamily="34" charset="0"/>
                <a:ea typeface="DM Sans" pitchFamily="34" charset="-122"/>
                <a:cs typeface="DM Sans" pitchFamily="34" charset="-120"/>
              </a:rPr>
              <a:t>Paso 3</a:t>
            </a:r>
            <a:endParaRPr lang="en-US" sz="1600" dirty="0"/>
          </a:p>
        </p:txBody>
      </p:sp>
      <p:sp>
        <p:nvSpPr>
          <p:cNvPr id="19" name="Text 14"/>
          <p:cNvSpPr/>
          <p:nvPr/>
        </p:nvSpPr>
        <p:spPr>
          <a:xfrm>
            <a:off x="7441473" y="3649729"/>
            <a:ext cx="128250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step_3</a:t>
            </a:r>
            <a:endParaRPr lang="en-US" sz="1200" dirty="0"/>
          </a:p>
        </p:txBody>
      </p:sp>
      <p:pic>
        <p:nvPicPr>
          <p:cNvPr id="20" name="Image 3" descr="arrow-right"/>
          <p:cNvPicPr>
            <a:picLocks noChangeAspect="1"/>
          </p:cNvPicPr>
          <p:nvPr/>
        </p:nvPicPr>
        <p:blipFill>
          <a:blip r:embed="rId3"/>
          <a:srcRect/>
          <a:stretch/>
        </p:blipFill>
        <p:spPr>
          <a:xfrm>
            <a:off x="8990674" y="3531592"/>
            <a:ext cx="279400" cy="139700"/>
          </a:xfrm>
          <a:prstGeom prst="rect">
            <a:avLst/>
          </a:prstGeom>
        </p:spPr>
      </p:pic>
      <p:sp>
        <p:nvSpPr>
          <p:cNvPr id="21" name="Shape 15"/>
          <p:cNvSpPr/>
          <p:nvPr/>
        </p:nvSpPr>
        <p:spPr>
          <a:xfrm>
            <a:off x="9397074" y="3174802"/>
            <a:ext cx="1982126" cy="853347"/>
          </a:xfrm>
          <a:prstGeom prst="roundRect">
            <a:avLst>
              <a:gd name="adj" fmla="val 11906"/>
            </a:avLst>
          </a:prstGeom>
          <a:solidFill>
            <a:srgbClr val="131B2E"/>
          </a:solidFill>
          <a:ln/>
        </p:spPr>
      </p:sp>
      <p:sp>
        <p:nvSpPr>
          <p:cNvPr id="22" name="Text 16"/>
          <p:cNvSpPr/>
          <p:nvPr/>
        </p:nvSpPr>
        <p:spPr>
          <a:xfrm>
            <a:off x="9587574" y="3339902"/>
            <a:ext cx="1651926"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2EC"/>
                </a:solidFill>
                <a:latin typeface="DM Sans" pitchFamily="34" charset="0"/>
                <a:ea typeface="DM Sans" pitchFamily="34" charset="-122"/>
                <a:cs typeface="DM Sans" pitchFamily="34" charset="-120"/>
              </a:rPr>
              <a:t>Confirmación</a:t>
            </a:r>
            <a:endParaRPr lang="en-US" sz="1600" dirty="0"/>
          </a:p>
        </p:txBody>
      </p:sp>
      <p:sp>
        <p:nvSpPr>
          <p:cNvPr id="23" name="Text 17"/>
          <p:cNvSpPr/>
          <p:nvPr/>
        </p:nvSpPr>
        <p:spPr>
          <a:xfrm>
            <a:off x="9587574" y="3649729"/>
            <a:ext cx="16519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CF"/>
                </a:solidFill>
                <a:latin typeface="DM Sans" pitchFamily="34" charset="0"/>
                <a:ea typeface="DM Sans" pitchFamily="34" charset="-122"/>
                <a:cs typeface="DM Sans" pitchFamily="34" charset="-120"/>
              </a:rPr>
              <a:t>confirm</a:t>
            </a:r>
            <a:endParaRPr lang="en-US" sz="1200" dirty="0"/>
          </a:p>
        </p:txBody>
      </p:sp>
      <p:sp>
        <p:nvSpPr>
          <p:cNvPr id="24" name="Shape 18"/>
          <p:cNvSpPr/>
          <p:nvPr/>
        </p:nvSpPr>
        <p:spPr>
          <a:xfrm>
            <a:off x="838200" y="4332949"/>
            <a:ext cx="0" cy="1076920"/>
          </a:xfrm>
          <a:prstGeom prst="line">
            <a:avLst/>
          </a:prstGeom>
          <a:noFill/>
          <a:ln w="50800">
            <a:solidFill>
              <a:srgbClr val="8C96A6"/>
            </a:solidFill>
            <a:prstDash val="solid"/>
          </a:ln>
        </p:spPr>
      </p:sp>
      <p:sp>
        <p:nvSpPr>
          <p:cNvPr id="25" name="Text 19"/>
          <p:cNvSpPr/>
          <p:nvPr/>
        </p:nvSpPr>
        <p:spPr>
          <a:xfrm>
            <a:off x="1041400" y="4383749"/>
            <a:ext cx="28162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Control · diseño antiguo</a:t>
            </a:r>
            <a:endParaRPr lang="en-US" sz="1200" dirty="0"/>
          </a:p>
        </p:txBody>
      </p:sp>
      <p:sp>
        <p:nvSpPr>
          <p:cNvPr id="26" name="Text 20"/>
          <p:cNvSpPr/>
          <p:nvPr/>
        </p:nvSpPr>
        <p:spPr>
          <a:xfrm>
            <a:off x="1041400" y="4647870"/>
            <a:ext cx="281623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31B2E"/>
                </a:solidFill>
                <a:latin typeface="Space Grotesk" pitchFamily="34" charset="0"/>
                <a:ea typeface="Space Grotesk" pitchFamily="34" charset="-122"/>
                <a:cs typeface="Space Grotesk" pitchFamily="34" charset="-120"/>
              </a:rPr>
              <a:t>23.532 clientes</a:t>
            </a:r>
            <a:endParaRPr lang="en-US" sz="2200" dirty="0"/>
          </a:p>
        </p:txBody>
      </p:sp>
      <p:sp>
        <p:nvSpPr>
          <p:cNvPr id="27" name="Shape 21"/>
          <p:cNvSpPr/>
          <p:nvPr/>
        </p:nvSpPr>
        <p:spPr>
          <a:xfrm>
            <a:off x="4004204" y="4332949"/>
            <a:ext cx="0" cy="1076920"/>
          </a:xfrm>
          <a:prstGeom prst="line">
            <a:avLst/>
          </a:prstGeom>
          <a:noFill/>
          <a:ln w="50800">
            <a:solidFill>
              <a:srgbClr val="C8102E"/>
            </a:solidFill>
            <a:prstDash val="solid"/>
          </a:ln>
        </p:spPr>
      </p:sp>
      <p:sp>
        <p:nvSpPr>
          <p:cNvPr id="28" name="Text 22"/>
          <p:cNvSpPr/>
          <p:nvPr/>
        </p:nvSpPr>
        <p:spPr>
          <a:xfrm>
            <a:off x="4207404" y="4383749"/>
            <a:ext cx="281629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Test · diseño nuevo</a:t>
            </a:r>
            <a:endParaRPr lang="en-US" sz="1200" dirty="0"/>
          </a:p>
        </p:txBody>
      </p:sp>
      <p:sp>
        <p:nvSpPr>
          <p:cNvPr id="29" name="Text 23"/>
          <p:cNvSpPr/>
          <p:nvPr/>
        </p:nvSpPr>
        <p:spPr>
          <a:xfrm>
            <a:off x="4207404" y="4647870"/>
            <a:ext cx="2816298"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31B2E"/>
                </a:solidFill>
                <a:latin typeface="Space Grotesk" pitchFamily="34" charset="0"/>
                <a:ea typeface="Space Grotesk" pitchFamily="34" charset="-122"/>
                <a:cs typeface="Space Grotesk" pitchFamily="34" charset="-120"/>
              </a:rPr>
              <a:t>26.968 clientes</a:t>
            </a:r>
            <a:endParaRPr lang="en-US" sz="2200" dirty="0"/>
          </a:p>
        </p:txBody>
      </p:sp>
      <p:sp>
        <p:nvSpPr>
          <p:cNvPr id="30" name="Shape 24"/>
          <p:cNvSpPr/>
          <p:nvPr/>
        </p:nvSpPr>
        <p:spPr>
          <a:xfrm>
            <a:off x="7144875" y="4332949"/>
            <a:ext cx="4234326" cy="1076920"/>
          </a:xfrm>
          <a:prstGeom prst="roundRect">
            <a:avLst>
              <a:gd name="adj" fmla="val 9434"/>
            </a:avLst>
          </a:prstGeom>
          <a:solidFill>
            <a:srgbClr val="C8102E"/>
          </a:solidFill>
          <a:ln/>
        </p:spPr>
      </p:sp>
      <p:sp>
        <p:nvSpPr>
          <p:cNvPr id="31" name="Text 25"/>
          <p:cNvSpPr/>
          <p:nvPr/>
        </p:nvSpPr>
        <p:spPr>
          <a:xfrm>
            <a:off x="7348075" y="4485349"/>
            <a:ext cx="394276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BE3E6"/>
                </a:solidFill>
                <a:latin typeface="DM Sans" pitchFamily="34" charset="0"/>
                <a:ea typeface="DM Sans" pitchFamily="34" charset="-122"/>
                <a:cs typeface="DM Sans" pitchFamily="34" charset="-120"/>
              </a:rPr>
              <a:t>Nuestra pregunta</a:t>
            </a:r>
            <a:endParaRPr lang="en-US" sz="1200" dirty="0"/>
          </a:p>
        </p:txBody>
      </p:sp>
      <p:sp>
        <p:nvSpPr>
          <p:cNvPr id="32" name="Text 26"/>
          <p:cNvSpPr/>
          <p:nvPr/>
        </p:nvSpPr>
        <p:spPr>
          <a:xfrm>
            <a:off x="7348075" y="4749470"/>
            <a:ext cx="3942763"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F8F2"/>
                </a:solidFill>
                <a:latin typeface="DM Sans" pitchFamily="34" charset="0"/>
                <a:ea typeface="DM Sans" pitchFamily="34" charset="-122"/>
                <a:cs typeface="DM Sans" pitchFamily="34" charset="-120"/>
              </a:rPr>
              <a:t>¿La nueva interfaz consigue que más </a:t>
            </a:r>
            <a:r>
              <a:rPr lang="en-US" sz="1600" b="1" dirty="0" err="1">
                <a:solidFill>
                  <a:srgbClr val="FFF8F2"/>
                </a:solidFill>
                <a:latin typeface="DM Sans" pitchFamily="34" charset="0"/>
                <a:ea typeface="DM Sans" pitchFamily="34" charset="-122"/>
                <a:cs typeface="DM Sans" pitchFamily="34" charset="-120"/>
              </a:rPr>
              <a:t>clientes</a:t>
            </a:r>
            <a:r>
              <a:rPr lang="en-US" sz="1600" b="1" dirty="0">
                <a:solidFill>
                  <a:srgbClr val="FFF8F2"/>
                </a:solidFill>
                <a:latin typeface="DM Sans" pitchFamily="34" charset="0"/>
                <a:ea typeface="DM Sans" pitchFamily="34" charset="-122"/>
                <a:cs typeface="DM Sans" pitchFamily="34" charset="-120"/>
              </a:rPr>
              <a:t> </a:t>
            </a:r>
            <a:r>
              <a:rPr lang="en-US" sz="1600" b="1" dirty="0" err="1">
                <a:solidFill>
                  <a:srgbClr val="FFF8F2"/>
                </a:solidFill>
                <a:latin typeface="DM Sans" pitchFamily="34" charset="0"/>
                <a:ea typeface="DM Sans" pitchFamily="34" charset="-122"/>
                <a:cs typeface="DM Sans" pitchFamily="34" charset="-120"/>
              </a:rPr>
              <a:t>terminen</a:t>
            </a:r>
            <a:r>
              <a:rPr lang="en-US" sz="1600" b="1" dirty="0">
                <a:solidFill>
                  <a:srgbClr val="FFF8F2"/>
                </a:solidFill>
                <a:latin typeface="DM Sans" pitchFamily="34" charset="0"/>
                <a:ea typeface="DM Sans" pitchFamily="34" charset="-122"/>
                <a:cs typeface="DM Sans" pitchFamily="34" charset="-120"/>
              </a:rPr>
              <a:t> </a:t>
            </a:r>
            <a:r>
              <a:rPr lang="en-US" sz="1600" b="1" dirty="0" err="1">
                <a:solidFill>
                  <a:srgbClr val="FFF8F2"/>
                </a:solidFill>
                <a:latin typeface="DM Sans" pitchFamily="34" charset="0"/>
                <a:ea typeface="DM Sans" pitchFamily="34" charset="-122"/>
                <a:cs typeface="DM Sans" pitchFamily="34" charset="-120"/>
              </a:rPr>
              <a:t>el</a:t>
            </a:r>
            <a:r>
              <a:rPr lang="en-US" sz="1600" b="1" dirty="0">
                <a:solidFill>
                  <a:srgbClr val="FFF8F2"/>
                </a:solidFill>
                <a:latin typeface="DM Sans" pitchFamily="34" charset="0"/>
                <a:ea typeface="DM Sans" pitchFamily="34" charset="-122"/>
                <a:cs typeface="DM Sans" pitchFamily="34" charset="-120"/>
              </a:rPr>
              <a:t> </a:t>
            </a:r>
            <a:r>
              <a:rPr lang="en-US" sz="1600" b="1" dirty="0" err="1">
                <a:solidFill>
                  <a:srgbClr val="FFF8F2"/>
                </a:solidFill>
                <a:latin typeface="DM Sans" pitchFamily="34" charset="0"/>
                <a:ea typeface="DM Sans" pitchFamily="34" charset="-122"/>
                <a:cs typeface="DM Sans" pitchFamily="34" charset="-120"/>
              </a:rPr>
              <a:t>proceso</a:t>
            </a:r>
            <a:r>
              <a:rPr lang="en-US" sz="1600" b="1" dirty="0">
                <a:solidFill>
                  <a:srgbClr val="FFF8F2"/>
                </a:solidFill>
                <a:latin typeface="DM Sans" pitchFamily="34" charset="0"/>
                <a:ea typeface="DM Sans" pitchFamily="34" charset="-122"/>
                <a:cs typeface="DM Sans" pitchFamily="34" charset="-120"/>
              </a:rPr>
              <a:t>?</a:t>
            </a:r>
            <a:endParaRPr lang="en-US" sz="1600" dirty="0"/>
          </a:p>
        </p:txBody>
      </p:sp>
      <p:sp>
        <p:nvSpPr>
          <p:cNvPr id="33" name="Text 27"/>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Experimento del 15/03/2017 al 20/06/2017 · 14 semanas</a:t>
            </a:r>
            <a:endParaRPr lang="en-US" sz="1200" dirty="0"/>
          </a:p>
        </p:txBody>
      </p:sp>
      <p:sp>
        <p:nvSpPr>
          <p:cNvPr id="34" name="Text 2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5"/>
                </a:solidFill>
                <a:latin typeface="DM Sans" pitchFamily="34" charset="0"/>
                <a:ea typeface="DM Sans" pitchFamily="34" charset="-122"/>
                <a:cs typeface="DM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DM Sans" pitchFamily="34" charset="0"/>
                <a:ea typeface="DM Sans" pitchFamily="34" charset="-122"/>
                <a:cs typeface="DM Sans" pitchFamily="34" charset="-120"/>
              </a:rPr>
              <a:t>RESUMEN DE DATOS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1B2E"/>
                </a:solidFill>
                <a:latin typeface="Space Grotesk" pitchFamily="34" charset="0"/>
                <a:ea typeface="Space Grotesk" pitchFamily="34" charset="-122"/>
                <a:cs typeface="Space Grotesk" pitchFamily="34" charset="-120"/>
              </a:rPr>
              <a:t>Tres fuentes de datos, unidas por el cliente</a:t>
            </a:r>
            <a:endParaRPr lang="en-US" sz="3200" dirty="0"/>
          </a:p>
        </p:txBody>
      </p:sp>
      <p:sp>
        <p:nvSpPr>
          <p:cNvPr id="4" name="Shape 2"/>
          <p:cNvSpPr/>
          <p:nvPr/>
        </p:nvSpPr>
        <p:spPr>
          <a:xfrm>
            <a:off x="819150" y="1911285"/>
            <a:ext cx="3373967" cy="2730368"/>
          </a:xfrm>
          <a:prstGeom prst="roundRect">
            <a:avLst>
              <a:gd name="adj" fmla="val 4419"/>
            </a:avLst>
          </a:prstGeom>
          <a:solidFill>
            <a:srgbClr val="FFFDF8"/>
          </a:solidFill>
          <a:ln w="12700">
            <a:solidFill>
              <a:srgbClr val="DDD5C6"/>
            </a:solidFill>
            <a:prstDash val="solid"/>
          </a:ln>
        </p:spPr>
      </p:sp>
      <p:pic>
        <p:nvPicPr>
          <p:cNvPr id="5" name="Image 0" descr="Users"/>
          <p:cNvPicPr>
            <a:picLocks noChangeAspect="1"/>
          </p:cNvPicPr>
          <p:nvPr/>
        </p:nvPicPr>
        <p:blipFill>
          <a:blip r:embed="rId3"/>
          <a:srcRect/>
          <a:stretch/>
        </p:blipFill>
        <p:spPr>
          <a:xfrm>
            <a:off x="1079500" y="2171635"/>
            <a:ext cx="355600" cy="355600"/>
          </a:xfrm>
          <a:prstGeom prst="rect">
            <a:avLst/>
          </a:prstGeom>
        </p:spPr>
      </p:pic>
      <p:sp>
        <p:nvSpPr>
          <p:cNvPr id="6" name="Text 3"/>
          <p:cNvSpPr/>
          <p:nvPr/>
        </p:nvSpPr>
        <p:spPr>
          <a:xfrm>
            <a:off x="1079500" y="2628835"/>
            <a:ext cx="2938865"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1B2E"/>
                </a:solidFill>
                <a:latin typeface="Space Grotesk" pitchFamily="34" charset="0"/>
                <a:ea typeface="Space Grotesk" pitchFamily="34" charset="-122"/>
                <a:cs typeface="Space Grotesk" pitchFamily="34" charset="-120"/>
              </a:rPr>
              <a:t>Perfiles de clientes</a:t>
            </a:r>
            <a:endParaRPr lang="en-US" sz="1800" dirty="0"/>
          </a:p>
        </p:txBody>
      </p:sp>
      <p:sp>
        <p:nvSpPr>
          <p:cNvPr id="7" name="Text 4"/>
          <p:cNvSpPr/>
          <p:nvPr/>
        </p:nvSpPr>
        <p:spPr>
          <a:xfrm>
            <a:off x="1079500" y="3004741"/>
            <a:ext cx="29388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df_final_demo</a:t>
            </a:r>
            <a:endParaRPr lang="en-US" sz="1200" dirty="0"/>
          </a:p>
        </p:txBody>
      </p:sp>
      <p:sp>
        <p:nvSpPr>
          <p:cNvPr id="8" name="Text 5"/>
          <p:cNvSpPr/>
          <p:nvPr/>
        </p:nvSpPr>
        <p:spPr>
          <a:xfrm>
            <a:off x="1079500" y="3319661"/>
            <a:ext cx="2938865"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31B2E"/>
                </a:solidFill>
                <a:latin typeface="Space Grotesk" pitchFamily="34" charset="0"/>
                <a:ea typeface="Space Grotesk" pitchFamily="34" charset="-122"/>
                <a:cs typeface="Space Grotesk" pitchFamily="34" charset="-120"/>
              </a:rPr>
              <a:t>70.609</a:t>
            </a:r>
            <a:endParaRPr lang="en-US" sz="2800" dirty="0"/>
          </a:p>
        </p:txBody>
      </p:sp>
      <p:sp>
        <p:nvSpPr>
          <p:cNvPr id="9" name="Text 6"/>
          <p:cNvSpPr/>
          <p:nvPr/>
        </p:nvSpPr>
        <p:spPr>
          <a:xfrm>
            <a:off x="1079500" y="3919076"/>
            <a:ext cx="2938865"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6"/>
                </a:solidFill>
                <a:latin typeface="DM Sans" pitchFamily="34" charset="0"/>
                <a:ea typeface="DM Sans" pitchFamily="34" charset="-122"/>
                <a:cs typeface="DM Sans" pitchFamily="34" charset="-120"/>
              </a:rPr>
              <a:t>clientes con edad, antigüedad, género, saldo, cuentas y actividad</a:t>
            </a:r>
            <a:endParaRPr lang="en-US" sz="1300" dirty="0"/>
          </a:p>
        </p:txBody>
      </p:sp>
      <p:sp>
        <p:nvSpPr>
          <p:cNvPr id="10" name="Shape 7"/>
          <p:cNvSpPr/>
          <p:nvPr/>
        </p:nvSpPr>
        <p:spPr>
          <a:xfrm>
            <a:off x="4409017" y="1911285"/>
            <a:ext cx="3373967" cy="2730368"/>
          </a:xfrm>
          <a:prstGeom prst="roundRect">
            <a:avLst>
              <a:gd name="adj" fmla="val 4419"/>
            </a:avLst>
          </a:prstGeom>
          <a:solidFill>
            <a:srgbClr val="FFFDF8"/>
          </a:solidFill>
          <a:ln w="12700">
            <a:solidFill>
              <a:srgbClr val="DDD5C6"/>
            </a:solidFill>
            <a:prstDash val="solid"/>
          </a:ln>
        </p:spPr>
      </p:sp>
      <p:pic>
        <p:nvPicPr>
          <p:cNvPr id="11" name="Image 1" descr="Activity"/>
          <p:cNvPicPr>
            <a:picLocks noChangeAspect="1"/>
          </p:cNvPicPr>
          <p:nvPr/>
        </p:nvPicPr>
        <p:blipFill>
          <a:blip r:embed="rId4"/>
          <a:srcRect/>
          <a:stretch/>
        </p:blipFill>
        <p:spPr>
          <a:xfrm>
            <a:off x="4669367" y="2171635"/>
            <a:ext cx="355600" cy="355600"/>
          </a:xfrm>
          <a:prstGeom prst="rect">
            <a:avLst/>
          </a:prstGeom>
        </p:spPr>
      </p:pic>
      <p:sp>
        <p:nvSpPr>
          <p:cNvPr id="12" name="Text 8"/>
          <p:cNvSpPr/>
          <p:nvPr/>
        </p:nvSpPr>
        <p:spPr>
          <a:xfrm>
            <a:off x="4669367" y="2628835"/>
            <a:ext cx="2938865"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1B2E"/>
                </a:solidFill>
                <a:latin typeface="Space Grotesk" pitchFamily="34" charset="0"/>
                <a:ea typeface="Space Grotesk" pitchFamily="34" charset="-122"/>
                <a:cs typeface="Space Grotesk" pitchFamily="34" charset="-120"/>
              </a:rPr>
              <a:t>Huellas digitales</a:t>
            </a:r>
            <a:endParaRPr lang="en-US" sz="1800" dirty="0"/>
          </a:p>
        </p:txBody>
      </p:sp>
      <p:sp>
        <p:nvSpPr>
          <p:cNvPr id="13" name="Text 9"/>
          <p:cNvSpPr/>
          <p:nvPr/>
        </p:nvSpPr>
        <p:spPr>
          <a:xfrm>
            <a:off x="4669367" y="3004741"/>
            <a:ext cx="29388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df_final_web_data (pt 1 + pt 2)</a:t>
            </a:r>
            <a:endParaRPr lang="en-US" sz="1200" dirty="0"/>
          </a:p>
        </p:txBody>
      </p:sp>
      <p:sp>
        <p:nvSpPr>
          <p:cNvPr id="14" name="Text 10"/>
          <p:cNvSpPr/>
          <p:nvPr/>
        </p:nvSpPr>
        <p:spPr>
          <a:xfrm>
            <a:off x="4669367" y="3319661"/>
            <a:ext cx="2938865"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31B2E"/>
                </a:solidFill>
                <a:latin typeface="Space Grotesk" pitchFamily="34" charset="0"/>
                <a:ea typeface="Space Grotesk" pitchFamily="34" charset="-122"/>
                <a:cs typeface="Space Grotesk" pitchFamily="34" charset="-120"/>
              </a:rPr>
              <a:t>755.405</a:t>
            </a:r>
            <a:endParaRPr lang="en-US" sz="2800" dirty="0"/>
          </a:p>
        </p:txBody>
      </p:sp>
      <p:sp>
        <p:nvSpPr>
          <p:cNvPr id="15" name="Text 11"/>
          <p:cNvSpPr/>
          <p:nvPr/>
        </p:nvSpPr>
        <p:spPr>
          <a:xfrm>
            <a:off x="4669367" y="3919076"/>
            <a:ext cx="2938865"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6"/>
                </a:solidFill>
                <a:latin typeface="DM Sans" pitchFamily="34" charset="0"/>
                <a:ea typeface="DM Sans" pitchFamily="34" charset="-122"/>
                <a:cs typeface="DM Sans" pitchFamily="34" charset="-120"/>
              </a:rPr>
              <a:t>registros web: cliente, visita, paso y fecha-hora</a:t>
            </a:r>
            <a:endParaRPr lang="en-US" sz="1300" dirty="0"/>
          </a:p>
        </p:txBody>
      </p:sp>
      <p:sp>
        <p:nvSpPr>
          <p:cNvPr id="16" name="Shape 12"/>
          <p:cNvSpPr/>
          <p:nvPr/>
        </p:nvSpPr>
        <p:spPr>
          <a:xfrm>
            <a:off x="7998884" y="1911285"/>
            <a:ext cx="3373967" cy="2730368"/>
          </a:xfrm>
          <a:prstGeom prst="roundRect">
            <a:avLst>
              <a:gd name="adj" fmla="val 4419"/>
            </a:avLst>
          </a:prstGeom>
          <a:solidFill>
            <a:srgbClr val="FFFDF8"/>
          </a:solidFill>
          <a:ln w="12700">
            <a:solidFill>
              <a:srgbClr val="DDD5C6"/>
            </a:solidFill>
            <a:prstDash val="solid"/>
          </a:ln>
        </p:spPr>
      </p:sp>
      <p:pic>
        <p:nvPicPr>
          <p:cNvPr id="17" name="Image 2" descr="Verified"/>
          <p:cNvPicPr>
            <a:picLocks noChangeAspect="1"/>
          </p:cNvPicPr>
          <p:nvPr/>
        </p:nvPicPr>
        <p:blipFill>
          <a:blip r:embed="rId5"/>
          <a:srcRect/>
          <a:stretch/>
        </p:blipFill>
        <p:spPr>
          <a:xfrm>
            <a:off x="8259234" y="2171635"/>
            <a:ext cx="355600" cy="355600"/>
          </a:xfrm>
          <a:prstGeom prst="rect">
            <a:avLst/>
          </a:prstGeom>
        </p:spPr>
      </p:pic>
      <p:sp>
        <p:nvSpPr>
          <p:cNvPr id="18" name="Text 13"/>
          <p:cNvSpPr/>
          <p:nvPr/>
        </p:nvSpPr>
        <p:spPr>
          <a:xfrm>
            <a:off x="8259234" y="2628835"/>
            <a:ext cx="2938865"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1B2E"/>
                </a:solidFill>
                <a:latin typeface="Space Grotesk" pitchFamily="34" charset="0"/>
                <a:ea typeface="Space Grotesk" pitchFamily="34" charset="-122"/>
                <a:cs typeface="Space Grotesk" pitchFamily="34" charset="-120"/>
              </a:rPr>
              <a:t>Participantes</a:t>
            </a:r>
            <a:endParaRPr lang="en-US" sz="1800" dirty="0"/>
          </a:p>
        </p:txBody>
      </p:sp>
      <p:sp>
        <p:nvSpPr>
          <p:cNvPr id="19" name="Text 14"/>
          <p:cNvSpPr/>
          <p:nvPr/>
        </p:nvSpPr>
        <p:spPr>
          <a:xfrm>
            <a:off x="8259234" y="3004741"/>
            <a:ext cx="29388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df_final_experiment_clients</a:t>
            </a:r>
            <a:endParaRPr lang="en-US" sz="1200" dirty="0"/>
          </a:p>
        </p:txBody>
      </p:sp>
      <p:sp>
        <p:nvSpPr>
          <p:cNvPr id="20" name="Text 15"/>
          <p:cNvSpPr/>
          <p:nvPr/>
        </p:nvSpPr>
        <p:spPr>
          <a:xfrm>
            <a:off x="8259234" y="3319661"/>
            <a:ext cx="2938865"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31B2E"/>
                </a:solidFill>
                <a:latin typeface="Space Grotesk" pitchFamily="34" charset="0"/>
                <a:ea typeface="Space Grotesk" pitchFamily="34" charset="-122"/>
                <a:cs typeface="Space Grotesk" pitchFamily="34" charset="-120"/>
              </a:rPr>
              <a:t>50.500</a:t>
            </a:r>
            <a:endParaRPr lang="en-US" sz="2800" dirty="0"/>
          </a:p>
        </p:txBody>
      </p:sp>
      <p:sp>
        <p:nvSpPr>
          <p:cNvPr id="21" name="Text 16"/>
          <p:cNvSpPr/>
          <p:nvPr/>
        </p:nvSpPr>
        <p:spPr>
          <a:xfrm>
            <a:off x="8259234" y="3919076"/>
            <a:ext cx="2938865"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6"/>
                </a:solidFill>
                <a:latin typeface="DM Sans" pitchFamily="34" charset="0"/>
                <a:ea typeface="DM Sans" pitchFamily="34" charset="-122"/>
                <a:cs typeface="DM Sans" pitchFamily="34" charset="-120"/>
              </a:rPr>
              <a:t>clientes con grupo asignado: Control o Test</a:t>
            </a:r>
            <a:endParaRPr lang="en-US" sz="1300" dirty="0"/>
          </a:p>
        </p:txBody>
      </p:sp>
      <p:sp>
        <p:nvSpPr>
          <p:cNvPr id="22" name="Shape 17"/>
          <p:cNvSpPr/>
          <p:nvPr/>
        </p:nvSpPr>
        <p:spPr>
          <a:xfrm>
            <a:off x="812800" y="5003602"/>
            <a:ext cx="10566400" cy="635000"/>
          </a:xfrm>
          <a:prstGeom prst="roundRect">
            <a:avLst>
              <a:gd name="adj" fmla="val 16000"/>
            </a:avLst>
          </a:prstGeom>
          <a:solidFill>
            <a:srgbClr val="131B2E"/>
          </a:solidFill>
          <a:ln/>
        </p:spPr>
      </p:sp>
      <p:pic>
        <p:nvPicPr>
          <p:cNvPr id="23" name="Image 3" descr="Link"/>
          <p:cNvPicPr>
            <a:picLocks noChangeAspect="1"/>
          </p:cNvPicPr>
          <p:nvPr/>
        </p:nvPicPr>
        <p:blipFill>
          <a:blip r:embed="rId6"/>
          <a:srcRect/>
          <a:stretch/>
        </p:blipFill>
        <p:spPr>
          <a:xfrm>
            <a:off x="1066800" y="5181402"/>
            <a:ext cx="279400" cy="279400"/>
          </a:xfrm>
          <a:prstGeom prst="rect">
            <a:avLst/>
          </a:prstGeom>
        </p:spPr>
      </p:pic>
      <p:sp>
        <p:nvSpPr>
          <p:cNvPr id="24" name="Text 18"/>
          <p:cNvSpPr/>
          <p:nvPr/>
        </p:nvSpPr>
        <p:spPr>
          <a:xfrm>
            <a:off x="1498600" y="5187752"/>
            <a:ext cx="884928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5F2EC"/>
                </a:solidFill>
                <a:latin typeface="DM Sans" pitchFamily="34" charset="0"/>
                <a:ea typeface="DM Sans" pitchFamily="34" charset="-122"/>
                <a:cs typeface="DM Sans" pitchFamily="34" charset="-120"/>
              </a:rPr>
              <a:t>Las unimos por </a:t>
            </a:r>
            <a:r>
              <a:rPr lang="en-US" sz="1500" b="1" dirty="0">
                <a:solidFill>
                  <a:srgbClr val="F5F2EC"/>
                </a:solidFill>
                <a:latin typeface="DM Sans" pitchFamily="34" charset="0"/>
                <a:ea typeface="DM Sans" pitchFamily="34" charset="-122"/>
                <a:cs typeface="DM Sans" pitchFamily="34" charset="-120"/>
              </a:rPr>
              <a:t>client_id</a:t>
            </a:r>
            <a:r>
              <a:rPr lang="en-US" sz="1500" dirty="0">
                <a:solidFill>
                  <a:srgbClr val="F5F2EC"/>
                </a:solidFill>
                <a:latin typeface="DM Sans" pitchFamily="34" charset="0"/>
                <a:ea typeface="DM Sans" pitchFamily="34" charset="-122"/>
                <a:cs typeface="DM Sans" pitchFamily="34" charset="-120"/>
              </a:rPr>
              <a:t> y nos quedamos con los 50.500 clientes del experimento</a:t>
            </a:r>
            <a:endParaRPr lang="en-US" sz="1500" dirty="0"/>
          </a:p>
        </p:txBody>
      </p:sp>
      <p:sp>
        <p:nvSpPr>
          <p:cNvPr id="26" name="Text 2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5"/>
                </a:solidFill>
                <a:latin typeface="DM Sans" pitchFamily="34" charset="0"/>
                <a:ea typeface="DM Sans" pitchFamily="34" charset="-122"/>
                <a:cs typeface="DM Sans" pitchFamily="34" charset="-120"/>
              </a:rPr>
              <a:t>04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EAE5D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DM Sans" pitchFamily="34" charset="0"/>
                <a:ea typeface="DM Sans" pitchFamily="34" charset="-122"/>
                <a:cs typeface="DM Sans" pitchFamily="34" charset="-120"/>
              </a:rPr>
              <a:t>LIMPIEZA Y FUSIÓN</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1B2E"/>
                </a:solidFill>
                <a:latin typeface="Space Grotesk" pitchFamily="34" charset="0"/>
                <a:ea typeface="Space Grotesk" pitchFamily="34" charset="-122"/>
                <a:cs typeface="Space Grotesk" pitchFamily="34" charset="-120"/>
              </a:rPr>
              <a:t>Antes de analizar, tocó limpiar</a:t>
            </a:r>
            <a:endParaRPr lang="en-US" sz="3200" dirty="0"/>
          </a:p>
        </p:txBody>
      </p:sp>
      <p:sp>
        <p:nvSpPr>
          <p:cNvPr id="4" name="Shape 2"/>
          <p:cNvSpPr/>
          <p:nvPr/>
        </p:nvSpPr>
        <p:spPr>
          <a:xfrm>
            <a:off x="812800" y="1904935"/>
            <a:ext cx="5194300" cy="1177131"/>
          </a:xfrm>
          <a:prstGeom prst="roundRect">
            <a:avLst>
              <a:gd name="adj" fmla="val 10789"/>
            </a:avLst>
          </a:prstGeom>
          <a:solidFill>
            <a:srgbClr val="F5F2EC"/>
          </a:solidFill>
          <a:ln/>
        </p:spPr>
      </p:sp>
      <p:sp>
        <p:nvSpPr>
          <p:cNvPr id="5" name="Text 3"/>
          <p:cNvSpPr/>
          <p:nvPr/>
        </p:nvSpPr>
        <p:spPr>
          <a:xfrm>
            <a:off x="1066800" y="2173486"/>
            <a:ext cx="1409502" cy="665427"/>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C8102E"/>
                </a:solidFill>
                <a:latin typeface="Space Grotesk" pitchFamily="34" charset="0"/>
                <a:ea typeface="Space Grotesk" pitchFamily="34" charset="-122"/>
                <a:cs typeface="Space Grotesk" pitchFamily="34" charset="-120"/>
              </a:rPr>
              <a:t>4.074</a:t>
            </a:r>
            <a:endParaRPr lang="en-US" sz="3600" dirty="0"/>
          </a:p>
        </p:txBody>
      </p:sp>
      <p:sp>
        <p:nvSpPr>
          <p:cNvPr id="6" name="Text 4"/>
          <p:cNvSpPr/>
          <p:nvPr/>
        </p:nvSpPr>
        <p:spPr>
          <a:xfrm>
            <a:off x="2476302" y="2133535"/>
            <a:ext cx="3375102" cy="745331"/>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31B2E"/>
                </a:solidFill>
                <a:latin typeface="DM Sans" pitchFamily="34" charset="0"/>
                <a:ea typeface="DM Sans" pitchFamily="34" charset="-122"/>
                <a:cs typeface="DM Sans" pitchFamily="34" charset="-120"/>
              </a:rPr>
              <a:t>filas duplicadas eliminadas.</a:t>
            </a:r>
            <a:r>
              <a:rPr lang="en-US" sz="1400" dirty="0">
                <a:solidFill>
                  <a:srgbClr val="4A5266"/>
                </a:solidFill>
                <a:latin typeface="DM Sans" pitchFamily="34" charset="0"/>
                <a:ea typeface="DM Sans" pitchFamily="34" charset="-122"/>
                <a:cs typeface="DM Sans" pitchFamily="34" charset="-120"/>
              </a:rPr>
              <a:t> Idénticas hasta el segundo; el 72 % en el paso de inicio</a:t>
            </a:r>
            <a:endParaRPr lang="en-US" sz="1400" dirty="0"/>
          </a:p>
        </p:txBody>
      </p:sp>
      <p:sp>
        <p:nvSpPr>
          <p:cNvPr id="7" name="Shape 5"/>
          <p:cNvSpPr/>
          <p:nvPr/>
        </p:nvSpPr>
        <p:spPr>
          <a:xfrm>
            <a:off x="6184900" y="1904935"/>
            <a:ext cx="5194300" cy="1177131"/>
          </a:xfrm>
          <a:prstGeom prst="roundRect">
            <a:avLst>
              <a:gd name="adj" fmla="val 10789"/>
            </a:avLst>
          </a:prstGeom>
          <a:solidFill>
            <a:srgbClr val="F5F2EC"/>
          </a:solidFill>
          <a:ln/>
        </p:spPr>
      </p:sp>
      <p:sp>
        <p:nvSpPr>
          <p:cNvPr id="8" name="Text 6"/>
          <p:cNvSpPr/>
          <p:nvPr/>
        </p:nvSpPr>
        <p:spPr>
          <a:xfrm>
            <a:off x="6438900" y="2173486"/>
            <a:ext cx="1638102" cy="665427"/>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C8102E"/>
                </a:solidFill>
                <a:latin typeface="Space Grotesk" pitchFamily="34" charset="0"/>
                <a:ea typeface="Space Grotesk" pitchFamily="34" charset="-122"/>
                <a:cs typeface="Space Grotesk" pitchFamily="34" charset="-120"/>
              </a:rPr>
              <a:t>20.109</a:t>
            </a:r>
            <a:endParaRPr lang="en-US" sz="3600" dirty="0"/>
          </a:p>
        </p:txBody>
      </p:sp>
      <p:sp>
        <p:nvSpPr>
          <p:cNvPr id="9" name="Text 7"/>
          <p:cNvSpPr/>
          <p:nvPr/>
        </p:nvSpPr>
        <p:spPr>
          <a:xfrm>
            <a:off x="8077002" y="2253524"/>
            <a:ext cx="3139644" cy="505354"/>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31B2E"/>
                </a:solidFill>
                <a:latin typeface="DM Sans" pitchFamily="34" charset="0"/>
                <a:ea typeface="DM Sans" pitchFamily="34" charset="-122"/>
                <a:cs typeface="DM Sans" pitchFamily="34" charset="-120"/>
              </a:rPr>
              <a:t>clientes sin grupo, fuera.</a:t>
            </a:r>
            <a:r>
              <a:rPr lang="en-US" sz="1400" dirty="0">
                <a:solidFill>
                  <a:srgbClr val="4A5266"/>
                </a:solidFill>
                <a:latin typeface="DM Sans" pitchFamily="34" charset="0"/>
                <a:ea typeface="DM Sans" pitchFamily="34" charset="-122"/>
                <a:cs typeface="DM Sans" pitchFamily="34" charset="-120"/>
              </a:rPr>
              <a:t> No participaron en el experimento</a:t>
            </a:r>
            <a:endParaRPr lang="en-US" sz="1400" dirty="0"/>
          </a:p>
        </p:txBody>
      </p:sp>
      <p:sp>
        <p:nvSpPr>
          <p:cNvPr id="10" name="Shape 8"/>
          <p:cNvSpPr/>
          <p:nvPr/>
        </p:nvSpPr>
        <p:spPr>
          <a:xfrm>
            <a:off x="812800" y="3259866"/>
            <a:ext cx="5194300" cy="1177131"/>
          </a:xfrm>
          <a:prstGeom prst="roundRect">
            <a:avLst>
              <a:gd name="adj" fmla="val 10789"/>
            </a:avLst>
          </a:prstGeom>
          <a:solidFill>
            <a:srgbClr val="F5F2EC"/>
          </a:solidFill>
          <a:ln/>
        </p:spPr>
      </p:sp>
      <p:sp>
        <p:nvSpPr>
          <p:cNvPr id="11" name="Text 9"/>
          <p:cNvSpPr/>
          <p:nvPr/>
        </p:nvSpPr>
        <p:spPr>
          <a:xfrm>
            <a:off x="1066800" y="3528417"/>
            <a:ext cx="1295202" cy="665427"/>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C8102E"/>
                </a:solidFill>
                <a:latin typeface="Space Grotesk" pitchFamily="34" charset="0"/>
                <a:ea typeface="Space Grotesk" pitchFamily="34" charset="-122"/>
                <a:cs typeface="Space Grotesk" pitchFamily="34" charset="-120"/>
              </a:rPr>
              <a:t>U + X</a:t>
            </a:r>
            <a:endParaRPr lang="en-US" sz="3600" dirty="0"/>
          </a:p>
        </p:txBody>
      </p:sp>
      <p:sp>
        <p:nvSpPr>
          <p:cNvPr id="12" name="Text 10"/>
          <p:cNvSpPr/>
          <p:nvPr/>
        </p:nvSpPr>
        <p:spPr>
          <a:xfrm>
            <a:off x="2362002" y="3608456"/>
            <a:ext cx="3492831" cy="505354"/>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31B2E"/>
                </a:solidFill>
                <a:latin typeface="DM Sans" pitchFamily="34" charset="0"/>
                <a:ea typeface="DM Sans" pitchFamily="34" charset="-122"/>
                <a:cs typeface="DM Sans" pitchFamily="34" charset="-120"/>
              </a:rPr>
              <a:t>géneros agrupados</a:t>
            </a:r>
            <a:r>
              <a:rPr lang="en-US" sz="1400" dirty="0">
                <a:solidFill>
                  <a:srgbClr val="4A5266"/>
                </a:solidFill>
                <a:latin typeface="DM Sans" pitchFamily="34" charset="0"/>
                <a:ea typeface="DM Sans" pitchFamily="34" charset="-122"/>
                <a:cs typeface="DM Sans" pitchFamily="34" charset="-120"/>
              </a:rPr>
              <a:t> en «Otro / No informado»: X solo tenía 3 casos</a:t>
            </a:r>
            <a:endParaRPr lang="en-US" sz="1400" dirty="0"/>
          </a:p>
        </p:txBody>
      </p:sp>
      <p:sp>
        <p:nvSpPr>
          <p:cNvPr id="13" name="Shape 11"/>
          <p:cNvSpPr/>
          <p:nvPr/>
        </p:nvSpPr>
        <p:spPr>
          <a:xfrm>
            <a:off x="6184900" y="3259866"/>
            <a:ext cx="5194300" cy="1177131"/>
          </a:xfrm>
          <a:prstGeom prst="roundRect">
            <a:avLst>
              <a:gd name="adj" fmla="val 10789"/>
            </a:avLst>
          </a:prstGeom>
          <a:solidFill>
            <a:srgbClr val="F5F2EC"/>
          </a:solidFill>
          <a:ln/>
        </p:spPr>
      </p:sp>
      <p:sp>
        <p:nvSpPr>
          <p:cNvPr id="14" name="Text 12"/>
          <p:cNvSpPr/>
          <p:nvPr/>
        </p:nvSpPr>
        <p:spPr>
          <a:xfrm>
            <a:off x="6438900" y="3528417"/>
            <a:ext cx="1735534" cy="665427"/>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C8102E"/>
                </a:solidFill>
                <a:latin typeface="Space Grotesk" pitchFamily="34" charset="0"/>
                <a:ea typeface="Space Grotesk" pitchFamily="34" charset="-122"/>
                <a:cs typeface="Space Grotesk" pitchFamily="34" charset="-120"/>
              </a:rPr>
              <a:t>Fechas</a:t>
            </a:r>
            <a:endParaRPr lang="en-US" sz="3600" dirty="0"/>
          </a:p>
        </p:txBody>
      </p:sp>
      <p:sp>
        <p:nvSpPr>
          <p:cNvPr id="15" name="Text 13"/>
          <p:cNvSpPr/>
          <p:nvPr/>
        </p:nvSpPr>
        <p:spPr>
          <a:xfrm>
            <a:off x="8174434" y="3488466"/>
            <a:ext cx="3039289" cy="745331"/>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31B2E"/>
                </a:solidFill>
                <a:latin typeface="DM Sans" pitchFamily="34" charset="0"/>
                <a:ea typeface="DM Sans" pitchFamily="34" charset="-122"/>
                <a:cs typeface="DM Sans" pitchFamily="34" charset="-120"/>
              </a:rPr>
              <a:t>de texto a fecha-hora</a:t>
            </a:r>
            <a:r>
              <a:rPr lang="en-US" sz="1400" dirty="0">
                <a:solidFill>
                  <a:srgbClr val="4A5266"/>
                </a:solidFill>
                <a:latin typeface="DM Sans" pitchFamily="34" charset="0"/>
                <a:ea typeface="DM Sans" pitchFamily="34" charset="-122"/>
                <a:cs typeface="DM Sans" pitchFamily="34" charset="-120"/>
              </a:rPr>
              <a:t> para medir el tiempo entre pasos de una misma visita</a:t>
            </a:r>
            <a:endParaRPr lang="en-US" sz="14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5"/>
                </a:solidFill>
                <a:latin typeface="DM Sans" pitchFamily="34" charset="0"/>
                <a:ea typeface="DM Sans" pitchFamily="34" charset="-122"/>
                <a:cs typeface="DM Sans" pitchFamily="34" charset="-120"/>
              </a:rPr>
              <a:t>05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DM Sans" pitchFamily="34" charset="0"/>
                <a:ea typeface="DM Sans" pitchFamily="34" charset="-122"/>
                <a:cs typeface="DM Sans" pitchFamily="34" charset="-120"/>
              </a:rPr>
              <a:t>ANÁLISIS EXPLORATORIO ·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1B2E"/>
                </a:solidFill>
                <a:latin typeface="Space Grotesk" pitchFamily="34" charset="0"/>
                <a:ea typeface="Space Grotesk" pitchFamily="34" charset="-122"/>
                <a:cs typeface="Space Grotesk" pitchFamily="34" charset="-120"/>
              </a:rPr>
              <a:t>Primeros hallazgos, antes de mirar el test</a:t>
            </a:r>
            <a:endParaRPr lang="en-US" sz="3200" dirty="0"/>
          </a:p>
        </p:txBody>
      </p:sp>
      <p:sp>
        <p:nvSpPr>
          <p:cNvPr id="4" name="Shape 2"/>
          <p:cNvSpPr/>
          <p:nvPr/>
        </p:nvSpPr>
        <p:spPr>
          <a:xfrm>
            <a:off x="819150" y="1809685"/>
            <a:ext cx="5181600" cy="1409634"/>
          </a:xfrm>
          <a:prstGeom prst="roundRect">
            <a:avLst>
              <a:gd name="adj" fmla="val 8559"/>
            </a:avLst>
          </a:prstGeom>
          <a:solidFill>
            <a:srgbClr val="FFFDF8"/>
          </a:solidFill>
          <a:ln w="12700">
            <a:solidFill>
              <a:srgbClr val="DDD5C6"/>
            </a:solidFill>
            <a:prstDash val="solid"/>
          </a:ln>
        </p:spPr>
      </p:sp>
      <p:sp>
        <p:nvSpPr>
          <p:cNvPr id="5" name="Text 3"/>
          <p:cNvSpPr/>
          <p:nvPr/>
        </p:nvSpPr>
        <p:spPr>
          <a:xfrm>
            <a:off x="1079500" y="2044635"/>
            <a:ext cx="48007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8102E"/>
                </a:solidFill>
                <a:latin typeface="DM Sans" pitchFamily="34" charset="0"/>
                <a:ea typeface="DM Sans" pitchFamily="34" charset="-122"/>
                <a:cs typeface="DM Sans" pitchFamily="34" charset="-120"/>
              </a:rPr>
              <a:t>01 · Edad</a:t>
            </a:r>
            <a:endParaRPr lang="en-US" sz="1200" dirty="0"/>
          </a:p>
        </p:txBody>
      </p:sp>
      <p:sp>
        <p:nvSpPr>
          <p:cNvPr id="6" name="Text 4"/>
          <p:cNvSpPr/>
          <p:nvPr/>
        </p:nvSpPr>
        <p:spPr>
          <a:xfrm>
            <a:off x="1079500" y="2359555"/>
            <a:ext cx="4800727"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1B2E"/>
                </a:solidFill>
                <a:latin typeface="Space Grotesk" pitchFamily="34" charset="0"/>
                <a:ea typeface="Space Grotesk" pitchFamily="34" charset="-122"/>
                <a:cs typeface="Space Grotesk" pitchFamily="34" charset="-120"/>
              </a:rPr>
              <a:t>Los jóvenes terminan más</a:t>
            </a:r>
            <a:endParaRPr lang="en-US" sz="1800" dirty="0"/>
          </a:p>
        </p:txBody>
      </p:sp>
      <p:sp>
        <p:nvSpPr>
          <p:cNvPr id="7" name="Text 5"/>
          <p:cNvSpPr/>
          <p:nvPr/>
        </p:nvSpPr>
        <p:spPr>
          <a:xfrm>
            <a:off x="1079500" y="2735461"/>
            <a:ext cx="480072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6"/>
                </a:solidFill>
                <a:latin typeface="DM Sans" pitchFamily="34" charset="0"/>
                <a:ea typeface="DM Sans" pitchFamily="34" charset="-122"/>
                <a:cs typeface="DM Sans" pitchFamily="34" charset="-120"/>
              </a:rPr>
              <a:t>Menores de 30: </a:t>
            </a:r>
            <a:r>
              <a:rPr lang="en-US" sz="1400" b="1" dirty="0">
                <a:solidFill>
                  <a:srgbClr val="131B2E"/>
                </a:solidFill>
                <a:latin typeface="DM Sans" pitchFamily="34" charset="0"/>
                <a:ea typeface="DM Sans" pitchFamily="34" charset="-122"/>
                <a:cs typeface="DM Sans" pitchFamily="34" charset="-120"/>
              </a:rPr>
              <a:t>71,3 %</a:t>
            </a:r>
            <a:r>
              <a:rPr lang="en-US" sz="1400" dirty="0">
                <a:solidFill>
                  <a:srgbClr val="4A5266"/>
                </a:solidFill>
                <a:latin typeface="DM Sans" pitchFamily="34" charset="0"/>
                <a:ea typeface="DM Sans" pitchFamily="34" charset="-122"/>
                <a:cs typeface="DM Sans" pitchFamily="34" charset="-120"/>
              </a:rPr>
              <a:t> · 60 o más: </a:t>
            </a:r>
            <a:r>
              <a:rPr lang="en-US" sz="1400" b="1" dirty="0">
                <a:solidFill>
                  <a:srgbClr val="131B2E"/>
                </a:solidFill>
                <a:latin typeface="DM Sans" pitchFamily="34" charset="0"/>
                <a:ea typeface="DM Sans" pitchFamily="34" charset="-122"/>
                <a:cs typeface="DM Sans" pitchFamily="34" charset="-120"/>
              </a:rPr>
              <a:t>62,9 %</a:t>
            </a:r>
            <a:endParaRPr lang="en-US" sz="1400" dirty="0"/>
          </a:p>
        </p:txBody>
      </p:sp>
      <p:sp>
        <p:nvSpPr>
          <p:cNvPr id="8" name="Shape 6"/>
          <p:cNvSpPr/>
          <p:nvPr/>
        </p:nvSpPr>
        <p:spPr>
          <a:xfrm>
            <a:off x="6191250" y="1809685"/>
            <a:ext cx="5181600" cy="1409634"/>
          </a:xfrm>
          <a:prstGeom prst="roundRect">
            <a:avLst>
              <a:gd name="adj" fmla="val 8559"/>
            </a:avLst>
          </a:prstGeom>
          <a:solidFill>
            <a:srgbClr val="FFFDF8"/>
          </a:solidFill>
          <a:ln w="12700">
            <a:solidFill>
              <a:srgbClr val="DDD5C6"/>
            </a:solidFill>
            <a:prstDash val="solid"/>
          </a:ln>
        </p:spPr>
      </p:sp>
      <p:sp>
        <p:nvSpPr>
          <p:cNvPr id="9" name="Text 7"/>
          <p:cNvSpPr/>
          <p:nvPr/>
        </p:nvSpPr>
        <p:spPr>
          <a:xfrm>
            <a:off x="6451600" y="2044635"/>
            <a:ext cx="48007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8102E"/>
                </a:solidFill>
                <a:latin typeface="DM Sans" pitchFamily="34" charset="0"/>
                <a:ea typeface="DM Sans" pitchFamily="34" charset="-122"/>
                <a:cs typeface="DM Sans" pitchFamily="34" charset="-120"/>
              </a:rPr>
              <a:t>02 · Abandono</a:t>
            </a:r>
            <a:endParaRPr lang="en-US" sz="1200" dirty="0"/>
          </a:p>
        </p:txBody>
      </p:sp>
      <p:sp>
        <p:nvSpPr>
          <p:cNvPr id="10" name="Text 8"/>
          <p:cNvSpPr/>
          <p:nvPr/>
        </p:nvSpPr>
        <p:spPr>
          <a:xfrm>
            <a:off x="6451600" y="2359555"/>
            <a:ext cx="4800727"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1B2E"/>
                </a:solidFill>
                <a:latin typeface="Space Grotesk" pitchFamily="34" charset="0"/>
                <a:ea typeface="Space Grotesk" pitchFamily="34" charset="-122"/>
                <a:cs typeface="Space Grotesk" pitchFamily="34" charset="-120"/>
              </a:rPr>
              <a:t>Casi 6 de cada 10 abandonos, en el inicio</a:t>
            </a:r>
            <a:endParaRPr lang="en-US" sz="1800" dirty="0"/>
          </a:p>
        </p:txBody>
      </p:sp>
      <p:sp>
        <p:nvSpPr>
          <p:cNvPr id="11" name="Text 9"/>
          <p:cNvSpPr/>
          <p:nvPr/>
        </p:nvSpPr>
        <p:spPr>
          <a:xfrm>
            <a:off x="6451600" y="2735461"/>
            <a:ext cx="49149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B2E"/>
                </a:solidFill>
                <a:latin typeface="DM Sans" pitchFamily="34" charset="0"/>
                <a:ea typeface="DM Sans" pitchFamily="34" charset="-122"/>
                <a:cs typeface="DM Sans" pitchFamily="34" charset="-120"/>
              </a:rPr>
              <a:t>18.774 visitas</a:t>
            </a:r>
            <a:r>
              <a:rPr lang="en-US" sz="1400" dirty="0">
                <a:solidFill>
                  <a:srgbClr val="4A5266"/>
                </a:solidFill>
                <a:latin typeface="DM Sans" pitchFamily="34" charset="0"/>
                <a:ea typeface="DM Sans" pitchFamily="34" charset="-122"/>
                <a:cs typeface="DM Sans" pitchFamily="34" charset="-120"/>
              </a:rPr>
              <a:t> sin terminar se quedaron en start (59,5 %)</a:t>
            </a:r>
            <a:endParaRPr lang="en-US" sz="1400" dirty="0"/>
          </a:p>
        </p:txBody>
      </p:sp>
      <p:sp>
        <p:nvSpPr>
          <p:cNvPr id="12" name="Shape 10"/>
          <p:cNvSpPr/>
          <p:nvPr/>
        </p:nvSpPr>
        <p:spPr>
          <a:xfrm>
            <a:off x="819150" y="3409820"/>
            <a:ext cx="5181600" cy="1658541"/>
          </a:xfrm>
          <a:prstGeom prst="roundRect">
            <a:avLst>
              <a:gd name="adj" fmla="val 7274"/>
            </a:avLst>
          </a:prstGeom>
          <a:solidFill>
            <a:srgbClr val="FFFDF8"/>
          </a:solidFill>
          <a:ln w="12700">
            <a:solidFill>
              <a:srgbClr val="DDD5C6"/>
            </a:solidFill>
            <a:prstDash val="solid"/>
          </a:ln>
        </p:spPr>
      </p:sp>
      <p:sp>
        <p:nvSpPr>
          <p:cNvPr id="13" name="Text 11"/>
          <p:cNvSpPr/>
          <p:nvPr/>
        </p:nvSpPr>
        <p:spPr>
          <a:xfrm>
            <a:off x="1079500" y="3644770"/>
            <a:ext cx="48007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8102E"/>
                </a:solidFill>
                <a:latin typeface="DM Sans" pitchFamily="34" charset="0"/>
                <a:ea typeface="DM Sans" pitchFamily="34" charset="-122"/>
                <a:cs typeface="DM Sans" pitchFamily="34" charset="-120"/>
              </a:rPr>
              <a:t>03 · Antigüedad</a:t>
            </a:r>
            <a:endParaRPr lang="en-US" sz="1200" dirty="0"/>
          </a:p>
        </p:txBody>
      </p:sp>
      <p:sp>
        <p:nvSpPr>
          <p:cNvPr id="14" name="Text 12"/>
          <p:cNvSpPr/>
          <p:nvPr/>
        </p:nvSpPr>
        <p:spPr>
          <a:xfrm>
            <a:off x="1079500" y="3959690"/>
            <a:ext cx="4800727"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1B2E"/>
                </a:solidFill>
                <a:latin typeface="Space Grotesk" pitchFamily="34" charset="0"/>
                <a:ea typeface="Space Grotesk" pitchFamily="34" charset="-122"/>
                <a:cs typeface="Space Grotesk" pitchFamily="34" charset="-120"/>
              </a:rPr>
              <a:t>Más años en Vanguard, no más rapidez</a:t>
            </a:r>
            <a:endParaRPr lang="en-US" sz="1800" dirty="0"/>
          </a:p>
        </p:txBody>
      </p:sp>
      <p:sp>
        <p:nvSpPr>
          <p:cNvPr id="15" name="Text 13"/>
          <p:cNvSpPr/>
          <p:nvPr/>
        </p:nvSpPr>
        <p:spPr>
          <a:xfrm>
            <a:off x="1079500" y="4335596"/>
            <a:ext cx="4800727"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6"/>
                </a:solidFill>
                <a:latin typeface="DM Sans" pitchFamily="34" charset="0"/>
                <a:ea typeface="DM Sans" pitchFamily="34" charset="-122"/>
                <a:cs typeface="DM Sans" pitchFamily="34" charset="-120"/>
              </a:rPr>
              <a:t>Tiempo mediano para terminar: de </a:t>
            </a:r>
            <a:r>
              <a:rPr lang="en-US" sz="1400" b="1" dirty="0">
                <a:solidFill>
                  <a:srgbClr val="131B2E"/>
                </a:solidFill>
                <a:latin typeface="DM Sans" pitchFamily="34" charset="0"/>
                <a:ea typeface="DM Sans" pitchFamily="34" charset="-122"/>
                <a:cs typeface="DM Sans" pitchFamily="34" charset="-120"/>
              </a:rPr>
              <a:t>3,90 min</a:t>
            </a:r>
            <a:r>
              <a:rPr lang="en-US" sz="1400" dirty="0">
                <a:solidFill>
                  <a:srgbClr val="4A5266"/>
                </a:solidFill>
                <a:latin typeface="DM Sans" pitchFamily="34" charset="0"/>
                <a:ea typeface="DM Sans" pitchFamily="34" charset="-122"/>
                <a:cs typeface="DM Sans" pitchFamily="34" charset="-120"/>
              </a:rPr>
              <a:t> (0–4 años) a </a:t>
            </a:r>
            <a:r>
              <a:rPr lang="en-US" sz="1400" b="1" dirty="0">
                <a:solidFill>
                  <a:srgbClr val="131B2E"/>
                </a:solidFill>
                <a:latin typeface="DM Sans" pitchFamily="34" charset="0"/>
                <a:ea typeface="DM Sans" pitchFamily="34" charset="-122"/>
                <a:cs typeface="DM Sans" pitchFamily="34" charset="-120"/>
              </a:rPr>
              <a:t>4,53 min</a:t>
            </a:r>
            <a:r>
              <a:rPr lang="en-US" sz="1400" dirty="0">
                <a:solidFill>
                  <a:srgbClr val="4A5266"/>
                </a:solidFill>
                <a:latin typeface="DM Sans" pitchFamily="34" charset="0"/>
                <a:ea typeface="DM Sans" pitchFamily="34" charset="-122"/>
                <a:cs typeface="DM Sans" pitchFamily="34" charset="-120"/>
              </a:rPr>
              <a:t> (20 o más)</a:t>
            </a:r>
            <a:endParaRPr lang="en-US" sz="1400" dirty="0"/>
          </a:p>
        </p:txBody>
      </p:sp>
      <p:sp>
        <p:nvSpPr>
          <p:cNvPr id="16" name="Shape 14"/>
          <p:cNvSpPr/>
          <p:nvPr/>
        </p:nvSpPr>
        <p:spPr>
          <a:xfrm>
            <a:off x="6191250" y="3409820"/>
            <a:ext cx="5181600" cy="1658541"/>
          </a:xfrm>
          <a:prstGeom prst="roundRect">
            <a:avLst>
              <a:gd name="adj" fmla="val 7274"/>
            </a:avLst>
          </a:prstGeom>
          <a:solidFill>
            <a:srgbClr val="FFFDF8"/>
          </a:solidFill>
          <a:ln w="12700">
            <a:solidFill>
              <a:srgbClr val="DDD5C6"/>
            </a:solidFill>
            <a:prstDash val="solid"/>
          </a:ln>
        </p:spPr>
      </p:sp>
      <p:sp>
        <p:nvSpPr>
          <p:cNvPr id="17" name="Text 15"/>
          <p:cNvSpPr/>
          <p:nvPr/>
        </p:nvSpPr>
        <p:spPr>
          <a:xfrm>
            <a:off x="6451600" y="3644770"/>
            <a:ext cx="48007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8102E"/>
                </a:solidFill>
                <a:latin typeface="DM Sans" pitchFamily="34" charset="0"/>
                <a:ea typeface="DM Sans" pitchFamily="34" charset="-122"/>
                <a:cs typeface="DM Sans" pitchFamily="34" charset="-120"/>
              </a:rPr>
              <a:t>04 · Saldo</a:t>
            </a:r>
            <a:endParaRPr lang="en-US" sz="1200" dirty="0"/>
          </a:p>
        </p:txBody>
      </p:sp>
      <p:sp>
        <p:nvSpPr>
          <p:cNvPr id="18" name="Text 16"/>
          <p:cNvSpPr/>
          <p:nvPr/>
        </p:nvSpPr>
        <p:spPr>
          <a:xfrm>
            <a:off x="6451600" y="3959690"/>
            <a:ext cx="4800727"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1B2E"/>
                </a:solidFill>
                <a:latin typeface="Space Grotesk" pitchFamily="34" charset="0"/>
                <a:ea typeface="Space Grotesk" pitchFamily="34" charset="-122"/>
                <a:cs typeface="Space Grotesk" pitchFamily="34" charset="-120"/>
              </a:rPr>
              <a:t>Los mayores tienen 2,4 veces más saldo</a:t>
            </a:r>
            <a:endParaRPr lang="en-US" sz="1800" dirty="0"/>
          </a:p>
        </p:txBody>
      </p:sp>
      <p:sp>
        <p:nvSpPr>
          <p:cNvPr id="19" name="Text 17"/>
          <p:cNvSpPr/>
          <p:nvPr/>
        </p:nvSpPr>
        <p:spPr>
          <a:xfrm>
            <a:off x="6451600" y="4335596"/>
            <a:ext cx="4800727"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6"/>
                </a:solidFill>
                <a:latin typeface="DM Sans" pitchFamily="34" charset="0"/>
                <a:ea typeface="DM Sans" pitchFamily="34" charset="-122"/>
                <a:cs typeface="DM Sans" pitchFamily="34" charset="-120"/>
              </a:rPr>
              <a:t>Saldo mediano: </a:t>
            </a:r>
            <a:r>
              <a:rPr lang="en-US" sz="1400" b="1" dirty="0">
                <a:solidFill>
                  <a:srgbClr val="131B2E"/>
                </a:solidFill>
                <a:latin typeface="DM Sans" pitchFamily="34" charset="0"/>
                <a:ea typeface="DM Sans" pitchFamily="34" charset="-122"/>
                <a:cs typeface="DM Sans" pitchFamily="34" charset="-120"/>
              </a:rPr>
              <a:t>44.485</a:t>
            </a:r>
            <a:r>
              <a:rPr lang="en-US" sz="1400" dirty="0">
                <a:solidFill>
                  <a:srgbClr val="4A5266"/>
                </a:solidFill>
                <a:latin typeface="DM Sans" pitchFamily="34" charset="0"/>
                <a:ea typeface="DM Sans" pitchFamily="34" charset="-122"/>
                <a:cs typeface="DM Sans" pitchFamily="34" charset="-120"/>
              </a:rPr>
              <a:t> (menores de 30) frente a </a:t>
            </a:r>
            <a:r>
              <a:rPr lang="en-US" sz="1400" b="1" dirty="0">
                <a:solidFill>
                  <a:srgbClr val="131B2E"/>
                </a:solidFill>
                <a:latin typeface="DM Sans" pitchFamily="34" charset="0"/>
                <a:ea typeface="DM Sans" pitchFamily="34" charset="-122"/>
                <a:cs typeface="DM Sans" pitchFamily="34" charset="-120"/>
              </a:rPr>
              <a:t>107.435</a:t>
            </a:r>
            <a:r>
              <a:rPr lang="en-US" sz="1400" dirty="0">
                <a:solidFill>
                  <a:srgbClr val="4A5266"/>
                </a:solidFill>
                <a:latin typeface="DM Sans" pitchFamily="34" charset="0"/>
                <a:ea typeface="DM Sans" pitchFamily="34" charset="-122"/>
                <a:cs typeface="DM Sans" pitchFamily="34" charset="-120"/>
              </a:rPr>
              <a:t> (60 o más)</a:t>
            </a:r>
            <a:endParaRPr lang="en-US" sz="1400" dirty="0"/>
          </a:p>
        </p:txBody>
      </p:sp>
      <p:sp>
        <p:nvSpPr>
          <p:cNvPr id="20" name="Text 18"/>
          <p:cNvSpPr/>
          <p:nvPr/>
        </p:nvSpPr>
        <p:spPr>
          <a:xfrm>
            <a:off x="819150" y="553396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Clientes del experimento, ambos grupos juntos</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5"/>
                </a:solidFill>
                <a:latin typeface="DM Sans" pitchFamily="34" charset="0"/>
                <a:ea typeface="DM Sans" pitchFamily="34" charset="-122"/>
                <a:cs typeface="DM Sans" pitchFamily="34" charset="-120"/>
              </a:rPr>
              <a:t>07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EAE5D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DM Sans" pitchFamily="34" charset="0"/>
                <a:ea typeface="DM Sans" pitchFamily="34" charset="-122"/>
                <a:cs typeface="DM Sans" pitchFamily="34" charset="-120"/>
              </a:rPr>
              <a:t>MÉTRICAS DE RENDIMIENTO</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1B2E"/>
                </a:solidFill>
                <a:latin typeface="Space Grotesk" pitchFamily="34" charset="0"/>
                <a:ea typeface="Space Grotesk" pitchFamily="34" charset="-122"/>
                <a:cs typeface="Space Grotesk" pitchFamily="34" charset="-120"/>
              </a:rPr>
              <a:t>Cuatro KPIs para medir el nuevo diseño</a:t>
            </a:r>
            <a:endParaRPr lang="en-US" sz="3200" dirty="0"/>
          </a:p>
        </p:txBody>
      </p:sp>
      <p:sp>
        <p:nvSpPr>
          <p:cNvPr id="4" name="Shape 2"/>
          <p:cNvSpPr/>
          <p:nvPr/>
        </p:nvSpPr>
        <p:spPr>
          <a:xfrm>
            <a:off x="812800" y="1854135"/>
            <a:ext cx="10566400" cy="1942505"/>
          </a:xfrm>
          <a:prstGeom prst="roundRect">
            <a:avLst>
              <a:gd name="adj" fmla="val 5230"/>
            </a:avLst>
          </a:prstGeom>
          <a:solidFill>
            <a:srgbClr val="F5F2EC"/>
          </a:solidFill>
          <a:ln/>
        </p:spPr>
      </p:sp>
      <p:sp>
        <p:nvSpPr>
          <p:cNvPr id="5" name="Shape 3"/>
          <p:cNvSpPr/>
          <p:nvPr/>
        </p:nvSpPr>
        <p:spPr>
          <a:xfrm>
            <a:off x="812800" y="1854135"/>
            <a:ext cx="10566400" cy="1942505"/>
          </a:xfrm>
          <a:custGeom>
            <a:avLst/>
            <a:gdLst/>
            <a:ahLst/>
            <a:cxnLst/>
            <a:rect l="l" t="t" r="r" b="b"/>
            <a:pathLst>
              <a:path w="10566400" h="1942505">
                <a:moveTo>
                  <a:pt x="101600" y="1942505"/>
                </a:moveTo>
                <a:lnTo>
                  <a:pt x="101600" y="1942505"/>
                </a:lnTo>
                <a:arcTo wR="101600" hR="101600" stAng="5400000" swAng="5400000"/>
                <a:lnTo>
                  <a:pt x="0" y="101600"/>
                </a:lnTo>
                <a:arcTo wR="101600" hR="101600" stAng="10800000" swAng="5400000"/>
                <a:lnTo>
                  <a:pt x="10464800" y="0"/>
                </a:lnTo>
                <a:arcTo wR="101600" hR="101600" stAng="16200000" swAng="5400000"/>
                <a:lnTo>
                  <a:pt x="10566400" y="101600"/>
                </a:lnTo>
                <a:arcTo wR="101600" hR="88900" stAng="0" swAng="-5400000"/>
                <a:lnTo>
                  <a:pt x="101600" y="12700"/>
                </a:lnTo>
                <a:arcTo wR="88900" hR="88900" stAng="16200000" swAng="-5400000"/>
                <a:lnTo>
                  <a:pt x="12700" y="1840905"/>
                </a:lnTo>
                <a:arcTo wR="88900" hR="1016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66835"/>
          <a:ext cx="10553700" cy="1929805"/>
        </p:xfrm>
        <a:graphic>
          <a:graphicData uri="http://schemas.openxmlformats.org/drawingml/2006/table">
            <a:tbl>
              <a:tblPr/>
              <a:tblGrid>
                <a:gridCol w="2321814">
                  <a:extLst>
                    <a:ext uri="{9D8B030D-6E8A-4147-A177-3AD203B41FA5}">
                      <a16:colId xmlns:a16="http://schemas.microsoft.com/office/drawing/2014/main" val="20000"/>
                    </a:ext>
                  </a:extLst>
                </a:gridCol>
                <a:gridCol w="3799332">
                  <a:extLst>
                    <a:ext uri="{9D8B030D-6E8A-4147-A177-3AD203B41FA5}">
                      <a16:colId xmlns:a16="http://schemas.microsoft.com/office/drawing/2014/main" val="20001"/>
                    </a:ext>
                  </a:extLst>
                </a:gridCol>
                <a:gridCol w="1477518">
                  <a:extLst>
                    <a:ext uri="{9D8B030D-6E8A-4147-A177-3AD203B41FA5}">
                      <a16:colId xmlns:a16="http://schemas.microsoft.com/office/drawing/2014/main" val="20002"/>
                    </a:ext>
                  </a:extLst>
                </a:gridCol>
                <a:gridCol w="1477518">
                  <a:extLst>
                    <a:ext uri="{9D8B030D-6E8A-4147-A177-3AD203B41FA5}">
                      <a16:colId xmlns:a16="http://schemas.microsoft.com/office/drawing/2014/main" val="20003"/>
                    </a:ext>
                  </a:extLst>
                </a:gridCol>
                <a:gridCol w="1477518">
                  <a:extLst>
                    <a:ext uri="{9D8B030D-6E8A-4147-A177-3AD203B41FA5}">
                      <a16:colId xmlns:a16="http://schemas.microsoft.com/office/drawing/2014/main" val="20004"/>
                    </a:ext>
                  </a:extLst>
                </a:gridCol>
              </a:tblGrid>
              <a:tr h="385961">
                <a:tc>
                  <a:txBody>
                    <a:bodyPr/>
                    <a:lstStyle/>
                    <a:p>
                      <a:pPr marL="0" indent="0">
                        <a:lnSpc>
                          <a:spcPts val="1960"/>
                        </a:lnSpc>
                        <a:buNone/>
                      </a:pPr>
                      <a:r>
                        <a:rPr lang="en-US" sz="1400" b="1" dirty="0">
                          <a:solidFill>
                            <a:srgbClr val="F5F2EC"/>
                          </a:solidFill>
                          <a:latin typeface="DM Sans" pitchFamily="34" charset="0"/>
                          <a:ea typeface="DM Sans" pitchFamily="34" charset="-122"/>
                          <a:cs typeface="DM Sans" pitchFamily="34" charset="-120"/>
                        </a:rPr>
                        <a:t>KPI</a:t>
                      </a:r>
                      <a:endParaRPr lang="en-US" sz="1400" dirty="0">
                        <a:latin typeface="DM Sans" charset="0"/>
                        <a:ea typeface="DM Sans" charset="0"/>
                        <a:cs typeface="DM Sans" charset="0"/>
                      </a:endParaRPr>
                    </a:p>
                  </a:txBody>
                  <a:tcPr marL="62230" marR="62230" marT="62230" marB="62230">
                    <a:lnL w="0" cap="flat" cmpd="sng" algn="ctr">
                      <a:noFill/>
                    </a:lnL>
                    <a:lnR w="12700" cap="flat" cmpd="sng" algn="ctr">
                      <a:solidFill>
                        <a:srgbClr val="131928"/>
                      </a:solidFill>
                      <a:prstDash val="solid"/>
                      <a:round/>
                      <a:headEnd type="none" w="med" len="med"/>
                      <a:tailEnd type="none" w="med" len="med"/>
                    </a:lnR>
                    <a:lnT w="0" cap="flat" cmpd="sng" algn="ctr">
                      <a:noFill/>
                    </a:lnT>
                    <a:lnB w="12700" cap="flat" cmpd="sng" algn="ctr">
                      <a:solidFill>
                        <a:srgbClr val="131928"/>
                      </a:solidFill>
                      <a:prstDash val="solid"/>
                      <a:round/>
                      <a:headEnd type="none" w="med" len="med"/>
                      <a:tailEnd type="none" w="med" len="med"/>
                    </a:lnB>
                    <a:solidFill>
                      <a:srgbClr val="131B2E"/>
                    </a:solidFill>
                  </a:tcPr>
                </a:tc>
                <a:tc>
                  <a:txBody>
                    <a:bodyPr/>
                    <a:lstStyle/>
                    <a:p>
                      <a:pPr marL="0" indent="0">
                        <a:lnSpc>
                          <a:spcPts val="1960"/>
                        </a:lnSpc>
                        <a:buNone/>
                      </a:pPr>
                      <a:r>
                        <a:rPr lang="en-US" sz="1400" b="1" dirty="0">
                          <a:solidFill>
                            <a:srgbClr val="F5F2EC"/>
                          </a:solidFill>
                          <a:latin typeface="DM Sans" pitchFamily="34" charset="0"/>
                          <a:ea typeface="DM Sans" pitchFamily="34" charset="-122"/>
                          <a:cs typeface="DM Sans" pitchFamily="34" charset="-120"/>
                        </a:rPr>
                        <a:t>Qué mide</a:t>
                      </a:r>
                      <a:endParaRPr lang="en-US" sz="1400" dirty="0">
                        <a:latin typeface="DM Sans" charset="0"/>
                        <a:ea typeface="DM Sans" charset="0"/>
                        <a:cs typeface="DM Sans" charset="0"/>
                      </a:endParaRPr>
                    </a:p>
                  </a:txBody>
                  <a:tcPr marL="62230" marR="62230" marT="62230" marB="62230">
                    <a:lnL w="12700" cap="flat" cmpd="sng" algn="ctr">
                      <a:solidFill>
                        <a:srgbClr val="131928"/>
                      </a:solidFill>
                      <a:prstDash val="solid"/>
                      <a:round/>
                      <a:headEnd type="none" w="med" len="med"/>
                      <a:tailEnd type="none" w="med" len="med"/>
                    </a:lnL>
                    <a:lnR w="12700" cap="flat" cmpd="sng" algn="ctr">
                      <a:solidFill>
                        <a:srgbClr val="131928"/>
                      </a:solidFill>
                      <a:prstDash val="solid"/>
                      <a:round/>
                      <a:headEnd type="none" w="med" len="med"/>
                      <a:tailEnd type="none" w="med" len="med"/>
                    </a:lnR>
                    <a:lnT w="0" cap="flat" cmpd="sng" algn="ctr">
                      <a:noFill/>
                    </a:lnT>
                    <a:lnB w="12700" cap="flat" cmpd="sng" algn="ctr">
                      <a:solidFill>
                        <a:srgbClr val="131928"/>
                      </a:solidFill>
                      <a:prstDash val="solid"/>
                      <a:round/>
                      <a:headEnd type="none" w="med" len="med"/>
                      <a:tailEnd type="none" w="med" len="med"/>
                    </a:lnB>
                    <a:solidFill>
                      <a:srgbClr val="131B2E"/>
                    </a:solidFill>
                  </a:tcPr>
                </a:tc>
                <a:tc>
                  <a:txBody>
                    <a:bodyPr/>
                    <a:lstStyle/>
                    <a:p>
                      <a:pPr marL="0" indent="0" algn="r">
                        <a:lnSpc>
                          <a:spcPts val="1960"/>
                        </a:lnSpc>
                        <a:buNone/>
                      </a:pPr>
                      <a:r>
                        <a:rPr lang="en-US" sz="1400" b="1" dirty="0">
                          <a:solidFill>
                            <a:srgbClr val="F5F2EC"/>
                          </a:solidFill>
                          <a:latin typeface="DM Sans" pitchFamily="34" charset="0"/>
                          <a:ea typeface="DM Sans" pitchFamily="34" charset="-122"/>
                          <a:cs typeface="DM Sans" pitchFamily="34" charset="-120"/>
                        </a:rPr>
                        <a:t>Control</a:t>
                      </a:r>
                      <a:endParaRPr lang="en-US" sz="1400" dirty="0">
                        <a:latin typeface="DM Sans" charset="0"/>
                        <a:ea typeface="DM Sans" charset="0"/>
                        <a:cs typeface="DM Sans" charset="0"/>
                      </a:endParaRPr>
                    </a:p>
                  </a:txBody>
                  <a:tcPr marL="62230" marR="62230" marT="62230" marB="62230">
                    <a:lnL w="12700" cap="flat" cmpd="sng" algn="ctr">
                      <a:solidFill>
                        <a:srgbClr val="131928"/>
                      </a:solidFill>
                      <a:prstDash val="solid"/>
                      <a:round/>
                      <a:headEnd type="none" w="med" len="med"/>
                      <a:tailEnd type="none" w="med" len="med"/>
                    </a:lnL>
                    <a:lnR w="12700" cap="flat" cmpd="sng" algn="ctr">
                      <a:solidFill>
                        <a:srgbClr val="131928"/>
                      </a:solidFill>
                      <a:prstDash val="solid"/>
                      <a:round/>
                      <a:headEnd type="none" w="med" len="med"/>
                      <a:tailEnd type="none" w="med" len="med"/>
                    </a:lnR>
                    <a:lnT w="0" cap="flat" cmpd="sng" algn="ctr">
                      <a:noFill/>
                    </a:lnT>
                    <a:lnB w="12700" cap="flat" cmpd="sng" algn="ctr">
                      <a:solidFill>
                        <a:srgbClr val="131928"/>
                      </a:solidFill>
                      <a:prstDash val="solid"/>
                      <a:round/>
                      <a:headEnd type="none" w="med" len="med"/>
                      <a:tailEnd type="none" w="med" len="med"/>
                    </a:lnB>
                    <a:solidFill>
                      <a:srgbClr val="131B2E"/>
                    </a:solidFill>
                  </a:tcPr>
                </a:tc>
                <a:tc>
                  <a:txBody>
                    <a:bodyPr/>
                    <a:lstStyle/>
                    <a:p>
                      <a:pPr marL="0" indent="0" algn="r">
                        <a:lnSpc>
                          <a:spcPts val="1960"/>
                        </a:lnSpc>
                        <a:buNone/>
                      </a:pPr>
                      <a:r>
                        <a:rPr lang="en-US" sz="1400" b="1" dirty="0">
                          <a:solidFill>
                            <a:srgbClr val="F5F2EC"/>
                          </a:solidFill>
                          <a:latin typeface="DM Sans" pitchFamily="34" charset="0"/>
                          <a:ea typeface="DM Sans" pitchFamily="34" charset="-122"/>
                          <a:cs typeface="DM Sans" pitchFamily="34" charset="-120"/>
                        </a:rPr>
                        <a:t>Test</a:t>
                      </a:r>
                      <a:endParaRPr lang="en-US" sz="1400" dirty="0">
                        <a:latin typeface="DM Sans" charset="0"/>
                        <a:ea typeface="DM Sans" charset="0"/>
                        <a:cs typeface="DM Sans" charset="0"/>
                      </a:endParaRPr>
                    </a:p>
                  </a:txBody>
                  <a:tcPr marL="62230" marR="62230" marT="62230" marB="62230">
                    <a:lnL w="12700" cap="flat" cmpd="sng" algn="ctr">
                      <a:solidFill>
                        <a:srgbClr val="131928"/>
                      </a:solidFill>
                      <a:prstDash val="solid"/>
                      <a:round/>
                      <a:headEnd type="none" w="med" len="med"/>
                      <a:tailEnd type="none" w="med" len="med"/>
                    </a:lnL>
                    <a:lnR w="12700" cap="flat" cmpd="sng" algn="ctr">
                      <a:solidFill>
                        <a:srgbClr val="131928"/>
                      </a:solidFill>
                      <a:prstDash val="solid"/>
                      <a:round/>
                      <a:headEnd type="none" w="med" len="med"/>
                      <a:tailEnd type="none" w="med" len="med"/>
                    </a:lnR>
                    <a:lnT w="0" cap="flat" cmpd="sng" algn="ctr">
                      <a:noFill/>
                    </a:lnT>
                    <a:lnB w="12700" cap="flat" cmpd="sng" algn="ctr">
                      <a:solidFill>
                        <a:srgbClr val="131928"/>
                      </a:solidFill>
                      <a:prstDash val="solid"/>
                      <a:round/>
                      <a:headEnd type="none" w="med" len="med"/>
                      <a:tailEnd type="none" w="med" len="med"/>
                    </a:lnB>
                    <a:solidFill>
                      <a:srgbClr val="131B2E"/>
                    </a:solidFill>
                  </a:tcPr>
                </a:tc>
                <a:tc>
                  <a:txBody>
                    <a:bodyPr/>
                    <a:lstStyle/>
                    <a:p>
                      <a:pPr marL="0" indent="0">
                        <a:lnSpc>
                          <a:spcPts val="1960"/>
                        </a:lnSpc>
                        <a:buNone/>
                      </a:pPr>
                      <a:r>
                        <a:rPr lang="en-US" sz="1400" b="1" dirty="0">
                          <a:solidFill>
                            <a:srgbClr val="F5F2EC"/>
                          </a:solidFill>
                          <a:latin typeface="DM Sans" pitchFamily="34" charset="0"/>
                          <a:ea typeface="DM Sans" pitchFamily="34" charset="-122"/>
                          <a:cs typeface="DM Sans" pitchFamily="34" charset="-120"/>
                        </a:rPr>
                        <a:t>Test es…</a:t>
                      </a:r>
                      <a:endParaRPr lang="en-US" sz="1400" dirty="0">
                        <a:latin typeface="DM Sans" charset="0"/>
                        <a:ea typeface="DM Sans" charset="0"/>
                        <a:cs typeface="DM Sans" charset="0"/>
                      </a:endParaRPr>
                    </a:p>
                  </a:txBody>
                  <a:tcPr marL="62230" marR="62230" marT="62230" marB="62230">
                    <a:lnL w="12700" cap="flat" cmpd="sng" algn="ctr">
                      <a:solidFill>
                        <a:srgbClr val="131928"/>
                      </a:solidFill>
                      <a:prstDash val="solid"/>
                      <a:round/>
                      <a:headEnd type="none" w="med" len="med"/>
                      <a:tailEnd type="none" w="med" len="med"/>
                    </a:lnL>
                    <a:lnR w="12700" cap="flat" cmpd="sng" algn="ctr">
                      <a:solidFill>
                        <a:srgbClr val="131928"/>
                      </a:solidFill>
                      <a:prstDash val="solid"/>
                      <a:round/>
                      <a:headEnd type="none" w="med" len="med"/>
                      <a:tailEnd type="none" w="med" len="med"/>
                    </a:lnR>
                    <a:lnT w="0" cap="flat" cmpd="sng" algn="ctr">
                      <a:noFill/>
                    </a:lnT>
                    <a:lnB w="12700" cap="flat" cmpd="sng" algn="ctr">
                      <a:solidFill>
                        <a:srgbClr val="131928"/>
                      </a:solidFill>
                      <a:prstDash val="solid"/>
                      <a:round/>
                      <a:headEnd type="none" w="med" len="med"/>
                      <a:tailEnd type="none" w="med" len="med"/>
                    </a:lnB>
                    <a:solidFill>
                      <a:srgbClr val="131B2E"/>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31B2E"/>
                          </a:solidFill>
                          <a:latin typeface="DM Sans" pitchFamily="34" charset="0"/>
                          <a:ea typeface="DM Sans" pitchFamily="34" charset="-122"/>
                          <a:cs typeface="DM Sans" pitchFamily="34" charset="-120"/>
                        </a:rPr>
                        <a:t>Finalización</a:t>
                      </a:r>
                      <a:endParaRPr lang="en-US" sz="1400" dirty="0">
                        <a:latin typeface="DM Sans" charset="0"/>
                        <a:ea typeface="DM Sans" charset="0"/>
                        <a:cs typeface="DM Sans" charset="0"/>
                      </a:endParaRPr>
                    </a:p>
                  </a:txBody>
                  <a:tcPr marL="62230" marR="62230" marT="62230" marB="62230">
                    <a:lnL w="0" cap="flat" cmpd="sng" algn="ctr">
                      <a:noFill/>
                    </a:lnL>
                    <a:lnR w="12700" cap="flat" cmpd="sng" algn="ctr">
                      <a:solidFill>
                        <a:srgbClr val="C4C1BC"/>
                      </a:solidFill>
                      <a:prstDash val="solid"/>
                      <a:round/>
                      <a:headEnd type="none" w="med" len="med"/>
                      <a:tailEnd type="none" w="med" len="med"/>
                    </a:lnR>
                    <a:lnT w="12700" cap="flat" cmpd="sng" algn="ctr">
                      <a:solidFill>
                        <a:srgbClr val="131928"/>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960"/>
                        </a:lnSpc>
                        <a:buNone/>
                      </a:pPr>
                      <a:r>
                        <a:rPr lang="en-US" sz="1400" dirty="0">
                          <a:solidFill>
                            <a:srgbClr val="131B2E"/>
                          </a:solidFill>
                          <a:latin typeface="DM Sans" pitchFamily="34" charset="0"/>
                          <a:ea typeface="DM Sans" pitchFamily="34" charset="-122"/>
                          <a:cs typeface="DM Sans" pitchFamily="34" charset="-120"/>
                        </a:rPr>
                        <a:t>% de clientes que llegan a confirmar</a:t>
                      </a:r>
                      <a:endParaRPr lang="en-US" sz="1400" dirty="0">
                        <a:latin typeface="DM Sans" charset="0"/>
                        <a:ea typeface="DM Sans" charset="0"/>
                        <a:cs typeface="DM Sans" charset="0"/>
                      </a:endParaRPr>
                    </a:p>
                  </a:txBody>
                  <a:tcPr marL="62230" marR="62230" marT="62230" marB="62230">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131928"/>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960"/>
                        </a:lnSpc>
                        <a:buNone/>
                      </a:pPr>
                      <a:r>
                        <a:rPr lang="en-US" sz="1400" dirty="0">
                          <a:solidFill>
                            <a:srgbClr val="131B2E"/>
                          </a:solidFill>
                          <a:latin typeface="DM Sans" pitchFamily="34" charset="0"/>
                          <a:ea typeface="DM Sans" pitchFamily="34" charset="-122"/>
                          <a:cs typeface="DM Sans" pitchFamily="34" charset="-120"/>
                        </a:rPr>
                        <a:t>65,6 %</a:t>
                      </a:r>
                      <a:endParaRPr lang="en-US" sz="1400" dirty="0">
                        <a:latin typeface="DM Sans" charset="0"/>
                        <a:ea typeface="DM Sans" charset="0"/>
                        <a:cs typeface="DM Sans" charset="0"/>
                      </a:endParaRPr>
                    </a:p>
                  </a:txBody>
                  <a:tcPr marL="62230" marR="62230" marT="62230" marB="62230">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131928"/>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960"/>
                        </a:lnSpc>
                        <a:buNone/>
                      </a:pPr>
                      <a:r>
                        <a:rPr lang="en-US" sz="1400" dirty="0">
                          <a:solidFill>
                            <a:srgbClr val="131B2E"/>
                          </a:solidFill>
                          <a:latin typeface="DM Sans" pitchFamily="34" charset="0"/>
                          <a:ea typeface="DM Sans" pitchFamily="34" charset="-122"/>
                          <a:cs typeface="DM Sans" pitchFamily="34" charset="-120"/>
                        </a:rPr>
                        <a:t>69,3 %</a:t>
                      </a:r>
                      <a:endParaRPr lang="en-US" sz="1400" dirty="0">
                        <a:latin typeface="DM Sans" charset="0"/>
                        <a:ea typeface="DM Sans" charset="0"/>
                        <a:cs typeface="DM Sans" charset="0"/>
                      </a:endParaRPr>
                    </a:p>
                  </a:txBody>
                  <a:tcPr marL="62230" marR="62230" marT="62230" marB="62230">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131928"/>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960"/>
                        </a:lnSpc>
                        <a:buNone/>
                      </a:pPr>
                      <a:r>
                        <a:rPr lang="en-US" sz="1400" dirty="0">
                          <a:solidFill>
                            <a:srgbClr val="1F6E43"/>
                          </a:solidFill>
                          <a:latin typeface="DM Sans" pitchFamily="34" charset="0"/>
                          <a:ea typeface="DM Sans" pitchFamily="34" charset="-122"/>
                          <a:cs typeface="DM Sans" pitchFamily="34" charset="-120"/>
                        </a:rPr>
                        <a:t>Mejor</a:t>
                      </a:r>
                      <a:endParaRPr lang="en-US" sz="1400" dirty="0">
                        <a:latin typeface="DM Sans" charset="0"/>
                        <a:ea typeface="DM Sans" charset="0"/>
                        <a:cs typeface="DM Sans" charset="0"/>
                      </a:endParaRPr>
                    </a:p>
                  </a:txBody>
                  <a:tcPr marL="62230" marR="62230" marT="62230" marB="62230">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131928"/>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31B2E"/>
                          </a:solidFill>
                          <a:latin typeface="DM Sans" pitchFamily="34" charset="0"/>
                          <a:ea typeface="DM Sans" pitchFamily="34" charset="-122"/>
                          <a:cs typeface="DM Sans" pitchFamily="34" charset="-120"/>
                        </a:rPr>
                        <a:t>Tiempo por paso</a:t>
                      </a:r>
                      <a:endParaRPr lang="en-US" sz="1400" dirty="0">
                        <a:latin typeface="DM Sans" charset="0"/>
                        <a:ea typeface="DM Sans" charset="0"/>
                        <a:cs typeface="DM Sans" charset="0"/>
                      </a:endParaRPr>
                    </a:p>
                  </a:txBody>
                  <a:tcPr marL="62230" marR="62230" marT="62230" marB="62230">
                    <a:lnL w="0" cap="flat" cmpd="sng" algn="ctr">
                      <a:noFill/>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960"/>
                        </a:lnSpc>
                        <a:buNone/>
                      </a:pPr>
                      <a:r>
                        <a:rPr lang="en-US" sz="1400" dirty="0">
                          <a:solidFill>
                            <a:srgbClr val="131B2E"/>
                          </a:solidFill>
                          <a:latin typeface="DM Sans" pitchFamily="34" charset="0"/>
                          <a:ea typeface="DM Sans" pitchFamily="34" charset="-122"/>
                          <a:cs typeface="DM Sans" pitchFamily="34" charset="-120"/>
                        </a:rPr>
                        <a:t>Suma de medianas de cada paso</a:t>
                      </a:r>
                      <a:endParaRPr lang="en-US" sz="1400" dirty="0">
                        <a:latin typeface="DM Sans" charset="0"/>
                        <a:ea typeface="DM Sans" charset="0"/>
                        <a:cs typeface="DM Sans" charset="0"/>
                      </a:endParaRPr>
                    </a:p>
                  </a:txBody>
                  <a:tcPr marL="62230" marR="62230" marT="62230" marB="62230">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960"/>
                        </a:lnSpc>
                        <a:buNone/>
                      </a:pPr>
                      <a:r>
                        <a:rPr lang="en-US" sz="1400" dirty="0">
                          <a:solidFill>
                            <a:srgbClr val="131B2E"/>
                          </a:solidFill>
                          <a:latin typeface="DM Sans" pitchFamily="34" charset="0"/>
                          <a:ea typeface="DM Sans" pitchFamily="34" charset="-122"/>
                          <a:cs typeface="DM Sans" pitchFamily="34" charset="-120"/>
                        </a:rPr>
                        <a:t>176 s</a:t>
                      </a:r>
                      <a:endParaRPr lang="en-US" sz="1400" dirty="0">
                        <a:latin typeface="DM Sans" charset="0"/>
                        <a:ea typeface="DM Sans" charset="0"/>
                        <a:cs typeface="DM Sans" charset="0"/>
                      </a:endParaRPr>
                    </a:p>
                  </a:txBody>
                  <a:tcPr marL="62230" marR="62230" marT="62230" marB="62230">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960"/>
                        </a:lnSpc>
                        <a:buNone/>
                      </a:pPr>
                      <a:r>
                        <a:rPr lang="en-US" sz="1400" dirty="0">
                          <a:solidFill>
                            <a:srgbClr val="131B2E"/>
                          </a:solidFill>
                          <a:latin typeface="DM Sans" pitchFamily="34" charset="0"/>
                          <a:ea typeface="DM Sans" pitchFamily="34" charset="-122"/>
                          <a:cs typeface="DM Sans" pitchFamily="34" charset="-120"/>
                        </a:rPr>
                        <a:t>160 s</a:t>
                      </a:r>
                      <a:endParaRPr lang="en-US" sz="1400" dirty="0">
                        <a:latin typeface="DM Sans" charset="0"/>
                        <a:ea typeface="DM Sans" charset="0"/>
                        <a:cs typeface="DM Sans" charset="0"/>
                      </a:endParaRPr>
                    </a:p>
                  </a:txBody>
                  <a:tcPr marL="62230" marR="62230" marT="62230" marB="62230">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960"/>
                        </a:lnSpc>
                        <a:buNone/>
                      </a:pPr>
                      <a:r>
                        <a:rPr lang="en-US" sz="1400" dirty="0">
                          <a:solidFill>
                            <a:srgbClr val="1F6E43"/>
                          </a:solidFill>
                          <a:latin typeface="DM Sans" pitchFamily="34" charset="0"/>
                          <a:ea typeface="DM Sans" pitchFamily="34" charset="-122"/>
                          <a:cs typeface="DM Sans" pitchFamily="34" charset="-120"/>
                        </a:rPr>
                        <a:t>Mejor</a:t>
                      </a:r>
                      <a:endParaRPr lang="en-US" sz="1400" dirty="0">
                        <a:latin typeface="DM Sans" charset="0"/>
                        <a:ea typeface="DM Sans" charset="0"/>
                        <a:cs typeface="DM Sans" charset="0"/>
                      </a:endParaRPr>
                    </a:p>
                  </a:txBody>
                  <a:tcPr marL="62230" marR="62230" marT="62230" marB="62230">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31B2E"/>
                          </a:solidFill>
                          <a:latin typeface="DM Sans" pitchFamily="34" charset="0"/>
                          <a:ea typeface="DM Sans" pitchFamily="34" charset="-122"/>
                          <a:cs typeface="DM Sans" pitchFamily="34" charset="-120"/>
                        </a:rPr>
                        <a:t>Tasa de error</a:t>
                      </a:r>
                      <a:endParaRPr lang="en-US" sz="1400" dirty="0">
                        <a:latin typeface="DM Sans" charset="0"/>
                        <a:ea typeface="DM Sans" charset="0"/>
                        <a:cs typeface="DM Sans" charset="0"/>
                      </a:endParaRPr>
                    </a:p>
                  </a:txBody>
                  <a:tcPr marL="62230" marR="62230" marT="62230" marB="62230">
                    <a:lnL w="0" cap="flat" cmpd="sng" algn="ctr">
                      <a:noFill/>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960"/>
                        </a:lnSpc>
                        <a:buNone/>
                      </a:pPr>
                      <a:r>
                        <a:rPr lang="en-US" sz="1400" dirty="0">
                          <a:solidFill>
                            <a:srgbClr val="131B2E"/>
                          </a:solidFill>
                          <a:latin typeface="DM Sans" pitchFamily="34" charset="0"/>
                          <a:ea typeface="DM Sans" pitchFamily="34" charset="-122"/>
                          <a:cs typeface="DM Sans" pitchFamily="34" charset="-120"/>
                        </a:rPr>
                        <a:t>% de visitas con algún retroceso</a:t>
                      </a:r>
                      <a:endParaRPr lang="en-US" sz="1400" dirty="0">
                        <a:latin typeface="DM Sans" charset="0"/>
                        <a:ea typeface="DM Sans" charset="0"/>
                        <a:cs typeface="DM Sans" charset="0"/>
                      </a:endParaRPr>
                    </a:p>
                  </a:txBody>
                  <a:tcPr marL="62230" marR="62230" marT="62230" marB="62230">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960"/>
                        </a:lnSpc>
                        <a:buNone/>
                      </a:pPr>
                      <a:r>
                        <a:rPr lang="en-US" sz="1400" dirty="0">
                          <a:solidFill>
                            <a:srgbClr val="131B2E"/>
                          </a:solidFill>
                          <a:latin typeface="DM Sans" pitchFamily="34" charset="0"/>
                          <a:ea typeface="DM Sans" pitchFamily="34" charset="-122"/>
                          <a:cs typeface="DM Sans" pitchFamily="34" charset="-120"/>
                        </a:rPr>
                        <a:t>20,5 %</a:t>
                      </a:r>
                      <a:endParaRPr lang="en-US" sz="1400" dirty="0">
                        <a:latin typeface="DM Sans" charset="0"/>
                        <a:ea typeface="DM Sans" charset="0"/>
                        <a:cs typeface="DM Sans" charset="0"/>
                      </a:endParaRPr>
                    </a:p>
                  </a:txBody>
                  <a:tcPr marL="62230" marR="62230" marT="62230" marB="62230">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960"/>
                        </a:lnSpc>
                        <a:buNone/>
                      </a:pPr>
                      <a:r>
                        <a:rPr lang="en-US" sz="1400" dirty="0">
                          <a:solidFill>
                            <a:srgbClr val="131B2E"/>
                          </a:solidFill>
                          <a:latin typeface="DM Sans" pitchFamily="34" charset="0"/>
                          <a:ea typeface="DM Sans" pitchFamily="34" charset="-122"/>
                          <a:cs typeface="DM Sans" pitchFamily="34" charset="-120"/>
                        </a:rPr>
                        <a:t>27,0 %</a:t>
                      </a:r>
                      <a:endParaRPr lang="en-US" sz="1400" dirty="0">
                        <a:latin typeface="DM Sans" charset="0"/>
                        <a:ea typeface="DM Sans" charset="0"/>
                        <a:cs typeface="DM Sans" charset="0"/>
                      </a:endParaRPr>
                    </a:p>
                  </a:txBody>
                  <a:tcPr marL="62230" marR="62230" marT="62230" marB="62230">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960"/>
                        </a:lnSpc>
                        <a:buNone/>
                      </a:pPr>
                      <a:r>
                        <a:rPr lang="en-US" sz="1400" dirty="0">
                          <a:solidFill>
                            <a:srgbClr val="B0102A"/>
                          </a:solidFill>
                          <a:latin typeface="DM Sans" pitchFamily="34" charset="0"/>
                          <a:ea typeface="DM Sans" pitchFamily="34" charset="-122"/>
                          <a:cs typeface="DM Sans" pitchFamily="34" charset="-120"/>
                        </a:rPr>
                        <a:t>Peor</a:t>
                      </a:r>
                      <a:endParaRPr lang="en-US" sz="1400" dirty="0">
                        <a:latin typeface="DM Sans" charset="0"/>
                        <a:ea typeface="DM Sans" charset="0"/>
                        <a:cs typeface="DM Sans" charset="0"/>
                      </a:endParaRPr>
                    </a:p>
                  </a:txBody>
                  <a:tcPr marL="62230" marR="62230" marT="62230" marB="62230">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31B2E"/>
                          </a:solidFill>
                          <a:latin typeface="DM Sans" pitchFamily="34" charset="0"/>
                          <a:ea typeface="DM Sans" pitchFamily="34" charset="-122"/>
                          <a:cs typeface="DM Sans" pitchFamily="34" charset="-120"/>
                        </a:rPr>
                        <a:t>Embudo</a:t>
                      </a:r>
                      <a:endParaRPr lang="en-US" sz="1400" dirty="0">
                        <a:latin typeface="DM Sans" charset="0"/>
                        <a:ea typeface="DM Sans" charset="0"/>
                        <a:cs typeface="DM Sans" charset="0"/>
                      </a:endParaRPr>
                    </a:p>
                  </a:txBody>
                  <a:tcPr marL="62230" marR="62230" marT="62230" marB="62230">
                    <a:lnL w="0" cap="flat" cmpd="sng" algn="ctr">
                      <a:noFill/>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960"/>
                        </a:lnSpc>
                        <a:buNone/>
                      </a:pPr>
                      <a:r>
                        <a:rPr lang="en-US" sz="1400" dirty="0">
                          <a:solidFill>
                            <a:srgbClr val="131B2E"/>
                          </a:solidFill>
                          <a:latin typeface="DM Sans" pitchFamily="34" charset="0"/>
                          <a:ea typeface="DM Sans" pitchFamily="34" charset="-122"/>
                          <a:cs typeface="DM Sans" pitchFamily="34" charset="-120"/>
                        </a:rPr>
                        <a:t>% de clientes que abandonan en el inicio</a:t>
                      </a:r>
                      <a:endParaRPr lang="en-US" sz="1400" dirty="0">
                        <a:latin typeface="DM Sans" charset="0"/>
                        <a:ea typeface="DM Sans" charset="0"/>
                        <a:cs typeface="DM Sans" charset="0"/>
                      </a:endParaRPr>
                    </a:p>
                  </a:txBody>
                  <a:tcPr marL="62230" marR="62230" marT="62230" marB="62230">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960"/>
                        </a:lnSpc>
                        <a:buNone/>
                      </a:pPr>
                      <a:r>
                        <a:rPr lang="en-US" sz="1400" dirty="0">
                          <a:solidFill>
                            <a:srgbClr val="131B2E"/>
                          </a:solidFill>
                          <a:latin typeface="DM Sans" pitchFamily="34" charset="0"/>
                          <a:ea typeface="DM Sans" pitchFamily="34" charset="-122"/>
                          <a:cs typeface="DM Sans" pitchFamily="34" charset="-120"/>
                        </a:rPr>
                        <a:t>14,0 %</a:t>
                      </a:r>
                      <a:endParaRPr lang="en-US" sz="1400" dirty="0">
                        <a:latin typeface="DM Sans" charset="0"/>
                        <a:ea typeface="DM Sans" charset="0"/>
                        <a:cs typeface="DM Sans" charset="0"/>
                      </a:endParaRPr>
                    </a:p>
                  </a:txBody>
                  <a:tcPr marL="62230" marR="62230" marT="62230" marB="62230">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960"/>
                        </a:lnSpc>
                        <a:buNone/>
                      </a:pPr>
                      <a:r>
                        <a:rPr lang="en-US" sz="1400" dirty="0">
                          <a:solidFill>
                            <a:srgbClr val="131B2E"/>
                          </a:solidFill>
                          <a:latin typeface="DM Sans" pitchFamily="34" charset="0"/>
                          <a:ea typeface="DM Sans" pitchFamily="34" charset="-122"/>
                          <a:cs typeface="DM Sans" pitchFamily="34" charset="-120"/>
                        </a:rPr>
                        <a:t>9,1 %</a:t>
                      </a:r>
                      <a:endParaRPr lang="en-US" sz="1400" dirty="0">
                        <a:latin typeface="DM Sans" charset="0"/>
                        <a:ea typeface="DM Sans" charset="0"/>
                        <a:cs typeface="DM Sans" charset="0"/>
                      </a:endParaRPr>
                    </a:p>
                  </a:txBody>
                  <a:tcPr marL="62230" marR="62230" marT="62230" marB="62230">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960"/>
                        </a:lnSpc>
                        <a:buNone/>
                      </a:pPr>
                      <a:r>
                        <a:rPr lang="en-US" sz="1400" dirty="0">
                          <a:solidFill>
                            <a:srgbClr val="1F6E43"/>
                          </a:solidFill>
                          <a:latin typeface="DM Sans" pitchFamily="34" charset="0"/>
                          <a:ea typeface="DM Sans" pitchFamily="34" charset="-122"/>
                          <a:cs typeface="DM Sans" pitchFamily="34" charset="-120"/>
                        </a:rPr>
                        <a:t>Mejor</a:t>
                      </a:r>
                      <a:endParaRPr lang="en-US" sz="1400" dirty="0">
                        <a:latin typeface="DM Sans" charset="0"/>
                        <a:ea typeface="DM Sans" charset="0"/>
                        <a:cs typeface="DM Sans" charset="0"/>
                      </a:endParaRPr>
                    </a:p>
                  </a:txBody>
                  <a:tcPr marL="62230" marR="62230" marT="62230" marB="62230">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812800" y="4101443"/>
            <a:ext cx="9810750"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6"/>
                </a:solidFill>
                <a:latin typeface="DM Sans" pitchFamily="34" charset="0"/>
                <a:ea typeface="DM Sans" pitchFamily="34" charset="-122"/>
                <a:cs typeface="DM Sans" pitchFamily="34" charset="-120"/>
              </a:rPr>
              <a:t>Usamos </a:t>
            </a:r>
            <a:r>
              <a:rPr lang="en-US" sz="1400" b="1" dirty="0">
                <a:solidFill>
                  <a:srgbClr val="131B2E"/>
                </a:solidFill>
                <a:latin typeface="DM Sans" pitchFamily="34" charset="0"/>
                <a:ea typeface="DM Sans" pitchFamily="34" charset="-122"/>
                <a:cs typeface="DM Sans" pitchFamily="34" charset="-120"/>
              </a:rPr>
              <a:t>medianas</a:t>
            </a:r>
            <a:r>
              <a:rPr lang="en-US" sz="1400" dirty="0">
                <a:solidFill>
                  <a:srgbClr val="4A5266"/>
                </a:solidFill>
                <a:latin typeface="DM Sans" pitchFamily="34" charset="0"/>
                <a:ea typeface="DM Sans" pitchFamily="34" charset="-122"/>
                <a:cs typeface="DM Sans" pitchFamily="34" charset="-120"/>
              </a:rPr>
              <a:t> para el tiempo: hay quien deja la página abierta mucho rato y eso dispara la media. Un retroceso es volver a un paso anterior, por ejemplo de step_3 a step_2.</a:t>
            </a:r>
            <a:endParaRPr lang="en-US" sz="1400" dirty="0"/>
          </a:p>
        </p:txBody>
      </p:sp>
      <p:sp>
        <p:nvSpPr>
          <p:cNvPr id="8" name="Text 5"/>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Tableau: «Resultados»</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5"/>
                </a:solidFill>
                <a:latin typeface="DM Sans" pitchFamily="34" charset="0"/>
                <a:ea typeface="DM Sans" pitchFamily="34" charset="-122"/>
                <a:cs typeface="DM Sans" pitchFamily="34" charset="-120"/>
              </a:rPr>
              <a:t>08</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131B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6B7A"/>
                </a:solidFill>
                <a:latin typeface="DM Sans" pitchFamily="34" charset="0"/>
                <a:ea typeface="DM Sans" pitchFamily="34" charset="-122"/>
                <a:cs typeface="DM Sans" pitchFamily="34" charset="-120"/>
              </a:rPr>
              <a:t>KPI 1 · TASA DE FINALIZACIÓN</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5F2EC"/>
                </a:solidFill>
                <a:latin typeface="Space Grotesk" pitchFamily="34" charset="0"/>
                <a:ea typeface="Space Grotesk" pitchFamily="34" charset="-122"/>
                <a:cs typeface="Space Grotesk" pitchFamily="34" charset="-120"/>
              </a:rPr>
              <a:t>Con el diseño nuevo terminan más clientes</a:t>
            </a:r>
            <a:endParaRPr lang="en-US" sz="3200" dirty="0"/>
          </a:p>
        </p:txBody>
      </p:sp>
      <p:sp>
        <p:nvSpPr>
          <p:cNvPr id="4" name="Text 2"/>
          <p:cNvSpPr/>
          <p:nvPr/>
        </p:nvSpPr>
        <p:spPr>
          <a:xfrm>
            <a:off x="812800" y="2700009"/>
            <a:ext cx="3351325"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0CF"/>
                </a:solidFill>
                <a:latin typeface="DM Sans" pitchFamily="34" charset="0"/>
                <a:ea typeface="DM Sans" pitchFamily="34" charset="-122"/>
                <a:cs typeface="DM Sans" pitchFamily="34" charset="-120"/>
              </a:rPr>
              <a:t>Control · diseño antiguo</a:t>
            </a:r>
            <a:endParaRPr lang="en-US" sz="1400" dirty="0"/>
          </a:p>
        </p:txBody>
      </p:sp>
      <p:sp>
        <p:nvSpPr>
          <p:cNvPr id="5" name="Text 3"/>
          <p:cNvSpPr/>
          <p:nvPr/>
        </p:nvSpPr>
        <p:spPr>
          <a:xfrm>
            <a:off x="812800" y="2999718"/>
            <a:ext cx="3710914" cy="1066800"/>
          </a:xfrm>
          <a:prstGeom prst="rect">
            <a:avLst/>
          </a:prstGeom>
          <a:noFill/>
          <a:ln/>
        </p:spPr>
        <p:txBody>
          <a:bodyPr wrap="square" lIns="0" tIns="0" rIns="0" bIns="0" rtlCol="0" anchor="t">
            <a:normAutofit fontScale="92500"/>
          </a:bodyPr>
          <a:lstStyle/>
          <a:p>
            <a:pPr marL="0" indent="0" algn="l">
              <a:lnSpc>
                <a:spcPts val="8200"/>
              </a:lnSpc>
              <a:buNone/>
            </a:pPr>
            <a:r>
              <a:rPr lang="en-US" sz="8200" b="1" dirty="0">
                <a:solidFill>
                  <a:srgbClr val="8C96A6"/>
                </a:solidFill>
                <a:latin typeface="Space Grotesk" pitchFamily="34" charset="0"/>
                <a:ea typeface="Space Grotesk" pitchFamily="34" charset="-122"/>
                <a:cs typeface="Space Grotesk" pitchFamily="34" charset="-120"/>
              </a:rPr>
              <a:t>65,6 %</a:t>
            </a:r>
            <a:endParaRPr lang="en-US" sz="8200" dirty="0"/>
          </a:p>
        </p:txBody>
      </p:sp>
      <p:pic>
        <p:nvPicPr>
          <p:cNvPr id="6" name="Image 0" descr="arrow-right"/>
          <p:cNvPicPr>
            <a:picLocks noChangeAspect="1"/>
          </p:cNvPicPr>
          <p:nvPr/>
        </p:nvPicPr>
        <p:blipFill>
          <a:blip r:embed="rId3"/>
          <a:srcRect/>
          <a:stretch/>
        </p:blipFill>
        <p:spPr>
          <a:xfrm>
            <a:off x="4523714" y="3180029"/>
            <a:ext cx="762000" cy="381000"/>
          </a:xfrm>
          <a:prstGeom prst="rect">
            <a:avLst/>
          </a:prstGeom>
        </p:spPr>
      </p:pic>
      <p:sp>
        <p:nvSpPr>
          <p:cNvPr id="7" name="Text 4"/>
          <p:cNvSpPr/>
          <p:nvPr/>
        </p:nvSpPr>
        <p:spPr>
          <a:xfrm>
            <a:off x="5742914" y="2700009"/>
            <a:ext cx="3368153"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2EC"/>
                </a:solidFill>
                <a:latin typeface="DM Sans" pitchFamily="34" charset="0"/>
                <a:ea typeface="DM Sans" pitchFamily="34" charset="-122"/>
                <a:cs typeface="DM Sans" pitchFamily="34" charset="-120"/>
              </a:rPr>
              <a:t>Test · diseño nuevo</a:t>
            </a:r>
            <a:endParaRPr lang="en-US" sz="1400" dirty="0"/>
          </a:p>
        </p:txBody>
      </p:sp>
      <p:sp>
        <p:nvSpPr>
          <p:cNvPr id="8" name="Text 5"/>
          <p:cNvSpPr/>
          <p:nvPr/>
        </p:nvSpPr>
        <p:spPr>
          <a:xfrm>
            <a:off x="5742914" y="2999718"/>
            <a:ext cx="3924062" cy="1066800"/>
          </a:xfrm>
          <a:prstGeom prst="rect">
            <a:avLst/>
          </a:prstGeom>
          <a:noFill/>
          <a:ln/>
        </p:spPr>
        <p:txBody>
          <a:bodyPr wrap="square" lIns="0" tIns="0" rIns="0" bIns="0" rtlCol="0" anchor="t">
            <a:normAutofit fontScale="92500"/>
          </a:bodyPr>
          <a:lstStyle/>
          <a:p>
            <a:pPr marL="0" indent="0" algn="l">
              <a:lnSpc>
                <a:spcPts val="8200"/>
              </a:lnSpc>
              <a:buNone/>
            </a:pPr>
            <a:r>
              <a:rPr lang="en-US" sz="8200" b="1" dirty="0">
                <a:solidFill>
                  <a:srgbClr val="F5F2EC"/>
                </a:solidFill>
                <a:latin typeface="Space Grotesk" pitchFamily="34" charset="0"/>
                <a:ea typeface="Space Grotesk" pitchFamily="34" charset="-122"/>
                <a:cs typeface="Space Grotesk" pitchFamily="34" charset="-120"/>
              </a:rPr>
              <a:t>69,3 %</a:t>
            </a:r>
            <a:endParaRPr lang="en-US" sz="8200" dirty="0"/>
          </a:p>
        </p:txBody>
      </p:sp>
      <p:sp>
        <p:nvSpPr>
          <p:cNvPr id="9" name="Text 6"/>
          <p:cNvSpPr/>
          <p:nvPr/>
        </p:nvSpPr>
        <p:spPr>
          <a:xfrm>
            <a:off x="812800" y="5191789"/>
            <a:ext cx="2442567" cy="650214"/>
          </a:xfrm>
          <a:prstGeom prst="roundRect">
            <a:avLst>
              <a:gd name="adj" fmla="val 15626"/>
            </a:avLst>
          </a:prstGeom>
          <a:solidFill>
            <a:srgbClr val="F26B7A"/>
          </a:solidFill>
          <a:ln/>
        </p:spPr>
        <p:txBody>
          <a:bodyPr wrap="none" lIns="0" tIns="0" rIns="0" bIns="0" rtlCol="0" anchor="ctr">
            <a:normAutofit/>
          </a:bodyPr>
          <a:lstStyle/>
          <a:p>
            <a:pPr marL="0" indent="0" algn="ctr">
              <a:lnSpc>
                <a:spcPts val="3920"/>
              </a:lnSpc>
              <a:buNone/>
            </a:pPr>
            <a:r>
              <a:rPr lang="en-US" sz="2800" b="1" dirty="0">
                <a:solidFill>
                  <a:srgbClr val="131B2E"/>
                </a:solidFill>
                <a:latin typeface="Space Grotesk" pitchFamily="34" charset="0"/>
                <a:ea typeface="Space Grotesk" pitchFamily="34" charset="-122"/>
                <a:cs typeface="Space Grotesk" pitchFamily="34" charset="-120"/>
              </a:rPr>
              <a:t>+3,7 puntos</a:t>
            </a:r>
            <a:endParaRPr lang="en-US" sz="2800" dirty="0"/>
          </a:p>
        </p:txBody>
      </p:sp>
      <p:sp>
        <p:nvSpPr>
          <p:cNvPr id="10" name="Text 7"/>
          <p:cNvSpPr/>
          <p:nvPr/>
        </p:nvSpPr>
        <p:spPr>
          <a:xfrm>
            <a:off x="3509367" y="5232468"/>
            <a:ext cx="7194550"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D9DEE8"/>
                </a:solidFill>
                <a:latin typeface="DM Sans" pitchFamily="34" charset="0"/>
                <a:ea typeface="DM Sans" pitchFamily="34" charset="-122"/>
                <a:cs typeface="DM Sans" pitchFamily="34" charset="-120"/>
              </a:rPr>
              <a:t>De cada 100 clientes, casi 4 más llegan a la confirmación. Contando visitas, el salto es mayor: de 49,9 % a 58,6 %.</a:t>
            </a:r>
            <a:endParaRPr lang="en-US" sz="1600" dirty="0"/>
          </a:p>
        </p:txBody>
      </p:sp>
      <p:sp>
        <p:nvSpPr>
          <p:cNvPr id="11" name="Text 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3B5"/>
                </a:solidFill>
                <a:latin typeface="DM Sans" pitchFamily="34" charset="0"/>
                <a:ea typeface="DM Sans" pitchFamily="34" charset="-122"/>
                <a:cs typeface="DM Sans" pitchFamily="34" charset="-120"/>
              </a:rPr>
              <a:t>Cliente que llega a «confirm» al menos una vez · 23.532 Control, 26.968 Test</a:t>
            </a:r>
            <a:endParaRPr lang="en-US" sz="1200" dirty="0"/>
          </a:p>
        </p:txBody>
      </p:sp>
      <p:sp>
        <p:nvSpPr>
          <p:cNvPr id="12" name="Text 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AA3B5"/>
                </a:solidFill>
                <a:latin typeface="DM Sans" pitchFamily="34" charset="0"/>
                <a:ea typeface="DM Sans" pitchFamily="34" charset="-122"/>
                <a:cs typeface="DM Sans" pitchFamily="34" charset="-120"/>
              </a:rPr>
              <a:t>09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DM Sans" pitchFamily="34" charset="0"/>
                <a:ea typeface="DM Sans" pitchFamily="34" charset="-122"/>
                <a:cs typeface="DM Sans" pitchFamily="34" charset="-120"/>
              </a:rPr>
              <a:t>KPI 2 · TIEMPO POR PASO</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1B2E"/>
                </a:solidFill>
                <a:latin typeface="Space Grotesk" pitchFamily="34" charset="0"/>
                <a:ea typeface="Space Grotesk" pitchFamily="34" charset="-122"/>
                <a:cs typeface="Space Grotesk" pitchFamily="34" charset="-120"/>
              </a:rPr>
              <a:t>Más rápido en casi todo, salvo en el paso 1</a:t>
            </a:r>
            <a:endParaRPr lang="en-US" sz="3200" dirty="0"/>
          </a:p>
        </p:txBody>
      </p:sp>
      <p:sp>
        <p:nvSpPr>
          <p:cNvPr id="4" name="Text 2"/>
          <p:cNvSpPr/>
          <p:nvPr/>
        </p:nvSpPr>
        <p:spPr>
          <a:xfrm>
            <a:off x="812800" y="1854138"/>
            <a:ext cx="21583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Mediana en segundos</a:t>
            </a:r>
            <a:endParaRPr lang="en-US" sz="1200" dirty="0"/>
          </a:p>
        </p:txBody>
      </p:sp>
      <p:sp>
        <p:nvSpPr>
          <p:cNvPr id="5" name="Shape 3"/>
          <p:cNvSpPr/>
          <p:nvPr/>
        </p:nvSpPr>
        <p:spPr>
          <a:xfrm>
            <a:off x="3111500" y="1897261"/>
            <a:ext cx="177800" cy="127000"/>
          </a:xfrm>
          <a:prstGeom prst="roundRect">
            <a:avLst>
              <a:gd name="adj" fmla="val 20000"/>
            </a:avLst>
          </a:prstGeom>
          <a:solidFill>
            <a:srgbClr val="8C96A6"/>
          </a:solidFill>
          <a:ln/>
        </p:spPr>
      </p:sp>
      <p:sp>
        <p:nvSpPr>
          <p:cNvPr id="6" name="Text 4"/>
          <p:cNvSpPr/>
          <p:nvPr/>
        </p:nvSpPr>
        <p:spPr>
          <a:xfrm>
            <a:off x="3492500" y="1854138"/>
            <a:ext cx="62968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1B2E"/>
                </a:solidFill>
                <a:latin typeface="DM Sans" pitchFamily="34" charset="0"/>
                <a:ea typeface="DM Sans" pitchFamily="34" charset="-122"/>
                <a:cs typeface="DM Sans" pitchFamily="34" charset="-120"/>
              </a:rPr>
              <a:t>Control</a:t>
            </a:r>
            <a:endParaRPr lang="en-US" sz="1200" dirty="0"/>
          </a:p>
        </p:txBody>
      </p:sp>
      <p:sp>
        <p:nvSpPr>
          <p:cNvPr id="7" name="Shape 5"/>
          <p:cNvSpPr/>
          <p:nvPr/>
        </p:nvSpPr>
        <p:spPr>
          <a:xfrm>
            <a:off x="4220435" y="1897261"/>
            <a:ext cx="177800" cy="127000"/>
          </a:xfrm>
          <a:prstGeom prst="roundRect">
            <a:avLst>
              <a:gd name="adj" fmla="val 20000"/>
            </a:avLst>
          </a:prstGeom>
          <a:solidFill>
            <a:srgbClr val="C8102E"/>
          </a:solidFill>
          <a:ln/>
        </p:spPr>
      </p:sp>
      <p:sp>
        <p:nvSpPr>
          <p:cNvPr id="8" name="Text 6"/>
          <p:cNvSpPr/>
          <p:nvPr/>
        </p:nvSpPr>
        <p:spPr>
          <a:xfrm>
            <a:off x="4601435" y="1854138"/>
            <a:ext cx="36869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1B2E"/>
                </a:solidFill>
                <a:latin typeface="DM Sans" pitchFamily="34" charset="0"/>
                <a:ea typeface="DM Sans" pitchFamily="34" charset="-122"/>
                <a:cs typeface="DM Sans" pitchFamily="34" charset="-120"/>
              </a:rPr>
              <a:t>Test</a:t>
            </a:r>
            <a:endParaRPr lang="en-US" sz="1200" dirty="0"/>
          </a:p>
        </p:txBody>
      </p:sp>
      <p:sp>
        <p:nvSpPr>
          <p:cNvPr id="9" name="Shape 7"/>
          <p:cNvSpPr/>
          <p:nvPr/>
        </p:nvSpPr>
        <p:spPr>
          <a:xfrm>
            <a:off x="812800" y="5456572"/>
            <a:ext cx="6413500" cy="0"/>
          </a:xfrm>
          <a:prstGeom prst="line">
            <a:avLst/>
          </a:prstGeom>
          <a:noFill/>
          <a:ln w="19050">
            <a:solidFill>
              <a:srgbClr val="131B2E"/>
            </a:solidFill>
            <a:prstDash val="solid"/>
          </a:ln>
        </p:spPr>
      </p:sp>
      <p:sp>
        <p:nvSpPr>
          <p:cNvPr id="10" name="Text 8"/>
          <p:cNvSpPr/>
          <p:nvPr/>
        </p:nvSpPr>
        <p:spPr>
          <a:xfrm>
            <a:off x="1135063" y="4514453"/>
            <a:ext cx="273050" cy="27430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5266"/>
                </a:solidFill>
                <a:latin typeface="DM Sans" pitchFamily="34" charset="0"/>
                <a:ea typeface="DM Sans" pitchFamily="34" charset="-122"/>
                <a:cs typeface="DM Sans" pitchFamily="34" charset="-120"/>
              </a:rPr>
              <a:t>20</a:t>
            </a:r>
            <a:endParaRPr lang="en-US" sz="1400" dirty="0"/>
          </a:p>
        </p:txBody>
      </p:sp>
      <p:sp>
        <p:nvSpPr>
          <p:cNvPr id="11" name="Shape 9"/>
          <p:cNvSpPr/>
          <p:nvPr/>
        </p:nvSpPr>
        <p:spPr>
          <a:xfrm>
            <a:off x="992188" y="4814162"/>
            <a:ext cx="558800" cy="635000"/>
          </a:xfrm>
          <a:custGeom>
            <a:avLst/>
            <a:gdLst/>
            <a:ahLst/>
            <a:cxnLst/>
            <a:rect l="l" t="t" r="r" b="b"/>
            <a:pathLst>
              <a:path w="558800" h="635000">
                <a:moveTo>
                  <a:pt x="38100" y="0"/>
                </a:moveTo>
                <a:lnTo>
                  <a:pt x="520700" y="0"/>
                </a:lnTo>
                <a:arcTo wR="38100" hR="38100" stAng="16200000" swAng="5400000"/>
                <a:lnTo>
                  <a:pt x="558800" y="635000"/>
                </a:lnTo>
                <a:lnTo>
                  <a:pt x="0" y="635000"/>
                </a:lnTo>
                <a:lnTo>
                  <a:pt x="0" y="38100"/>
                </a:lnTo>
                <a:arcTo wR="38100" hR="38100" stAng="10800000" swAng="5400000"/>
                <a:close/>
              </a:path>
            </a:pathLst>
          </a:custGeom>
          <a:solidFill>
            <a:srgbClr val="8C96A6"/>
          </a:solidFill>
          <a:ln/>
        </p:spPr>
      </p:sp>
      <p:sp>
        <p:nvSpPr>
          <p:cNvPr id="12" name="Text 10"/>
          <p:cNvSpPr/>
          <p:nvPr/>
        </p:nvSpPr>
        <p:spPr>
          <a:xfrm>
            <a:off x="1791031" y="4704953"/>
            <a:ext cx="231114"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31B2E"/>
                </a:solidFill>
                <a:latin typeface="DM Sans" pitchFamily="34" charset="0"/>
                <a:ea typeface="DM Sans" pitchFamily="34" charset="-122"/>
                <a:cs typeface="DM Sans" pitchFamily="34" charset="-120"/>
              </a:rPr>
              <a:t>14</a:t>
            </a:r>
            <a:endParaRPr lang="en-US" sz="1400" dirty="0"/>
          </a:p>
        </p:txBody>
      </p:sp>
      <p:sp>
        <p:nvSpPr>
          <p:cNvPr id="13" name="Shape 11"/>
          <p:cNvSpPr/>
          <p:nvPr/>
        </p:nvSpPr>
        <p:spPr>
          <a:xfrm>
            <a:off x="1627188" y="5004662"/>
            <a:ext cx="558800" cy="444500"/>
          </a:xfrm>
          <a:custGeom>
            <a:avLst/>
            <a:gdLst/>
            <a:ahLst/>
            <a:cxnLst/>
            <a:rect l="l" t="t" r="r" b="b"/>
            <a:pathLst>
              <a:path w="558800" h="444500">
                <a:moveTo>
                  <a:pt x="38100" y="0"/>
                </a:moveTo>
                <a:lnTo>
                  <a:pt x="520700" y="0"/>
                </a:lnTo>
                <a:arcTo wR="38100" hR="38100" stAng="16200000" swAng="5400000"/>
                <a:lnTo>
                  <a:pt x="558800" y="444500"/>
                </a:lnTo>
                <a:lnTo>
                  <a:pt x="0" y="444500"/>
                </a:lnTo>
                <a:lnTo>
                  <a:pt x="0" y="38100"/>
                </a:lnTo>
                <a:arcTo wR="38100" hR="38100" stAng="10800000" swAng="5400000"/>
                <a:close/>
              </a:path>
            </a:pathLst>
          </a:custGeom>
          <a:solidFill>
            <a:srgbClr val="C8102E"/>
          </a:solidFill>
          <a:ln/>
        </p:spPr>
      </p:sp>
      <p:sp>
        <p:nvSpPr>
          <p:cNvPr id="14" name="Shape 12"/>
          <p:cNvSpPr/>
          <p:nvPr/>
        </p:nvSpPr>
        <p:spPr>
          <a:xfrm>
            <a:off x="2544763" y="4190603"/>
            <a:ext cx="1397000" cy="1258557"/>
          </a:xfrm>
          <a:custGeom>
            <a:avLst/>
            <a:gdLst/>
            <a:ahLst/>
            <a:cxnLst/>
            <a:rect l="l" t="t" r="r" b="b"/>
            <a:pathLst>
              <a:path w="1397000" h="1258557">
                <a:moveTo>
                  <a:pt x="76200" y="0"/>
                </a:moveTo>
                <a:lnTo>
                  <a:pt x="1320800" y="0"/>
                </a:lnTo>
                <a:arcTo wR="76200" hR="76200" stAng="16200000" swAng="5400000"/>
                <a:lnTo>
                  <a:pt x="1397000" y="1258557"/>
                </a:lnTo>
                <a:lnTo>
                  <a:pt x="0" y="1258557"/>
                </a:lnTo>
                <a:lnTo>
                  <a:pt x="0" y="76200"/>
                </a:lnTo>
                <a:arcTo wR="76200" hR="76200" stAng="10800000" swAng="5400000"/>
                <a:close/>
              </a:path>
            </a:pathLst>
          </a:custGeom>
          <a:solidFill>
            <a:srgbClr val="FBE3E6"/>
          </a:solidFill>
          <a:ln/>
        </p:spPr>
      </p:sp>
      <p:sp>
        <p:nvSpPr>
          <p:cNvPr id="15" name="Text 13"/>
          <p:cNvSpPr/>
          <p:nvPr/>
        </p:nvSpPr>
        <p:spPr>
          <a:xfrm>
            <a:off x="2789238" y="4514453"/>
            <a:ext cx="273050" cy="27430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5266"/>
                </a:solidFill>
                <a:latin typeface="DM Sans" pitchFamily="34" charset="0"/>
                <a:ea typeface="DM Sans" pitchFamily="34" charset="-122"/>
                <a:cs typeface="DM Sans" pitchFamily="34" charset="-120"/>
              </a:rPr>
              <a:t>20</a:t>
            </a:r>
            <a:endParaRPr lang="en-US" sz="1400" dirty="0"/>
          </a:p>
        </p:txBody>
      </p:sp>
      <p:sp>
        <p:nvSpPr>
          <p:cNvPr id="16" name="Shape 14"/>
          <p:cNvSpPr/>
          <p:nvPr/>
        </p:nvSpPr>
        <p:spPr>
          <a:xfrm>
            <a:off x="2646363" y="4814162"/>
            <a:ext cx="558800" cy="635000"/>
          </a:xfrm>
          <a:custGeom>
            <a:avLst/>
            <a:gdLst/>
            <a:ahLst/>
            <a:cxnLst/>
            <a:rect l="l" t="t" r="r" b="b"/>
            <a:pathLst>
              <a:path w="558800" h="635000">
                <a:moveTo>
                  <a:pt x="38100" y="0"/>
                </a:moveTo>
                <a:lnTo>
                  <a:pt x="520700" y="0"/>
                </a:lnTo>
                <a:arcTo wR="38100" hR="38100" stAng="16200000" swAng="5400000"/>
                <a:lnTo>
                  <a:pt x="558800" y="635000"/>
                </a:lnTo>
                <a:lnTo>
                  <a:pt x="0" y="635000"/>
                </a:lnTo>
                <a:lnTo>
                  <a:pt x="0" y="38100"/>
                </a:lnTo>
                <a:arcTo wR="38100" hR="38100" stAng="10800000" swAng="5400000"/>
                <a:close/>
              </a:path>
            </a:pathLst>
          </a:custGeom>
          <a:solidFill>
            <a:srgbClr val="8C96A6"/>
          </a:solidFill>
          <a:ln/>
        </p:spPr>
      </p:sp>
      <p:sp>
        <p:nvSpPr>
          <p:cNvPr id="17" name="Text 15"/>
          <p:cNvSpPr/>
          <p:nvPr/>
        </p:nvSpPr>
        <p:spPr>
          <a:xfrm>
            <a:off x="3437004" y="4292203"/>
            <a:ext cx="247452"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B0102A"/>
                </a:solidFill>
                <a:latin typeface="DM Sans" pitchFamily="34" charset="0"/>
                <a:ea typeface="DM Sans" pitchFamily="34" charset="-122"/>
                <a:cs typeface="DM Sans" pitchFamily="34" charset="-120"/>
              </a:rPr>
              <a:t>27</a:t>
            </a:r>
            <a:endParaRPr lang="en-US" sz="1400" dirty="0"/>
          </a:p>
        </p:txBody>
      </p:sp>
      <p:sp>
        <p:nvSpPr>
          <p:cNvPr id="18" name="Shape 16"/>
          <p:cNvSpPr/>
          <p:nvPr/>
        </p:nvSpPr>
        <p:spPr>
          <a:xfrm>
            <a:off x="3281363" y="4591912"/>
            <a:ext cx="558800" cy="857250"/>
          </a:xfrm>
          <a:custGeom>
            <a:avLst/>
            <a:gdLst/>
            <a:ahLst/>
            <a:cxnLst/>
            <a:rect l="l" t="t" r="r" b="b"/>
            <a:pathLst>
              <a:path w="558800" h="857250">
                <a:moveTo>
                  <a:pt x="38100" y="0"/>
                </a:moveTo>
                <a:lnTo>
                  <a:pt x="520700" y="0"/>
                </a:lnTo>
                <a:arcTo wR="38100" hR="38100" stAng="16200000" swAng="5400000"/>
                <a:lnTo>
                  <a:pt x="558800" y="857250"/>
                </a:lnTo>
                <a:lnTo>
                  <a:pt x="0" y="857250"/>
                </a:lnTo>
                <a:lnTo>
                  <a:pt x="0" y="38100"/>
                </a:lnTo>
                <a:arcTo wR="38100" hR="38100" stAng="10800000" swAng="5400000"/>
                <a:close/>
              </a:path>
            </a:pathLst>
          </a:custGeom>
          <a:solidFill>
            <a:srgbClr val="C8102E"/>
          </a:solidFill>
          <a:ln/>
        </p:spPr>
      </p:sp>
      <p:sp>
        <p:nvSpPr>
          <p:cNvPr id="19" name="Text 17"/>
          <p:cNvSpPr/>
          <p:nvPr/>
        </p:nvSpPr>
        <p:spPr>
          <a:xfrm>
            <a:off x="4444736" y="3117453"/>
            <a:ext cx="270404" cy="27430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5266"/>
                </a:solidFill>
                <a:latin typeface="DM Sans" pitchFamily="34" charset="0"/>
                <a:ea typeface="DM Sans" pitchFamily="34" charset="-122"/>
                <a:cs typeface="DM Sans" pitchFamily="34" charset="-120"/>
              </a:rPr>
              <a:t>64</a:t>
            </a:r>
            <a:endParaRPr lang="en-US" sz="1400" dirty="0"/>
          </a:p>
        </p:txBody>
      </p:sp>
      <p:sp>
        <p:nvSpPr>
          <p:cNvPr id="20" name="Shape 18"/>
          <p:cNvSpPr/>
          <p:nvPr/>
        </p:nvSpPr>
        <p:spPr>
          <a:xfrm>
            <a:off x="4300538" y="3417162"/>
            <a:ext cx="558800" cy="2032000"/>
          </a:xfrm>
          <a:custGeom>
            <a:avLst/>
            <a:gdLst/>
            <a:ahLst/>
            <a:cxnLst/>
            <a:rect l="l" t="t" r="r" b="b"/>
            <a:pathLst>
              <a:path w="558800" h="2032000">
                <a:moveTo>
                  <a:pt x="38100" y="0"/>
                </a:moveTo>
                <a:lnTo>
                  <a:pt x="520700" y="0"/>
                </a:lnTo>
                <a:arcTo wR="38100" hR="38100" stAng="16200000" swAng="5400000"/>
                <a:lnTo>
                  <a:pt x="558800" y="2032000"/>
                </a:lnTo>
                <a:lnTo>
                  <a:pt x="0" y="2032000"/>
                </a:lnTo>
                <a:lnTo>
                  <a:pt x="0" y="38100"/>
                </a:lnTo>
                <a:arcTo wR="38100" hR="38100" stAng="10800000" swAng="5400000"/>
                <a:close/>
              </a:path>
            </a:pathLst>
          </a:custGeom>
          <a:solidFill>
            <a:srgbClr val="8C96A6"/>
          </a:solidFill>
          <a:ln/>
        </p:spPr>
      </p:sp>
      <p:sp>
        <p:nvSpPr>
          <p:cNvPr id="21" name="Text 19"/>
          <p:cNvSpPr/>
          <p:nvPr/>
        </p:nvSpPr>
        <p:spPr>
          <a:xfrm>
            <a:off x="5100770" y="3212703"/>
            <a:ext cx="228269"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31B2E"/>
                </a:solidFill>
                <a:latin typeface="DM Sans" pitchFamily="34" charset="0"/>
                <a:ea typeface="DM Sans" pitchFamily="34" charset="-122"/>
                <a:cs typeface="DM Sans" pitchFamily="34" charset="-120"/>
              </a:rPr>
              <a:t>61</a:t>
            </a:r>
            <a:endParaRPr lang="en-US" sz="1400" dirty="0"/>
          </a:p>
        </p:txBody>
      </p:sp>
      <p:sp>
        <p:nvSpPr>
          <p:cNvPr id="22" name="Shape 20"/>
          <p:cNvSpPr/>
          <p:nvPr/>
        </p:nvSpPr>
        <p:spPr>
          <a:xfrm>
            <a:off x="4935538" y="3512412"/>
            <a:ext cx="558800" cy="1936750"/>
          </a:xfrm>
          <a:custGeom>
            <a:avLst/>
            <a:gdLst/>
            <a:ahLst/>
            <a:cxnLst/>
            <a:rect l="l" t="t" r="r" b="b"/>
            <a:pathLst>
              <a:path w="558800" h="1936750">
                <a:moveTo>
                  <a:pt x="38100" y="0"/>
                </a:moveTo>
                <a:lnTo>
                  <a:pt x="520700" y="0"/>
                </a:lnTo>
                <a:arcTo wR="38100" hR="38100" stAng="16200000" swAng="5400000"/>
                <a:lnTo>
                  <a:pt x="558800" y="1936750"/>
                </a:lnTo>
                <a:lnTo>
                  <a:pt x="0" y="1936750"/>
                </a:lnTo>
                <a:lnTo>
                  <a:pt x="0" y="38100"/>
                </a:lnTo>
                <a:arcTo wR="38100" hR="38100" stAng="10800000" swAng="5400000"/>
                <a:close/>
              </a:path>
            </a:pathLst>
          </a:custGeom>
          <a:solidFill>
            <a:srgbClr val="C8102E"/>
          </a:solidFill>
          <a:ln/>
        </p:spPr>
      </p:sp>
      <p:sp>
        <p:nvSpPr>
          <p:cNvPr id="23" name="Text 21"/>
          <p:cNvSpPr/>
          <p:nvPr/>
        </p:nvSpPr>
        <p:spPr>
          <a:xfrm>
            <a:off x="6010738" y="2863453"/>
            <a:ext cx="243549" cy="27430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5266"/>
                </a:solidFill>
                <a:latin typeface="DM Sans" pitchFamily="34" charset="0"/>
                <a:ea typeface="DM Sans" pitchFamily="34" charset="-122"/>
                <a:cs typeface="DM Sans" pitchFamily="34" charset="-120"/>
              </a:rPr>
              <a:t>72</a:t>
            </a:r>
            <a:endParaRPr lang="en-US" sz="1400" dirty="0"/>
          </a:p>
        </p:txBody>
      </p:sp>
      <p:sp>
        <p:nvSpPr>
          <p:cNvPr id="24" name="Shape 22"/>
          <p:cNvSpPr/>
          <p:nvPr/>
        </p:nvSpPr>
        <p:spPr>
          <a:xfrm>
            <a:off x="5853113" y="3163162"/>
            <a:ext cx="558800" cy="2286000"/>
          </a:xfrm>
          <a:custGeom>
            <a:avLst/>
            <a:gdLst/>
            <a:ahLst/>
            <a:cxnLst/>
            <a:rect l="l" t="t" r="r" b="b"/>
            <a:pathLst>
              <a:path w="558800" h="2286000">
                <a:moveTo>
                  <a:pt x="38100" y="0"/>
                </a:moveTo>
                <a:lnTo>
                  <a:pt x="520700" y="0"/>
                </a:lnTo>
                <a:arcTo wR="38100" hR="38100" stAng="16200000" swAng="5400000"/>
                <a:lnTo>
                  <a:pt x="558800" y="2286000"/>
                </a:lnTo>
                <a:lnTo>
                  <a:pt x="0" y="2286000"/>
                </a:lnTo>
                <a:lnTo>
                  <a:pt x="0" y="38100"/>
                </a:lnTo>
                <a:arcTo wR="38100" hR="38100" stAng="10800000" swAng="5400000"/>
                <a:close/>
              </a:path>
            </a:pathLst>
          </a:custGeom>
          <a:solidFill>
            <a:srgbClr val="8C96A6"/>
          </a:solidFill>
          <a:ln/>
        </p:spPr>
      </p:sp>
      <p:sp>
        <p:nvSpPr>
          <p:cNvPr id="25" name="Text 23"/>
          <p:cNvSpPr/>
          <p:nvPr/>
        </p:nvSpPr>
        <p:spPr>
          <a:xfrm>
            <a:off x="6630657" y="3307953"/>
            <a:ext cx="273645"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31B2E"/>
                </a:solidFill>
                <a:latin typeface="DM Sans" pitchFamily="34" charset="0"/>
                <a:ea typeface="DM Sans" pitchFamily="34" charset="-122"/>
                <a:cs typeface="DM Sans" pitchFamily="34" charset="-120"/>
              </a:rPr>
              <a:t>58</a:t>
            </a:r>
            <a:endParaRPr lang="en-US" sz="1400" dirty="0"/>
          </a:p>
        </p:txBody>
      </p:sp>
      <p:sp>
        <p:nvSpPr>
          <p:cNvPr id="26" name="Shape 24"/>
          <p:cNvSpPr/>
          <p:nvPr/>
        </p:nvSpPr>
        <p:spPr>
          <a:xfrm>
            <a:off x="6488113" y="3607662"/>
            <a:ext cx="558800" cy="1841500"/>
          </a:xfrm>
          <a:custGeom>
            <a:avLst/>
            <a:gdLst/>
            <a:ahLst/>
            <a:cxnLst/>
            <a:rect l="l" t="t" r="r" b="b"/>
            <a:pathLst>
              <a:path w="558800" h="1841500">
                <a:moveTo>
                  <a:pt x="38100" y="0"/>
                </a:moveTo>
                <a:lnTo>
                  <a:pt x="520700" y="0"/>
                </a:lnTo>
                <a:arcTo wR="38100" hR="38100" stAng="16200000" swAng="5400000"/>
                <a:lnTo>
                  <a:pt x="558800" y="1841500"/>
                </a:lnTo>
                <a:lnTo>
                  <a:pt x="0" y="1841500"/>
                </a:lnTo>
                <a:lnTo>
                  <a:pt x="0" y="38100"/>
                </a:lnTo>
                <a:arcTo wR="38100" hR="38100" stAng="10800000" swAng="5400000"/>
                <a:close/>
              </a:path>
            </a:pathLst>
          </a:custGeom>
          <a:solidFill>
            <a:srgbClr val="C8102E"/>
          </a:solidFill>
          <a:ln/>
        </p:spPr>
      </p:sp>
      <p:sp>
        <p:nvSpPr>
          <p:cNvPr id="27" name="Text 25"/>
          <p:cNvSpPr/>
          <p:nvPr/>
        </p:nvSpPr>
        <p:spPr>
          <a:xfrm>
            <a:off x="938213" y="5593097"/>
            <a:ext cx="1320800"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31B2E"/>
                </a:solidFill>
                <a:latin typeface="DM Sans" pitchFamily="34" charset="0"/>
                <a:ea typeface="DM Sans" pitchFamily="34" charset="-122"/>
                <a:cs typeface="DM Sans" pitchFamily="34" charset="-120"/>
              </a:rPr>
              <a:t>Inicio</a:t>
            </a:r>
            <a:endParaRPr lang="en-US" sz="1400" dirty="0"/>
          </a:p>
        </p:txBody>
      </p:sp>
      <p:sp>
        <p:nvSpPr>
          <p:cNvPr id="28" name="Text 26"/>
          <p:cNvSpPr/>
          <p:nvPr/>
        </p:nvSpPr>
        <p:spPr>
          <a:xfrm>
            <a:off x="2509838" y="5593097"/>
            <a:ext cx="1447800"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B0102A"/>
                </a:solidFill>
                <a:latin typeface="DM Sans" pitchFamily="34" charset="0"/>
                <a:ea typeface="DM Sans" pitchFamily="34" charset="-122"/>
                <a:cs typeface="DM Sans" pitchFamily="34" charset="-120"/>
              </a:rPr>
              <a:t>Paso 1</a:t>
            </a:r>
            <a:endParaRPr lang="en-US" sz="1400" dirty="0"/>
          </a:p>
        </p:txBody>
      </p:sp>
      <p:sp>
        <p:nvSpPr>
          <p:cNvPr id="29" name="Text 27"/>
          <p:cNvSpPr/>
          <p:nvPr/>
        </p:nvSpPr>
        <p:spPr>
          <a:xfrm>
            <a:off x="4208463" y="5593097"/>
            <a:ext cx="1320800"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31B2E"/>
                </a:solidFill>
                <a:latin typeface="DM Sans" pitchFamily="34" charset="0"/>
                <a:ea typeface="DM Sans" pitchFamily="34" charset="-122"/>
                <a:cs typeface="DM Sans" pitchFamily="34" charset="-120"/>
              </a:rPr>
              <a:t>Paso 2</a:t>
            </a:r>
            <a:endParaRPr lang="en-US" sz="1400" dirty="0"/>
          </a:p>
        </p:txBody>
      </p:sp>
      <p:sp>
        <p:nvSpPr>
          <p:cNvPr id="30" name="Text 28"/>
          <p:cNvSpPr/>
          <p:nvPr/>
        </p:nvSpPr>
        <p:spPr>
          <a:xfrm>
            <a:off x="5780088" y="5593097"/>
            <a:ext cx="1320800"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31B2E"/>
                </a:solidFill>
                <a:latin typeface="DM Sans" pitchFamily="34" charset="0"/>
                <a:ea typeface="DM Sans" pitchFamily="34" charset="-122"/>
                <a:cs typeface="DM Sans" pitchFamily="34" charset="-120"/>
              </a:rPr>
              <a:t>Paso 3</a:t>
            </a:r>
            <a:endParaRPr lang="en-US" sz="1400" dirty="0"/>
          </a:p>
        </p:txBody>
      </p:sp>
      <p:sp>
        <p:nvSpPr>
          <p:cNvPr id="31" name="Shape 29"/>
          <p:cNvSpPr/>
          <p:nvPr/>
        </p:nvSpPr>
        <p:spPr>
          <a:xfrm>
            <a:off x="7632700" y="1854138"/>
            <a:ext cx="3746500" cy="3987866"/>
          </a:xfrm>
          <a:prstGeom prst="roundRect">
            <a:avLst>
              <a:gd name="adj" fmla="val 3390"/>
            </a:avLst>
          </a:prstGeom>
          <a:solidFill>
            <a:srgbClr val="131B2E"/>
          </a:solidFill>
          <a:ln/>
        </p:spPr>
      </p:sp>
      <p:sp>
        <p:nvSpPr>
          <p:cNvPr id="32" name="Text 30"/>
          <p:cNvSpPr/>
          <p:nvPr/>
        </p:nvSpPr>
        <p:spPr>
          <a:xfrm>
            <a:off x="7912100" y="2133538"/>
            <a:ext cx="328333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6B7A"/>
                </a:solidFill>
                <a:latin typeface="DM Sans" pitchFamily="34" charset="0"/>
                <a:ea typeface="DM Sans" pitchFamily="34" charset="-122"/>
                <a:cs typeface="DM Sans" pitchFamily="34" charset="-120"/>
              </a:rPr>
              <a:t>EN TOTAL</a:t>
            </a:r>
            <a:endParaRPr lang="en-US" sz="1200" dirty="0"/>
          </a:p>
        </p:txBody>
      </p:sp>
      <p:sp>
        <p:nvSpPr>
          <p:cNvPr id="33" name="Text 31"/>
          <p:cNvSpPr/>
          <p:nvPr/>
        </p:nvSpPr>
        <p:spPr>
          <a:xfrm>
            <a:off x="7912100" y="2473858"/>
            <a:ext cx="3283331" cy="505420"/>
          </a:xfrm>
          <a:prstGeom prst="rect">
            <a:avLst/>
          </a:prstGeom>
          <a:noFill/>
          <a:ln/>
        </p:spPr>
        <p:txBody>
          <a:bodyPr wrap="square" lIns="0" tIns="0" rIns="0" bIns="0" rtlCol="0" anchor="t">
            <a:normAutofit/>
          </a:bodyPr>
          <a:lstStyle/>
          <a:p>
            <a:pPr marL="0" indent="0" algn="l">
              <a:lnSpc>
                <a:spcPts val="3780"/>
              </a:lnSpc>
              <a:buNone/>
            </a:pPr>
            <a:r>
              <a:rPr lang="en-US" sz="3600" b="1" dirty="0">
                <a:solidFill>
                  <a:srgbClr val="F5F2EC"/>
                </a:solidFill>
                <a:latin typeface="Space Grotesk" pitchFamily="34" charset="0"/>
                <a:ea typeface="Space Grotesk" pitchFamily="34" charset="-122"/>
                <a:cs typeface="Space Grotesk" pitchFamily="34" charset="-120"/>
              </a:rPr>
              <a:t>−16 s</a:t>
            </a:r>
            <a:endParaRPr lang="en-US" sz="3600" dirty="0"/>
          </a:p>
        </p:txBody>
      </p:sp>
      <p:sp>
        <p:nvSpPr>
          <p:cNvPr id="34" name="Text 32"/>
          <p:cNvSpPr/>
          <p:nvPr/>
        </p:nvSpPr>
        <p:spPr>
          <a:xfrm>
            <a:off x="7912100" y="3080879"/>
            <a:ext cx="3283331"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9DEE8"/>
                </a:solidFill>
                <a:latin typeface="DM Sans" pitchFamily="34" charset="0"/>
                <a:ea typeface="DM Sans" pitchFamily="34" charset="-122"/>
                <a:cs typeface="DM Sans" pitchFamily="34" charset="-120"/>
              </a:rPr>
              <a:t>160 s en Test frente a 176 s en Control (−9 %). El paso 3 es el que más mejora.</a:t>
            </a:r>
            <a:endParaRPr lang="en-US" sz="1400" dirty="0"/>
          </a:p>
        </p:txBody>
      </p:sp>
      <p:sp>
        <p:nvSpPr>
          <p:cNvPr id="35" name="Shape 33"/>
          <p:cNvSpPr/>
          <p:nvPr/>
        </p:nvSpPr>
        <p:spPr>
          <a:xfrm>
            <a:off x="7912100" y="4941627"/>
            <a:ext cx="3187700" cy="0"/>
          </a:xfrm>
          <a:prstGeom prst="line">
            <a:avLst/>
          </a:prstGeom>
          <a:noFill/>
          <a:ln w="12700">
            <a:solidFill>
              <a:srgbClr val="3A4560"/>
            </a:solidFill>
            <a:prstDash val="solid"/>
          </a:ln>
        </p:spPr>
      </p:sp>
      <p:pic>
        <p:nvPicPr>
          <p:cNvPr id="36" name="Image 0" descr="Warning"/>
          <p:cNvPicPr>
            <a:picLocks noChangeAspect="1"/>
          </p:cNvPicPr>
          <p:nvPr/>
        </p:nvPicPr>
        <p:blipFill>
          <a:blip r:embed="rId3"/>
          <a:srcRect t="-812" b="-812"/>
          <a:stretch/>
        </p:blipFill>
        <p:spPr>
          <a:xfrm>
            <a:off x="7912100" y="5100377"/>
            <a:ext cx="187457" cy="254000"/>
          </a:xfrm>
          <a:prstGeom prst="rect">
            <a:avLst/>
          </a:prstGeom>
        </p:spPr>
      </p:pic>
      <p:sp>
        <p:nvSpPr>
          <p:cNvPr id="37" name="Text 34"/>
          <p:cNvSpPr/>
          <p:nvPr/>
        </p:nvSpPr>
        <p:spPr>
          <a:xfrm>
            <a:off x="8201158" y="5100377"/>
            <a:ext cx="2985602"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5F2EC"/>
                </a:solidFill>
                <a:latin typeface="DM Sans" pitchFamily="34" charset="0"/>
                <a:ea typeface="DM Sans" pitchFamily="34" charset="-122"/>
                <a:cs typeface="DM Sans" pitchFamily="34" charset="-120"/>
              </a:rPr>
              <a:t>Ojo:</a:t>
            </a:r>
            <a:r>
              <a:rPr lang="en-US" sz="1300" dirty="0">
                <a:solidFill>
                  <a:srgbClr val="F5F2EC"/>
                </a:solidFill>
                <a:latin typeface="DM Sans" pitchFamily="34" charset="0"/>
                <a:ea typeface="DM Sans" pitchFamily="34" charset="-122"/>
                <a:cs typeface="DM Sans" pitchFamily="34" charset="-120"/>
              </a:rPr>
              <a:t> en el paso 1, Test tarda más (27 s frente a 20 s)</a:t>
            </a:r>
            <a:endParaRPr lang="en-US" sz="1300" dirty="0"/>
          </a:p>
        </p:txBody>
      </p:sp>
      <p:sp>
        <p:nvSpPr>
          <p:cNvPr id="38" name="Text 35"/>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Tiempo entre un paso y el siguiente dentro de la misma visita</a:t>
            </a:r>
            <a:endParaRPr lang="en-US" sz="1200" dirty="0"/>
          </a:p>
        </p:txBody>
      </p:sp>
      <p:sp>
        <p:nvSpPr>
          <p:cNvPr id="39" name="Text 3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5"/>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DM Sans" pitchFamily="34" charset="0"/>
                <a:ea typeface="DM Sans" pitchFamily="34" charset="-122"/>
                <a:cs typeface="DM Sans" pitchFamily="34" charset="-120"/>
              </a:rPr>
              <a:t>KPI 3 · TASA DE ERROR</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1B2E"/>
                </a:solidFill>
                <a:latin typeface="Space Grotesk" pitchFamily="34" charset="0"/>
                <a:ea typeface="Space Grotesk" pitchFamily="34" charset="-122"/>
                <a:cs typeface="Space Grotesk" pitchFamily="34" charset="-120"/>
              </a:rPr>
              <a:t>El punto débil: más vueltas atrás</a:t>
            </a:r>
            <a:endParaRPr lang="en-US" sz="3200" dirty="0"/>
          </a:p>
        </p:txBody>
      </p:sp>
      <p:sp>
        <p:nvSpPr>
          <p:cNvPr id="4" name="Text 2"/>
          <p:cNvSpPr/>
          <p:nvPr/>
        </p:nvSpPr>
        <p:spPr>
          <a:xfrm>
            <a:off x="812800" y="1854138"/>
            <a:ext cx="392430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6"/>
                </a:solidFill>
                <a:latin typeface="DM Sans" pitchFamily="34" charset="0"/>
                <a:ea typeface="DM Sans" pitchFamily="34" charset="-122"/>
                <a:cs typeface="DM Sans" pitchFamily="34" charset="-120"/>
              </a:rPr>
              <a:t>Visitas con al menos un retroceso</a:t>
            </a:r>
            <a:endParaRPr lang="en-US" sz="1400" dirty="0"/>
          </a:p>
        </p:txBody>
      </p:sp>
      <p:sp>
        <p:nvSpPr>
          <p:cNvPr id="5" name="Text 3"/>
          <p:cNvSpPr/>
          <p:nvPr/>
        </p:nvSpPr>
        <p:spPr>
          <a:xfrm>
            <a:off x="812800" y="2280841"/>
            <a:ext cx="14814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Control</a:t>
            </a:r>
            <a:endParaRPr lang="en-US" sz="1200" dirty="0"/>
          </a:p>
        </p:txBody>
      </p:sp>
      <p:sp>
        <p:nvSpPr>
          <p:cNvPr id="6" name="Text 4"/>
          <p:cNvSpPr/>
          <p:nvPr/>
        </p:nvSpPr>
        <p:spPr>
          <a:xfrm>
            <a:off x="812800" y="2519561"/>
            <a:ext cx="1684668"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6B7285"/>
                </a:solidFill>
                <a:latin typeface="Space Grotesk" pitchFamily="34" charset="0"/>
                <a:ea typeface="Space Grotesk" pitchFamily="34" charset="-122"/>
                <a:cs typeface="Space Grotesk" pitchFamily="34" charset="-120"/>
              </a:rPr>
              <a:t>20,5 %</a:t>
            </a:r>
            <a:endParaRPr lang="en-US" sz="3600" dirty="0"/>
          </a:p>
        </p:txBody>
      </p:sp>
      <p:sp>
        <p:nvSpPr>
          <p:cNvPr id="7" name="Text 5"/>
          <p:cNvSpPr/>
          <p:nvPr/>
        </p:nvSpPr>
        <p:spPr>
          <a:xfrm>
            <a:off x="2497468" y="2280841"/>
            <a:ext cx="142789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8102E"/>
                </a:solidFill>
                <a:latin typeface="DM Sans" pitchFamily="34" charset="0"/>
                <a:ea typeface="DM Sans" pitchFamily="34" charset="-122"/>
                <a:cs typeface="DM Sans" pitchFamily="34" charset="-120"/>
              </a:rPr>
              <a:t>Test</a:t>
            </a:r>
            <a:endParaRPr lang="en-US" sz="1200" dirty="0"/>
          </a:p>
        </p:txBody>
      </p:sp>
      <p:sp>
        <p:nvSpPr>
          <p:cNvPr id="8" name="Text 6"/>
          <p:cNvSpPr/>
          <p:nvPr/>
        </p:nvSpPr>
        <p:spPr>
          <a:xfrm>
            <a:off x="2497468" y="2519561"/>
            <a:ext cx="1652508"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C8102E"/>
                </a:solidFill>
                <a:latin typeface="Space Grotesk" pitchFamily="34" charset="0"/>
                <a:ea typeface="Space Grotesk" pitchFamily="34" charset="-122"/>
                <a:cs typeface="Space Grotesk" pitchFamily="34" charset="-120"/>
              </a:rPr>
              <a:t>27,0 %</a:t>
            </a:r>
            <a:endParaRPr lang="en-US" sz="3600" dirty="0"/>
          </a:p>
        </p:txBody>
      </p:sp>
      <p:sp>
        <p:nvSpPr>
          <p:cNvPr id="9" name="Text 7"/>
          <p:cNvSpPr/>
          <p:nvPr/>
        </p:nvSpPr>
        <p:spPr>
          <a:xfrm>
            <a:off x="812800" y="3154561"/>
            <a:ext cx="3924300"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31B2E"/>
                </a:solidFill>
                <a:latin typeface="DM Sans" pitchFamily="34" charset="0"/>
                <a:ea typeface="DM Sans" pitchFamily="34" charset="-122"/>
                <a:cs typeface="DM Sans" pitchFamily="34" charset="-120"/>
              </a:rPr>
              <a:t>+6,5 puntos:</a:t>
            </a:r>
            <a:r>
              <a:rPr lang="en-US" sz="1500" dirty="0">
                <a:solidFill>
                  <a:srgbClr val="131B2E"/>
                </a:solidFill>
                <a:latin typeface="DM Sans" pitchFamily="34" charset="0"/>
                <a:ea typeface="DM Sans" pitchFamily="34" charset="-122"/>
                <a:cs typeface="DM Sans" pitchFamily="34" charset="-120"/>
              </a:rPr>
              <a:t> un 32 % más de visitas con errores</a:t>
            </a:r>
            <a:endParaRPr lang="en-US" sz="1500" dirty="0"/>
          </a:p>
        </p:txBody>
      </p:sp>
      <p:sp>
        <p:nvSpPr>
          <p:cNvPr id="10" name="Text 8"/>
          <p:cNvSpPr/>
          <p:nvPr/>
        </p:nvSpPr>
        <p:spPr>
          <a:xfrm>
            <a:off x="812800" y="3865761"/>
            <a:ext cx="39243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Z-test de dos proporciones (H4): p &lt; 0,001. No es casualidad.</a:t>
            </a:r>
            <a:endParaRPr lang="en-US" sz="1200" dirty="0"/>
          </a:p>
        </p:txBody>
      </p:sp>
      <p:sp>
        <p:nvSpPr>
          <p:cNvPr id="11" name="Shape 9"/>
          <p:cNvSpPr/>
          <p:nvPr/>
        </p:nvSpPr>
        <p:spPr>
          <a:xfrm>
            <a:off x="5035550" y="1860488"/>
            <a:ext cx="6337300" cy="3975166"/>
          </a:xfrm>
          <a:prstGeom prst="roundRect">
            <a:avLst>
              <a:gd name="adj" fmla="val 3035"/>
            </a:avLst>
          </a:prstGeom>
          <a:solidFill>
            <a:srgbClr val="FFFDF8"/>
          </a:solidFill>
          <a:ln w="12700">
            <a:solidFill>
              <a:srgbClr val="DDD5C6"/>
            </a:solidFill>
            <a:prstDash val="solid"/>
          </a:ln>
        </p:spPr>
      </p:sp>
      <p:sp>
        <p:nvSpPr>
          <p:cNvPr id="12" name="Text 10"/>
          <p:cNvSpPr/>
          <p:nvPr/>
        </p:nvSpPr>
        <p:spPr>
          <a:xfrm>
            <a:off x="5321300" y="2120838"/>
            <a:ext cx="2867501"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1B2E"/>
                </a:solidFill>
                <a:latin typeface="Space Grotesk" pitchFamily="34" charset="0"/>
                <a:ea typeface="Space Grotesk" pitchFamily="34" charset="-122"/>
                <a:cs typeface="Space Grotesk" pitchFamily="34" charset="-120"/>
              </a:rPr>
              <a:t>¿A qué paso vuelven?</a:t>
            </a:r>
            <a:endParaRPr lang="en-US" sz="1800" dirty="0"/>
          </a:p>
        </p:txBody>
      </p:sp>
      <p:sp>
        <p:nvSpPr>
          <p:cNvPr id="13" name="Text 11"/>
          <p:cNvSpPr/>
          <p:nvPr/>
        </p:nvSpPr>
        <p:spPr>
          <a:xfrm>
            <a:off x="8427641" y="2151329"/>
            <a:ext cx="26594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5"/>
                </a:solidFill>
                <a:latin typeface="DM Sans" pitchFamily="34" charset="0"/>
                <a:ea typeface="DM Sans" pitchFamily="34" charset="-122"/>
                <a:cs typeface="DM Sans" pitchFamily="34" charset="-120"/>
              </a:rPr>
              <a:t>retrocesos por cada 100 visitas</a:t>
            </a:r>
            <a:endParaRPr lang="en-US" sz="1200" dirty="0"/>
          </a:p>
        </p:txBody>
      </p:sp>
      <p:sp>
        <p:nvSpPr>
          <p:cNvPr id="14" name="Text 12"/>
          <p:cNvSpPr/>
          <p:nvPr/>
        </p:nvSpPr>
        <p:spPr>
          <a:xfrm>
            <a:off x="5321300" y="2655429"/>
            <a:ext cx="10033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C8102E"/>
                </a:solidFill>
                <a:latin typeface="DM Sans" pitchFamily="34" charset="0"/>
                <a:ea typeface="DM Sans" pitchFamily="34" charset="-122"/>
                <a:cs typeface="DM Sans" pitchFamily="34" charset="-120"/>
              </a:rPr>
              <a:t>Inicio</a:t>
            </a:r>
            <a:endParaRPr lang="en-US" sz="1400" dirty="0"/>
          </a:p>
        </p:txBody>
      </p:sp>
      <p:sp>
        <p:nvSpPr>
          <p:cNvPr id="15" name="Shape 13"/>
          <p:cNvSpPr/>
          <p:nvPr/>
        </p:nvSpPr>
        <p:spPr>
          <a:xfrm>
            <a:off x="6426200" y="2558920"/>
            <a:ext cx="1701800" cy="190500"/>
          </a:xfrm>
          <a:custGeom>
            <a:avLst/>
            <a:gdLst/>
            <a:ahLst/>
            <a:cxnLst/>
            <a:rect l="l" t="t" r="r" b="b"/>
            <a:pathLst>
              <a:path w="1701800" h="190500">
                <a:moveTo>
                  <a:pt x="0" y="0"/>
                </a:moveTo>
                <a:lnTo>
                  <a:pt x="1663700" y="0"/>
                </a:lnTo>
                <a:arcTo wR="38100" hR="38100" stAng="16200000" swAng="5400000"/>
                <a:lnTo>
                  <a:pt x="1701800" y="152400"/>
                </a:lnTo>
                <a:arcTo wR="38100" hR="38100" stAng="0" swAng="5400000"/>
                <a:lnTo>
                  <a:pt x="0" y="190500"/>
                </a:lnTo>
                <a:lnTo>
                  <a:pt x="0" y="0"/>
                </a:lnTo>
                <a:close/>
              </a:path>
            </a:pathLst>
          </a:custGeom>
          <a:solidFill>
            <a:srgbClr val="8C96A6"/>
          </a:solidFill>
          <a:ln/>
        </p:spPr>
      </p:sp>
      <p:sp>
        <p:nvSpPr>
          <p:cNvPr id="16" name="Text 14"/>
          <p:cNvSpPr/>
          <p:nvPr/>
        </p:nvSpPr>
        <p:spPr>
          <a:xfrm>
            <a:off x="8204200" y="2547541"/>
            <a:ext cx="3162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6"/>
                </a:solidFill>
                <a:latin typeface="DM Sans" pitchFamily="34" charset="0"/>
                <a:ea typeface="DM Sans" pitchFamily="34" charset="-122"/>
                <a:cs typeface="DM Sans" pitchFamily="34" charset="-120"/>
              </a:rPr>
              <a:t>14,9</a:t>
            </a:r>
            <a:endParaRPr lang="en-US" sz="1200" dirty="0"/>
          </a:p>
        </p:txBody>
      </p:sp>
      <p:sp>
        <p:nvSpPr>
          <p:cNvPr id="17" name="Shape 15"/>
          <p:cNvSpPr/>
          <p:nvPr/>
        </p:nvSpPr>
        <p:spPr>
          <a:xfrm>
            <a:off x="6426200" y="2810340"/>
            <a:ext cx="3232150" cy="190500"/>
          </a:xfrm>
          <a:custGeom>
            <a:avLst/>
            <a:gdLst/>
            <a:ahLst/>
            <a:cxnLst/>
            <a:rect l="l" t="t" r="r" b="b"/>
            <a:pathLst>
              <a:path w="3232150" h="190500">
                <a:moveTo>
                  <a:pt x="0" y="0"/>
                </a:moveTo>
                <a:lnTo>
                  <a:pt x="3194050" y="0"/>
                </a:lnTo>
                <a:arcTo wR="38100" hR="38100" stAng="16200000" swAng="5400000"/>
                <a:lnTo>
                  <a:pt x="3232150" y="152400"/>
                </a:lnTo>
                <a:arcTo wR="38100" hR="38100" stAng="0" swAng="5400000"/>
                <a:lnTo>
                  <a:pt x="0" y="190500"/>
                </a:lnTo>
                <a:lnTo>
                  <a:pt x="0" y="0"/>
                </a:lnTo>
                <a:close/>
              </a:path>
            </a:pathLst>
          </a:custGeom>
          <a:solidFill>
            <a:srgbClr val="C8102E"/>
          </a:solidFill>
          <a:ln/>
        </p:spPr>
      </p:sp>
      <p:sp>
        <p:nvSpPr>
          <p:cNvPr id="18" name="Text 16"/>
          <p:cNvSpPr/>
          <p:nvPr/>
        </p:nvSpPr>
        <p:spPr>
          <a:xfrm>
            <a:off x="9734550" y="2798961"/>
            <a:ext cx="37512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1B2E"/>
                </a:solidFill>
                <a:latin typeface="DM Sans" pitchFamily="34" charset="0"/>
                <a:ea typeface="DM Sans" pitchFamily="34" charset="-122"/>
                <a:cs typeface="DM Sans" pitchFamily="34" charset="-120"/>
              </a:rPr>
              <a:t>28,3</a:t>
            </a:r>
            <a:endParaRPr lang="en-US" sz="1200" dirty="0"/>
          </a:p>
        </p:txBody>
      </p:sp>
      <p:sp>
        <p:nvSpPr>
          <p:cNvPr id="19" name="Text 17"/>
          <p:cNvSpPr/>
          <p:nvPr/>
        </p:nvSpPr>
        <p:spPr>
          <a:xfrm>
            <a:off x="5321300" y="3272569"/>
            <a:ext cx="10033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B2E"/>
                </a:solidFill>
                <a:latin typeface="DM Sans" pitchFamily="34" charset="0"/>
                <a:ea typeface="DM Sans" pitchFamily="34" charset="-122"/>
                <a:cs typeface="DM Sans" pitchFamily="34" charset="-120"/>
              </a:rPr>
              <a:t>Paso 1</a:t>
            </a:r>
            <a:endParaRPr lang="en-US" sz="1400" dirty="0"/>
          </a:p>
        </p:txBody>
      </p:sp>
      <p:sp>
        <p:nvSpPr>
          <p:cNvPr id="20" name="Shape 18"/>
          <p:cNvSpPr/>
          <p:nvPr/>
        </p:nvSpPr>
        <p:spPr>
          <a:xfrm>
            <a:off x="6426200" y="3176060"/>
            <a:ext cx="812800" cy="190500"/>
          </a:xfrm>
          <a:custGeom>
            <a:avLst/>
            <a:gdLst/>
            <a:ahLst/>
            <a:cxnLst/>
            <a:rect l="l" t="t" r="r" b="b"/>
            <a:pathLst>
              <a:path w="812800" h="190500">
                <a:moveTo>
                  <a:pt x="0" y="0"/>
                </a:moveTo>
                <a:lnTo>
                  <a:pt x="774700" y="0"/>
                </a:lnTo>
                <a:arcTo wR="38100" hR="38100" stAng="16200000" swAng="5400000"/>
                <a:lnTo>
                  <a:pt x="812800" y="152400"/>
                </a:lnTo>
                <a:arcTo wR="38100" hR="38100" stAng="0" swAng="5400000"/>
                <a:lnTo>
                  <a:pt x="0" y="190500"/>
                </a:lnTo>
                <a:lnTo>
                  <a:pt x="0" y="0"/>
                </a:lnTo>
                <a:close/>
              </a:path>
            </a:pathLst>
          </a:custGeom>
          <a:solidFill>
            <a:srgbClr val="8C96A6"/>
          </a:solidFill>
          <a:ln/>
        </p:spPr>
      </p:sp>
      <p:sp>
        <p:nvSpPr>
          <p:cNvPr id="21" name="Text 19"/>
          <p:cNvSpPr/>
          <p:nvPr/>
        </p:nvSpPr>
        <p:spPr>
          <a:xfrm>
            <a:off x="7315200" y="3164681"/>
            <a:ext cx="19989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6"/>
                </a:solidFill>
                <a:latin typeface="DM Sans" pitchFamily="34" charset="0"/>
                <a:ea typeface="DM Sans" pitchFamily="34" charset="-122"/>
                <a:cs typeface="DM Sans" pitchFamily="34" charset="-120"/>
              </a:rPr>
              <a:t>7,1</a:t>
            </a:r>
            <a:endParaRPr lang="en-US" sz="1200" dirty="0"/>
          </a:p>
        </p:txBody>
      </p:sp>
      <p:sp>
        <p:nvSpPr>
          <p:cNvPr id="22" name="Shape 20"/>
          <p:cNvSpPr/>
          <p:nvPr/>
        </p:nvSpPr>
        <p:spPr>
          <a:xfrm>
            <a:off x="6426200" y="3427481"/>
            <a:ext cx="1041400" cy="190500"/>
          </a:xfrm>
          <a:custGeom>
            <a:avLst/>
            <a:gdLst/>
            <a:ahLst/>
            <a:cxnLst/>
            <a:rect l="l" t="t" r="r" b="b"/>
            <a:pathLst>
              <a:path w="1041400" h="190500">
                <a:moveTo>
                  <a:pt x="0" y="0"/>
                </a:moveTo>
                <a:lnTo>
                  <a:pt x="1003300" y="0"/>
                </a:lnTo>
                <a:arcTo wR="38100" hR="38100" stAng="16200000" swAng="5400000"/>
                <a:lnTo>
                  <a:pt x="1041400" y="152400"/>
                </a:lnTo>
                <a:arcTo wR="38100" hR="38100" stAng="0" swAng="5400000"/>
                <a:lnTo>
                  <a:pt x="0" y="190500"/>
                </a:lnTo>
                <a:lnTo>
                  <a:pt x="0" y="0"/>
                </a:lnTo>
                <a:close/>
              </a:path>
            </a:pathLst>
          </a:custGeom>
          <a:solidFill>
            <a:srgbClr val="C8102E"/>
          </a:solidFill>
          <a:ln/>
        </p:spPr>
      </p:sp>
      <p:sp>
        <p:nvSpPr>
          <p:cNvPr id="23" name="Text 21"/>
          <p:cNvSpPr/>
          <p:nvPr/>
        </p:nvSpPr>
        <p:spPr>
          <a:xfrm>
            <a:off x="7543800" y="3416102"/>
            <a:ext cx="24044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1B2E"/>
                </a:solidFill>
                <a:latin typeface="DM Sans" pitchFamily="34" charset="0"/>
                <a:ea typeface="DM Sans" pitchFamily="34" charset="-122"/>
                <a:cs typeface="DM Sans" pitchFamily="34" charset="-120"/>
              </a:rPr>
              <a:t>9,1</a:t>
            </a:r>
            <a:endParaRPr lang="en-US" sz="1200" dirty="0"/>
          </a:p>
        </p:txBody>
      </p:sp>
      <p:sp>
        <p:nvSpPr>
          <p:cNvPr id="24" name="Text 22"/>
          <p:cNvSpPr/>
          <p:nvPr/>
        </p:nvSpPr>
        <p:spPr>
          <a:xfrm>
            <a:off x="5321300" y="3889710"/>
            <a:ext cx="10033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B2E"/>
                </a:solidFill>
                <a:latin typeface="DM Sans" pitchFamily="34" charset="0"/>
                <a:ea typeface="DM Sans" pitchFamily="34" charset="-122"/>
                <a:cs typeface="DM Sans" pitchFamily="34" charset="-120"/>
              </a:rPr>
              <a:t>Paso 2</a:t>
            </a:r>
            <a:endParaRPr lang="en-US" sz="1400" dirty="0"/>
          </a:p>
        </p:txBody>
      </p:sp>
      <p:sp>
        <p:nvSpPr>
          <p:cNvPr id="25" name="Shape 23"/>
          <p:cNvSpPr/>
          <p:nvPr/>
        </p:nvSpPr>
        <p:spPr>
          <a:xfrm>
            <a:off x="6426200" y="3793201"/>
            <a:ext cx="831850" cy="190500"/>
          </a:xfrm>
          <a:custGeom>
            <a:avLst/>
            <a:gdLst/>
            <a:ahLst/>
            <a:cxnLst/>
            <a:rect l="l" t="t" r="r" b="b"/>
            <a:pathLst>
              <a:path w="831850" h="190500">
                <a:moveTo>
                  <a:pt x="0" y="0"/>
                </a:moveTo>
                <a:lnTo>
                  <a:pt x="793750" y="0"/>
                </a:lnTo>
                <a:arcTo wR="38100" hR="38100" stAng="16200000" swAng="5400000"/>
                <a:lnTo>
                  <a:pt x="831850" y="152400"/>
                </a:lnTo>
                <a:arcTo wR="38100" hR="38100" stAng="0" swAng="5400000"/>
                <a:lnTo>
                  <a:pt x="0" y="190500"/>
                </a:lnTo>
                <a:lnTo>
                  <a:pt x="0" y="0"/>
                </a:lnTo>
                <a:close/>
              </a:path>
            </a:pathLst>
          </a:custGeom>
          <a:solidFill>
            <a:srgbClr val="8C96A6"/>
          </a:solidFill>
          <a:ln/>
        </p:spPr>
      </p:sp>
      <p:sp>
        <p:nvSpPr>
          <p:cNvPr id="26" name="Text 24"/>
          <p:cNvSpPr/>
          <p:nvPr/>
        </p:nvSpPr>
        <p:spPr>
          <a:xfrm>
            <a:off x="7334250" y="3781822"/>
            <a:ext cx="24242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6"/>
                </a:solidFill>
                <a:latin typeface="DM Sans" pitchFamily="34" charset="0"/>
                <a:ea typeface="DM Sans" pitchFamily="34" charset="-122"/>
                <a:cs typeface="DM Sans" pitchFamily="34" charset="-120"/>
              </a:rPr>
              <a:t>7,3</a:t>
            </a:r>
            <a:endParaRPr lang="en-US" sz="1200" dirty="0"/>
          </a:p>
        </p:txBody>
      </p:sp>
      <p:sp>
        <p:nvSpPr>
          <p:cNvPr id="27" name="Shape 25"/>
          <p:cNvSpPr/>
          <p:nvPr/>
        </p:nvSpPr>
        <p:spPr>
          <a:xfrm>
            <a:off x="6426200" y="4044621"/>
            <a:ext cx="698500" cy="190500"/>
          </a:xfrm>
          <a:custGeom>
            <a:avLst/>
            <a:gdLst/>
            <a:ahLst/>
            <a:cxnLst/>
            <a:rect l="l" t="t" r="r" b="b"/>
            <a:pathLst>
              <a:path w="698500" h="190500">
                <a:moveTo>
                  <a:pt x="0" y="0"/>
                </a:moveTo>
                <a:lnTo>
                  <a:pt x="660400" y="0"/>
                </a:lnTo>
                <a:arcTo wR="38100" hR="38100" stAng="16200000" swAng="5400000"/>
                <a:lnTo>
                  <a:pt x="698500" y="152400"/>
                </a:lnTo>
                <a:arcTo wR="38100" hR="38100" stAng="0" swAng="5400000"/>
                <a:lnTo>
                  <a:pt x="0" y="190500"/>
                </a:lnTo>
                <a:lnTo>
                  <a:pt x="0" y="0"/>
                </a:lnTo>
                <a:close/>
              </a:path>
            </a:pathLst>
          </a:custGeom>
          <a:solidFill>
            <a:srgbClr val="C8102E"/>
          </a:solidFill>
          <a:ln/>
        </p:spPr>
      </p:sp>
      <p:sp>
        <p:nvSpPr>
          <p:cNvPr id="28" name="Text 26"/>
          <p:cNvSpPr/>
          <p:nvPr/>
        </p:nvSpPr>
        <p:spPr>
          <a:xfrm>
            <a:off x="7200900" y="4033242"/>
            <a:ext cx="24044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1B2E"/>
                </a:solidFill>
                <a:latin typeface="DM Sans" pitchFamily="34" charset="0"/>
                <a:ea typeface="DM Sans" pitchFamily="34" charset="-122"/>
                <a:cs typeface="DM Sans" pitchFamily="34" charset="-120"/>
              </a:rPr>
              <a:t>6,1</a:t>
            </a:r>
            <a:endParaRPr lang="en-US" sz="1200" dirty="0"/>
          </a:p>
        </p:txBody>
      </p:sp>
      <p:sp>
        <p:nvSpPr>
          <p:cNvPr id="29" name="Text 27"/>
          <p:cNvSpPr/>
          <p:nvPr/>
        </p:nvSpPr>
        <p:spPr>
          <a:xfrm>
            <a:off x="5321300" y="4806950"/>
            <a:ext cx="5765800" cy="768350"/>
          </a:xfrm>
          <a:prstGeom prst="roundRect">
            <a:avLst>
              <a:gd name="adj" fmla="val 11570"/>
            </a:avLst>
          </a:prstGeom>
          <a:solidFill>
            <a:srgbClr val="131B2E"/>
          </a:solidFill>
          <a:ln/>
        </p:spPr>
        <p:txBody>
          <a:bodyPr wrap="square" lIns="151762" tIns="100962" rIns="0" bIns="75562" rtlCol="0" anchor="t">
            <a:normAutofit/>
          </a:bodyPr>
          <a:lstStyle/>
          <a:p>
            <a:pPr marL="0" indent="0" algn="l">
              <a:lnSpc>
                <a:spcPts val="2025"/>
              </a:lnSpc>
              <a:buNone/>
            </a:pPr>
            <a:r>
              <a:rPr lang="en-US" sz="1500" dirty="0">
                <a:solidFill>
                  <a:srgbClr val="F5F2EC"/>
                </a:solidFill>
                <a:latin typeface="DM Sans" pitchFamily="34" charset="0"/>
                <a:ea typeface="DM Sans" pitchFamily="34" charset="-122"/>
                <a:cs typeface="DM Sans" pitchFamily="34" charset="-120"/>
              </a:rPr>
              <a:t>Casi todos los retrocesos de más en Test (≈ 95 %) son </a:t>
            </a:r>
            <a:r>
              <a:rPr lang="en-US" sz="1500" b="1" dirty="0">
                <a:solidFill>
                  <a:srgbClr val="F5F2EC"/>
                </a:solidFill>
                <a:latin typeface="DM Sans" pitchFamily="34" charset="0"/>
                <a:ea typeface="DM Sans" pitchFamily="34" charset="-122"/>
                <a:cs typeface="DM Sans" pitchFamily="34" charset="-120"/>
              </a:rPr>
              <a:t>vueltas al inicio</a:t>
            </a:r>
            <a:endParaRPr lang="en-US" sz="1500" dirty="0"/>
          </a:p>
        </p:txBody>
      </p:sp>
      <p:sp>
        <p:nvSpPr>
          <p:cNvPr id="30" name="Text 28"/>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Retroceso = volver a un paso anterior dentro de la misma visita · gris Control, rojo Test</a:t>
            </a:r>
            <a:endParaRPr lang="en-US" sz="1200" dirty="0"/>
          </a:p>
        </p:txBody>
      </p:sp>
      <p:sp>
        <p:nvSpPr>
          <p:cNvPr id="31" name="Text 2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5"/>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DM Sans" pitchFamily="34" charset="0"/>
                <a:ea typeface="DM Sans" pitchFamily="34" charset="-122"/>
                <a:cs typeface="DM Sans" pitchFamily="34" charset="-120"/>
              </a:rPr>
              <a:t>KPI 4 · EMBUDO</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1B2E"/>
                </a:solidFill>
                <a:latin typeface="Space Grotesk" pitchFamily="34" charset="0"/>
                <a:ea typeface="Space Grotesk" pitchFamily="34" charset="-122"/>
                <a:cs typeface="Space Grotesk" pitchFamily="34" charset="-120"/>
              </a:rPr>
              <a:t>La ventaja se gana al empezar</a:t>
            </a:r>
            <a:endParaRPr lang="en-US" sz="3200" dirty="0"/>
          </a:p>
        </p:txBody>
      </p:sp>
      <p:sp>
        <p:nvSpPr>
          <p:cNvPr id="4" name="Text 2"/>
          <p:cNvSpPr/>
          <p:nvPr/>
        </p:nvSpPr>
        <p:spPr>
          <a:xfrm>
            <a:off x="812800" y="1854138"/>
            <a:ext cx="15113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 de clientes que llegan</a:t>
            </a:r>
            <a:endParaRPr lang="en-US" sz="1200" dirty="0"/>
          </a:p>
        </p:txBody>
      </p:sp>
      <p:sp>
        <p:nvSpPr>
          <p:cNvPr id="5" name="Shape 3"/>
          <p:cNvSpPr/>
          <p:nvPr/>
        </p:nvSpPr>
        <p:spPr>
          <a:xfrm>
            <a:off x="2476500" y="2003958"/>
            <a:ext cx="177800" cy="127000"/>
          </a:xfrm>
          <a:prstGeom prst="roundRect">
            <a:avLst>
              <a:gd name="adj" fmla="val 20000"/>
            </a:avLst>
          </a:prstGeom>
          <a:solidFill>
            <a:srgbClr val="8C96A6"/>
          </a:solidFill>
          <a:ln/>
        </p:spPr>
      </p:sp>
      <p:sp>
        <p:nvSpPr>
          <p:cNvPr id="6" name="Text 4"/>
          <p:cNvSpPr/>
          <p:nvPr/>
        </p:nvSpPr>
        <p:spPr>
          <a:xfrm>
            <a:off x="2857500" y="1960761"/>
            <a:ext cx="62968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1B2E"/>
                </a:solidFill>
                <a:latin typeface="DM Sans" pitchFamily="34" charset="0"/>
                <a:ea typeface="DM Sans" pitchFamily="34" charset="-122"/>
                <a:cs typeface="DM Sans" pitchFamily="34" charset="-120"/>
              </a:rPr>
              <a:t>Control</a:t>
            </a:r>
            <a:endParaRPr lang="en-US" sz="1200" dirty="0"/>
          </a:p>
        </p:txBody>
      </p:sp>
      <p:sp>
        <p:nvSpPr>
          <p:cNvPr id="7" name="Shape 5"/>
          <p:cNvSpPr/>
          <p:nvPr/>
        </p:nvSpPr>
        <p:spPr>
          <a:xfrm>
            <a:off x="3585435" y="2003958"/>
            <a:ext cx="177800" cy="127000"/>
          </a:xfrm>
          <a:prstGeom prst="roundRect">
            <a:avLst>
              <a:gd name="adj" fmla="val 20000"/>
            </a:avLst>
          </a:prstGeom>
          <a:solidFill>
            <a:srgbClr val="C8102E"/>
          </a:solidFill>
          <a:ln/>
        </p:spPr>
      </p:sp>
      <p:sp>
        <p:nvSpPr>
          <p:cNvPr id="8" name="Text 6"/>
          <p:cNvSpPr/>
          <p:nvPr/>
        </p:nvSpPr>
        <p:spPr>
          <a:xfrm>
            <a:off x="3966435" y="1960761"/>
            <a:ext cx="36869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1B2E"/>
                </a:solidFill>
                <a:latin typeface="DM Sans" pitchFamily="34" charset="0"/>
                <a:ea typeface="DM Sans" pitchFamily="34" charset="-122"/>
                <a:cs typeface="DM Sans" pitchFamily="34" charset="-120"/>
              </a:rPr>
              <a:t>Test</a:t>
            </a:r>
            <a:endParaRPr lang="en-US" sz="1200" dirty="0"/>
          </a:p>
        </p:txBody>
      </p:sp>
      <p:sp>
        <p:nvSpPr>
          <p:cNvPr id="9" name="Text 7"/>
          <p:cNvSpPr/>
          <p:nvPr/>
        </p:nvSpPr>
        <p:spPr>
          <a:xfrm>
            <a:off x="812800" y="2502960"/>
            <a:ext cx="15113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B2E"/>
                </a:solidFill>
                <a:latin typeface="DM Sans" pitchFamily="34" charset="0"/>
                <a:ea typeface="DM Sans" pitchFamily="34" charset="-122"/>
                <a:cs typeface="DM Sans" pitchFamily="34" charset="-120"/>
              </a:rPr>
              <a:t>Inicio</a:t>
            </a:r>
            <a:endParaRPr lang="en-US" sz="1400" dirty="0"/>
          </a:p>
        </p:txBody>
      </p:sp>
      <p:sp>
        <p:nvSpPr>
          <p:cNvPr id="10" name="Shape 8"/>
          <p:cNvSpPr/>
          <p:nvPr/>
        </p:nvSpPr>
        <p:spPr>
          <a:xfrm>
            <a:off x="2425700" y="2406452"/>
            <a:ext cx="4102100" cy="190500"/>
          </a:xfrm>
          <a:custGeom>
            <a:avLst/>
            <a:gdLst/>
            <a:ahLst/>
            <a:cxnLst/>
            <a:rect l="l" t="t" r="r" b="b"/>
            <a:pathLst>
              <a:path w="4102100" h="190500">
                <a:moveTo>
                  <a:pt x="0" y="0"/>
                </a:moveTo>
                <a:lnTo>
                  <a:pt x="4064000" y="0"/>
                </a:lnTo>
                <a:arcTo wR="38100" hR="38100" stAng="16200000" swAng="5400000"/>
                <a:lnTo>
                  <a:pt x="4102100" y="152400"/>
                </a:lnTo>
                <a:arcTo wR="38100" hR="38100" stAng="0" swAng="5400000"/>
                <a:lnTo>
                  <a:pt x="0" y="190500"/>
                </a:lnTo>
                <a:lnTo>
                  <a:pt x="0" y="0"/>
                </a:lnTo>
                <a:close/>
              </a:path>
            </a:pathLst>
          </a:custGeom>
          <a:solidFill>
            <a:srgbClr val="8C96A6"/>
          </a:solidFill>
          <a:ln/>
        </p:spPr>
      </p:sp>
      <p:sp>
        <p:nvSpPr>
          <p:cNvPr id="11" name="Text 9"/>
          <p:cNvSpPr/>
          <p:nvPr/>
        </p:nvSpPr>
        <p:spPr>
          <a:xfrm>
            <a:off x="6604000" y="2395079"/>
            <a:ext cx="5664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6"/>
                </a:solidFill>
                <a:latin typeface="DM Sans" pitchFamily="34" charset="0"/>
                <a:ea typeface="DM Sans" pitchFamily="34" charset="-122"/>
                <a:cs typeface="DM Sans" pitchFamily="34" charset="-120"/>
              </a:rPr>
              <a:t>99,4 %</a:t>
            </a:r>
            <a:endParaRPr lang="en-US" sz="1200" dirty="0"/>
          </a:p>
        </p:txBody>
      </p:sp>
      <p:sp>
        <p:nvSpPr>
          <p:cNvPr id="12" name="Shape 10"/>
          <p:cNvSpPr/>
          <p:nvPr/>
        </p:nvSpPr>
        <p:spPr>
          <a:xfrm>
            <a:off x="2425700" y="2657872"/>
            <a:ext cx="4083050" cy="190500"/>
          </a:xfrm>
          <a:custGeom>
            <a:avLst/>
            <a:gdLst/>
            <a:ahLst/>
            <a:cxnLst/>
            <a:rect l="l" t="t" r="r" b="b"/>
            <a:pathLst>
              <a:path w="4083050" h="190500">
                <a:moveTo>
                  <a:pt x="0" y="0"/>
                </a:moveTo>
                <a:lnTo>
                  <a:pt x="4044950" y="0"/>
                </a:lnTo>
                <a:arcTo wR="38100" hR="38100" stAng="16200000" swAng="5400000"/>
                <a:lnTo>
                  <a:pt x="4083050" y="152400"/>
                </a:lnTo>
                <a:arcTo wR="38100" hR="38100" stAng="0" swAng="5400000"/>
                <a:lnTo>
                  <a:pt x="0" y="190500"/>
                </a:lnTo>
                <a:lnTo>
                  <a:pt x="0" y="0"/>
                </a:lnTo>
                <a:close/>
              </a:path>
            </a:pathLst>
          </a:custGeom>
          <a:solidFill>
            <a:srgbClr val="C8102E"/>
          </a:solidFill>
          <a:ln/>
        </p:spPr>
      </p:sp>
      <p:sp>
        <p:nvSpPr>
          <p:cNvPr id="13" name="Text 11"/>
          <p:cNvSpPr/>
          <p:nvPr/>
        </p:nvSpPr>
        <p:spPr>
          <a:xfrm>
            <a:off x="6584950" y="2646499"/>
            <a:ext cx="59936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1B2E"/>
                </a:solidFill>
                <a:latin typeface="DM Sans" pitchFamily="34" charset="0"/>
                <a:ea typeface="DM Sans" pitchFamily="34" charset="-122"/>
                <a:cs typeface="DM Sans" pitchFamily="34" charset="-120"/>
              </a:rPr>
              <a:t>98,9 %</a:t>
            </a:r>
            <a:endParaRPr lang="en-US" sz="1200" dirty="0"/>
          </a:p>
        </p:txBody>
      </p:sp>
      <p:sp>
        <p:nvSpPr>
          <p:cNvPr id="14" name="Text 12"/>
          <p:cNvSpPr/>
          <p:nvPr/>
        </p:nvSpPr>
        <p:spPr>
          <a:xfrm>
            <a:off x="812800" y="3082001"/>
            <a:ext cx="15113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B2E"/>
                </a:solidFill>
                <a:latin typeface="DM Sans" pitchFamily="34" charset="0"/>
                <a:ea typeface="DM Sans" pitchFamily="34" charset="-122"/>
                <a:cs typeface="DM Sans" pitchFamily="34" charset="-120"/>
              </a:rPr>
              <a:t>Paso 1</a:t>
            </a:r>
            <a:endParaRPr lang="en-US" sz="1400" dirty="0"/>
          </a:p>
        </p:txBody>
      </p:sp>
      <p:sp>
        <p:nvSpPr>
          <p:cNvPr id="15" name="Shape 13"/>
          <p:cNvSpPr/>
          <p:nvPr/>
        </p:nvSpPr>
        <p:spPr>
          <a:xfrm>
            <a:off x="2425700" y="2985492"/>
            <a:ext cx="3530600" cy="190500"/>
          </a:xfrm>
          <a:custGeom>
            <a:avLst/>
            <a:gdLst/>
            <a:ahLst/>
            <a:cxnLst/>
            <a:rect l="l" t="t" r="r" b="b"/>
            <a:pathLst>
              <a:path w="3530600" h="190500">
                <a:moveTo>
                  <a:pt x="0" y="0"/>
                </a:moveTo>
                <a:lnTo>
                  <a:pt x="3492500" y="0"/>
                </a:lnTo>
                <a:arcTo wR="38100" hR="38100" stAng="16200000" swAng="5400000"/>
                <a:lnTo>
                  <a:pt x="3530600" y="152400"/>
                </a:lnTo>
                <a:arcTo wR="38100" hR="38100" stAng="0" swAng="5400000"/>
                <a:lnTo>
                  <a:pt x="0" y="190500"/>
                </a:lnTo>
                <a:lnTo>
                  <a:pt x="0" y="0"/>
                </a:lnTo>
                <a:close/>
              </a:path>
            </a:pathLst>
          </a:custGeom>
          <a:solidFill>
            <a:srgbClr val="8C96A6"/>
          </a:solidFill>
          <a:ln/>
        </p:spPr>
      </p:sp>
      <p:sp>
        <p:nvSpPr>
          <p:cNvPr id="16" name="Text 14"/>
          <p:cNvSpPr/>
          <p:nvPr/>
        </p:nvSpPr>
        <p:spPr>
          <a:xfrm>
            <a:off x="6032500" y="2974119"/>
            <a:ext cx="56332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6"/>
                </a:solidFill>
                <a:latin typeface="DM Sans" pitchFamily="34" charset="0"/>
                <a:ea typeface="DM Sans" pitchFamily="34" charset="-122"/>
                <a:cs typeface="DM Sans" pitchFamily="34" charset="-120"/>
              </a:rPr>
              <a:t>85,6 %</a:t>
            </a:r>
            <a:endParaRPr lang="en-US" sz="1200" dirty="0"/>
          </a:p>
        </p:txBody>
      </p:sp>
      <p:sp>
        <p:nvSpPr>
          <p:cNvPr id="17" name="Shape 15"/>
          <p:cNvSpPr/>
          <p:nvPr/>
        </p:nvSpPr>
        <p:spPr>
          <a:xfrm>
            <a:off x="2425700" y="3236913"/>
            <a:ext cx="3714750" cy="190500"/>
          </a:xfrm>
          <a:custGeom>
            <a:avLst/>
            <a:gdLst/>
            <a:ahLst/>
            <a:cxnLst/>
            <a:rect l="l" t="t" r="r" b="b"/>
            <a:pathLst>
              <a:path w="3714750" h="190500">
                <a:moveTo>
                  <a:pt x="0" y="0"/>
                </a:moveTo>
                <a:lnTo>
                  <a:pt x="3676650" y="0"/>
                </a:lnTo>
                <a:arcTo wR="38100" hR="38100" stAng="16200000" swAng="5400000"/>
                <a:lnTo>
                  <a:pt x="3714750" y="152400"/>
                </a:lnTo>
                <a:arcTo wR="38100" hR="38100" stAng="0" swAng="5400000"/>
                <a:lnTo>
                  <a:pt x="0" y="190500"/>
                </a:lnTo>
                <a:lnTo>
                  <a:pt x="0" y="0"/>
                </a:lnTo>
                <a:close/>
              </a:path>
            </a:pathLst>
          </a:custGeom>
          <a:solidFill>
            <a:srgbClr val="C8102E"/>
          </a:solidFill>
          <a:ln/>
        </p:spPr>
      </p:sp>
      <p:sp>
        <p:nvSpPr>
          <p:cNvPr id="18" name="Text 16"/>
          <p:cNvSpPr/>
          <p:nvPr/>
        </p:nvSpPr>
        <p:spPr>
          <a:xfrm>
            <a:off x="6216650" y="3225540"/>
            <a:ext cx="62110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1B2E"/>
                </a:solidFill>
                <a:latin typeface="DM Sans" pitchFamily="34" charset="0"/>
                <a:ea typeface="DM Sans" pitchFamily="34" charset="-122"/>
                <a:cs typeface="DM Sans" pitchFamily="34" charset="-120"/>
              </a:rPr>
              <a:t>90,0 %</a:t>
            </a:r>
            <a:endParaRPr lang="en-US" sz="1200" dirty="0"/>
          </a:p>
        </p:txBody>
      </p:sp>
      <p:sp>
        <p:nvSpPr>
          <p:cNvPr id="19" name="Text 17"/>
          <p:cNvSpPr/>
          <p:nvPr/>
        </p:nvSpPr>
        <p:spPr>
          <a:xfrm>
            <a:off x="812800" y="3661042"/>
            <a:ext cx="15113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B2E"/>
                </a:solidFill>
                <a:latin typeface="DM Sans" pitchFamily="34" charset="0"/>
                <a:ea typeface="DM Sans" pitchFamily="34" charset="-122"/>
                <a:cs typeface="DM Sans" pitchFamily="34" charset="-120"/>
              </a:rPr>
              <a:t>Paso 2</a:t>
            </a:r>
            <a:endParaRPr lang="en-US" sz="1400" dirty="0"/>
          </a:p>
        </p:txBody>
      </p:sp>
      <p:sp>
        <p:nvSpPr>
          <p:cNvPr id="20" name="Shape 18"/>
          <p:cNvSpPr/>
          <p:nvPr/>
        </p:nvSpPr>
        <p:spPr>
          <a:xfrm>
            <a:off x="2425700" y="3564533"/>
            <a:ext cx="3270250" cy="190500"/>
          </a:xfrm>
          <a:custGeom>
            <a:avLst/>
            <a:gdLst/>
            <a:ahLst/>
            <a:cxnLst/>
            <a:rect l="l" t="t" r="r" b="b"/>
            <a:pathLst>
              <a:path w="3270250" h="190500">
                <a:moveTo>
                  <a:pt x="0" y="0"/>
                </a:moveTo>
                <a:lnTo>
                  <a:pt x="3232150" y="0"/>
                </a:lnTo>
                <a:arcTo wR="38100" hR="38100" stAng="16200000" swAng="5400000"/>
                <a:lnTo>
                  <a:pt x="3270250" y="152400"/>
                </a:lnTo>
                <a:arcTo wR="38100" hR="38100" stAng="0" swAng="5400000"/>
                <a:lnTo>
                  <a:pt x="0" y="190500"/>
                </a:lnTo>
                <a:lnTo>
                  <a:pt x="0" y="0"/>
                </a:lnTo>
                <a:close/>
              </a:path>
            </a:pathLst>
          </a:custGeom>
          <a:solidFill>
            <a:srgbClr val="8C96A6"/>
          </a:solidFill>
          <a:ln/>
        </p:spPr>
      </p:sp>
      <p:sp>
        <p:nvSpPr>
          <p:cNvPr id="21" name="Text 19"/>
          <p:cNvSpPr/>
          <p:nvPr/>
        </p:nvSpPr>
        <p:spPr>
          <a:xfrm>
            <a:off x="5772150" y="3553160"/>
            <a:ext cx="5415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6"/>
                </a:solidFill>
                <a:latin typeface="DM Sans" pitchFamily="34" charset="0"/>
                <a:ea typeface="DM Sans" pitchFamily="34" charset="-122"/>
                <a:cs typeface="DM Sans" pitchFamily="34" charset="-120"/>
              </a:rPr>
              <a:t>79,3 %</a:t>
            </a:r>
            <a:endParaRPr lang="en-US" sz="1200" dirty="0"/>
          </a:p>
        </p:txBody>
      </p:sp>
      <p:sp>
        <p:nvSpPr>
          <p:cNvPr id="22" name="Shape 20"/>
          <p:cNvSpPr/>
          <p:nvPr/>
        </p:nvSpPr>
        <p:spPr>
          <a:xfrm>
            <a:off x="2425700" y="3815953"/>
            <a:ext cx="3403600" cy="190500"/>
          </a:xfrm>
          <a:custGeom>
            <a:avLst/>
            <a:gdLst/>
            <a:ahLst/>
            <a:cxnLst/>
            <a:rect l="l" t="t" r="r" b="b"/>
            <a:pathLst>
              <a:path w="3403600" h="190500">
                <a:moveTo>
                  <a:pt x="0" y="0"/>
                </a:moveTo>
                <a:lnTo>
                  <a:pt x="3365500" y="0"/>
                </a:lnTo>
                <a:arcTo wR="38100" hR="38100" stAng="16200000" swAng="5400000"/>
                <a:lnTo>
                  <a:pt x="3403600" y="152400"/>
                </a:lnTo>
                <a:arcTo wR="38100" hR="38100" stAng="0" swAng="5400000"/>
                <a:lnTo>
                  <a:pt x="0" y="190500"/>
                </a:lnTo>
                <a:lnTo>
                  <a:pt x="0" y="0"/>
                </a:lnTo>
                <a:close/>
              </a:path>
            </a:pathLst>
          </a:custGeom>
          <a:solidFill>
            <a:srgbClr val="C8102E"/>
          </a:solidFill>
          <a:ln/>
        </p:spPr>
      </p:sp>
      <p:sp>
        <p:nvSpPr>
          <p:cNvPr id="23" name="Text 21"/>
          <p:cNvSpPr/>
          <p:nvPr/>
        </p:nvSpPr>
        <p:spPr>
          <a:xfrm>
            <a:off x="5905500" y="3804580"/>
            <a:ext cx="58650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1B2E"/>
                </a:solidFill>
                <a:latin typeface="DM Sans" pitchFamily="34" charset="0"/>
                <a:ea typeface="DM Sans" pitchFamily="34" charset="-122"/>
                <a:cs typeface="DM Sans" pitchFamily="34" charset="-120"/>
              </a:rPr>
              <a:t>82,5 %</a:t>
            </a:r>
            <a:endParaRPr lang="en-US" sz="1200" dirty="0"/>
          </a:p>
        </p:txBody>
      </p:sp>
      <p:sp>
        <p:nvSpPr>
          <p:cNvPr id="24" name="Text 22"/>
          <p:cNvSpPr/>
          <p:nvPr/>
        </p:nvSpPr>
        <p:spPr>
          <a:xfrm>
            <a:off x="812800" y="4240082"/>
            <a:ext cx="15113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B2E"/>
                </a:solidFill>
                <a:latin typeface="DM Sans" pitchFamily="34" charset="0"/>
                <a:ea typeface="DM Sans" pitchFamily="34" charset="-122"/>
                <a:cs typeface="DM Sans" pitchFamily="34" charset="-120"/>
              </a:rPr>
              <a:t>Paso 3</a:t>
            </a:r>
            <a:endParaRPr lang="en-US" sz="1400" dirty="0"/>
          </a:p>
        </p:txBody>
      </p:sp>
      <p:sp>
        <p:nvSpPr>
          <p:cNvPr id="25" name="Shape 23"/>
          <p:cNvSpPr/>
          <p:nvPr/>
        </p:nvSpPr>
        <p:spPr>
          <a:xfrm>
            <a:off x="2425700" y="4143573"/>
            <a:ext cx="3054350" cy="190500"/>
          </a:xfrm>
          <a:custGeom>
            <a:avLst/>
            <a:gdLst/>
            <a:ahLst/>
            <a:cxnLst/>
            <a:rect l="l" t="t" r="r" b="b"/>
            <a:pathLst>
              <a:path w="3054350" h="190500">
                <a:moveTo>
                  <a:pt x="0" y="0"/>
                </a:moveTo>
                <a:lnTo>
                  <a:pt x="3016250" y="0"/>
                </a:lnTo>
                <a:arcTo wR="38100" hR="38100" stAng="16200000" swAng="5400000"/>
                <a:lnTo>
                  <a:pt x="3054350" y="152400"/>
                </a:lnTo>
                <a:arcTo wR="38100" hR="38100" stAng="0" swAng="5400000"/>
                <a:lnTo>
                  <a:pt x="0" y="190500"/>
                </a:lnTo>
                <a:lnTo>
                  <a:pt x="0" y="0"/>
                </a:lnTo>
                <a:close/>
              </a:path>
            </a:pathLst>
          </a:custGeom>
          <a:solidFill>
            <a:srgbClr val="8C96A6"/>
          </a:solidFill>
          <a:ln/>
        </p:spPr>
      </p:sp>
      <p:sp>
        <p:nvSpPr>
          <p:cNvPr id="26" name="Text 24"/>
          <p:cNvSpPr/>
          <p:nvPr/>
        </p:nvSpPr>
        <p:spPr>
          <a:xfrm>
            <a:off x="5556250" y="4132200"/>
            <a:ext cx="5486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6"/>
                </a:solidFill>
                <a:latin typeface="DM Sans" pitchFamily="34" charset="0"/>
                <a:ea typeface="DM Sans" pitchFamily="34" charset="-122"/>
                <a:cs typeface="DM Sans" pitchFamily="34" charset="-120"/>
              </a:rPr>
              <a:t>74,0 %</a:t>
            </a:r>
            <a:endParaRPr lang="en-US" sz="1200" dirty="0"/>
          </a:p>
        </p:txBody>
      </p:sp>
      <p:sp>
        <p:nvSpPr>
          <p:cNvPr id="27" name="Shape 25"/>
          <p:cNvSpPr/>
          <p:nvPr/>
        </p:nvSpPr>
        <p:spPr>
          <a:xfrm>
            <a:off x="2425700" y="4394994"/>
            <a:ext cx="3194050" cy="190500"/>
          </a:xfrm>
          <a:custGeom>
            <a:avLst/>
            <a:gdLst/>
            <a:ahLst/>
            <a:cxnLst/>
            <a:rect l="l" t="t" r="r" b="b"/>
            <a:pathLst>
              <a:path w="3194050" h="190500">
                <a:moveTo>
                  <a:pt x="0" y="0"/>
                </a:moveTo>
                <a:lnTo>
                  <a:pt x="3155950" y="0"/>
                </a:lnTo>
                <a:arcTo wR="38100" hR="38100" stAng="16200000" swAng="5400000"/>
                <a:lnTo>
                  <a:pt x="3194050" y="152400"/>
                </a:lnTo>
                <a:arcTo wR="38100" hR="38100" stAng="0" swAng="5400000"/>
                <a:lnTo>
                  <a:pt x="0" y="190500"/>
                </a:lnTo>
                <a:lnTo>
                  <a:pt x="0" y="0"/>
                </a:lnTo>
                <a:close/>
              </a:path>
            </a:pathLst>
          </a:custGeom>
          <a:solidFill>
            <a:srgbClr val="C8102E"/>
          </a:solidFill>
          <a:ln/>
        </p:spPr>
      </p:sp>
      <p:sp>
        <p:nvSpPr>
          <p:cNvPr id="28" name="Text 26"/>
          <p:cNvSpPr/>
          <p:nvPr/>
        </p:nvSpPr>
        <p:spPr>
          <a:xfrm>
            <a:off x="5695950" y="4383621"/>
            <a:ext cx="55895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1B2E"/>
                </a:solidFill>
                <a:latin typeface="DM Sans" pitchFamily="34" charset="0"/>
                <a:ea typeface="DM Sans" pitchFamily="34" charset="-122"/>
                <a:cs typeface="DM Sans" pitchFamily="34" charset="-120"/>
              </a:rPr>
              <a:t>77,4 %</a:t>
            </a:r>
            <a:endParaRPr lang="en-US" sz="1200" dirty="0"/>
          </a:p>
        </p:txBody>
      </p:sp>
      <p:sp>
        <p:nvSpPr>
          <p:cNvPr id="29" name="Text 27"/>
          <p:cNvSpPr/>
          <p:nvPr/>
        </p:nvSpPr>
        <p:spPr>
          <a:xfrm>
            <a:off x="812800" y="4819123"/>
            <a:ext cx="15113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B2E"/>
                </a:solidFill>
                <a:latin typeface="DM Sans" pitchFamily="34" charset="0"/>
                <a:ea typeface="DM Sans" pitchFamily="34" charset="-122"/>
                <a:cs typeface="DM Sans" pitchFamily="34" charset="-120"/>
              </a:rPr>
              <a:t>Confirmación</a:t>
            </a:r>
            <a:endParaRPr lang="en-US" sz="1400" dirty="0"/>
          </a:p>
        </p:txBody>
      </p:sp>
      <p:sp>
        <p:nvSpPr>
          <p:cNvPr id="30" name="Shape 28"/>
          <p:cNvSpPr/>
          <p:nvPr/>
        </p:nvSpPr>
        <p:spPr>
          <a:xfrm>
            <a:off x="2425700" y="4722614"/>
            <a:ext cx="2705100" cy="190500"/>
          </a:xfrm>
          <a:custGeom>
            <a:avLst/>
            <a:gdLst/>
            <a:ahLst/>
            <a:cxnLst/>
            <a:rect l="l" t="t" r="r" b="b"/>
            <a:pathLst>
              <a:path w="2705100" h="190500">
                <a:moveTo>
                  <a:pt x="0" y="0"/>
                </a:moveTo>
                <a:lnTo>
                  <a:pt x="2667000" y="0"/>
                </a:lnTo>
                <a:arcTo wR="38100" hR="38100" stAng="16200000" swAng="5400000"/>
                <a:lnTo>
                  <a:pt x="2705100" y="152400"/>
                </a:lnTo>
                <a:arcTo wR="38100" hR="38100" stAng="0" swAng="5400000"/>
                <a:lnTo>
                  <a:pt x="0" y="190500"/>
                </a:lnTo>
                <a:lnTo>
                  <a:pt x="0" y="0"/>
                </a:lnTo>
                <a:close/>
              </a:path>
            </a:pathLst>
          </a:custGeom>
          <a:solidFill>
            <a:srgbClr val="8C96A6"/>
          </a:solidFill>
          <a:ln/>
        </p:spPr>
      </p:sp>
      <p:sp>
        <p:nvSpPr>
          <p:cNvPr id="31" name="Text 29"/>
          <p:cNvSpPr/>
          <p:nvPr/>
        </p:nvSpPr>
        <p:spPr>
          <a:xfrm>
            <a:off x="5207000" y="4711241"/>
            <a:ext cx="56332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6"/>
                </a:solidFill>
                <a:latin typeface="DM Sans" pitchFamily="34" charset="0"/>
                <a:ea typeface="DM Sans" pitchFamily="34" charset="-122"/>
                <a:cs typeface="DM Sans" pitchFamily="34" charset="-120"/>
              </a:rPr>
              <a:t>65,6 %</a:t>
            </a:r>
            <a:endParaRPr lang="en-US" sz="1200" dirty="0"/>
          </a:p>
        </p:txBody>
      </p:sp>
      <p:sp>
        <p:nvSpPr>
          <p:cNvPr id="32" name="Shape 30"/>
          <p:cNvSpPr/>
          <p:nvPr/>
        </p:nvSpPr>
        <p:spPr>
          <a:xfrm>
            <a:off x="2425700" y="4974034"/>
            <a:ext cx="2857500" cy="190500"/>
          </a:xfrm>
          <a:custGeom>
            <a:avLst/>
            <a:gdLst/>
            <a:ahLst/>
            <a:cxnLst/>
            <a:rect l="l" t="t" r="r" b="b"/>
            <a:pathLst>
              <a:path w="2857500" h="190500">
                <a:moveTo>
                  <a:pt x="0" y="0"/>
                </a:moveTo>
                <a:lnTo>
                  <a:pt x="2819400" y="0"/>
                </a:lnTo>
                <a:arcTo wR="38100" hR="38100" stAng="16200000" swAng="5400000"/>
                <a:lnTo>
                  <a:pt x="2857500" y="152400"/>
                </a:lnTo>
                <a:arcTo wR="38100" hR="38100" stAng="0" swAng="5400000"/>
                <a:lnTo>
                  <a:pt x="0" y="190500"/>
                </a:lnTo>
                <a:lnTo>
                  <a:pt x="0" y="0"/>
                </a:lnTo>
                <a:close/>
              </a:path>
            </a:pathLst>
          </a:custGeom>
          <a:solidFill>
            <a:srgbClr val="C8102E"/>
          </a:solidFill>
          <a:ln/>
        </p:spPr>
      </p:sp>
      <p:sp>
        <p:nvSpPr>
          <p:cNvPr id="33" name="Text 31"/>
          <p:cNvSpPr/>
          <p:nvPr/>
        </p:nvSpPr>
        <p:spPr>
          <a:xfrm>
            <a:off x="5359400" y="4962661"/>
            <a:ext cx="59166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1B2E"/>
                </a:solidFill>
                <a:latin typeface="DM Sans" pitchFamily="34" charset="0"/>
                <a:ea typeface="DM Sans" pitchFamily="34" charset="-122"/>
                <a:cs typeface="DM Sans" pitchFamily="34" charset="-120"/>
              </a:rPr>
              <a:t>69,3 %</a:t>
            </a:r>
            <a:endParaRPr lang="en-US" sz="1200" dirty="0"/>
          </a:p>
        </p:txBody>
      </p:sp>
      <p:sp>
        <p:nvSpPr>
          <p:cNvPr id="34" name="Shape 32"/>
          <p:cNvSpPr/>
          <p:nvPr/>
        </p:nvSpPr>
        <p:spPr>
          <a:xfrm>
            <a:off x="7632700" y="1854138"/>
            <a:ext cx="3746500" cy="3987866"/>
          </a:xfrm>
          <a:prstGeom prst="roundRect">
            <a:avLst>
              <a:gd name="adj" fmla="val 3390"/>
            </a:avLst>
          </a:prstGeom>
          <a:solidFill>
            <a:srgbClr val="131B2E"/>
          </a:solidFill>
          <a:ln/>
        </p:spPr>
      </p:sp>
      <p:sp>
        <p:nvSpPr>
          <p:cNvPr id="35" name="Text 33"/>
          <p:cNvSpPr/>
          <p:nvPr/>
        </p:nvSpPr>
        <p:spPr>
          <a:xfrm>
            <a:off x="7912100" y="2133538"/>
            <a:ext cx="328333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6B7A"/>
                </a:solidFill>
                <a:latin typeface="DM Sans" pitchFamily="34" charset="0"/>
                <a:ea typeface="DM Sans" pitchFamily="34" charset="-122"/>
                <a:cs typeface="DM Sans" pitchFamily="34" charset="-120"/>
              </a:rPr>
              <a:t>LO QUE VEMOS</a:t>
            </a:r>
            <a:endParaRPr lang="en-US" sz="1200" dirty="0"/>
          </a:p>
        </p:txBody>
      </p:sp>
      <p:sp>
        <p:nvSpPr>
          <p:cNvPr id="36" name="Text 34"/>
          <p:cNvSpPr/>
          <p:nvPr/>
        </p:nvSpPr>
        <p:spPr>
          <a:xfrm>
            <a:off x="7912100" y="2499258"/>
            <a:ext cx="3283331"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5F2EC"/>
                </a:solidFill>
                <a:latin typeface="DM Sans" pitchFamily="34" charset="0"/>
                <a:ea typeface="DM Sans" pitchFamily="34" charset="-122"/>
                <a:cs typeface="DM Sans" pitchFamily="34" charset="-120"/>
              </a:rPr>
              <a:t>Del inicio al paso 1, Test pierde </a:t>
            </a:r>
            <a:r>
              <a:rPr lang="en-US" sz="1500" b="1" dirty="0">
                <a:solidFill>
                  <a:srgbClr val="F5F2EC"/>
                </a:solidFill>
                <a:latin typeface="DM Sans" pitchFamily="34" charset="0"/>
                <a:ea typeface="DM Sans" pitchFamily="34" charset="-122"/>
                <a:cs typeface="DM Sans" pitchFamily="34" charset="-120"/>
              </a:rPr>
              <a:t>4 puntos menos</a:t>
            </a:r>
            <a:r>
              <a:rPr lang="en-US" sz="1500" dirty="0">
                <a:solidFill>
                  <a:srgbClr val="F5F2EC"/>
                </a:solidFill>
                <a:latin typeface="DM Sans" pitchFamily="34" charset="0"/>
                <a:ea typeface="DM Sans" pitchFamily="34" charset="-122"/>
                <a:cs typeface="DM Sans" pitchFamily="34" charset="-120"/>
              </a:rPr>
              <a:t> que Control.</a:t>
            </a:r>
            <a:endParaRPr lang="en-US" sz="1500" dirty="0"/>
          </a:p>
        </p:txBody>
      </p:sp>
      <p:sp>
        <p:nvSpPr>
          <p:cNvPr id="37" name="Text 35"/>
          <p:cNvSpPr/>
          <p:nvPr/>
        </p:nvSpPr>
        <p:spPr>
          <a:xfrm>
            <a:off x="7912100" y="3166008"/>
            <a:ext cx="3283331"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5F2EC"/>
                </a:solidFill>
                <a:latin typeface="DM Sans" pitchFamily="34" charset="0"/>
                <a:ea typeface="DM Sans" pitchFamily="34" charset="-122"/>
                <a:cs typeface="DM Sans" pitchFamily="34" charset="-120"/>
              </a:rPr>
              <a:t>Después, las pérdidas por paso son parecidas: la ventaja se mantiene hasta el final.</a:t>
            </a:r>
            <a:endParaRPr lang="en-US" sz="1500" dirty="0"/>
          </a:p>
        </p:txBody>
      </p:sp>
      <p:sp>
        <p:nvSpPr>
          <p:cNvPr id="38" name="Text 36"/>
          <p:cNvSpPr/>
          <p:nvPr/>
        </p:nvSpPr>
        <p:spPr>
          <a:xfrm>
            <a:off x="7912100" y="5135959"/>
            <a:ext cx="328333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CF"/>
                </a:solidFill>
                <a:latin typeface="DM Sans" pitchFamily="34" charset="0"/>
                <a:ea typeface="DM Sans" pitchFamily="34" charset="-122"/>
                <a:cs typeface="DM Sans" pitchFamily="34" charset="-120"/>
              </a:rPr>
              <a:t>Chi² de independencia (H5): χ² = 312, p &lt; 0,001</a:t>
            </a:r>
            <a:endParaRPr lang="en-US" sz="1200" dirty="0"/>
          </a:p>
        </p:txBody>
      </p:sp>
      <p:sp>
        <p:nvSpPr>
          <p:cNvPr id="39" name="Text 37"/>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 sobre el total de clientes de cada grupo</a:t>
            </a:r>
            <a:endParaRPr lang="en-US" sz="1200" dirty="0"/>
          </a:p>
        </p:txBody>
      </p:sp>
      <p:sp>
        <p:nvSpPr>
          <p:cNvPr id="40" name="Text 3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5"/>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EAE5D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DM Sans" pitchFamily="34" charset="0"/>
                <a:ea typeface="DM Sans" pitchFamily="34" charset="-122"/>
                <a:cs typeface="DM Sans" pitchFamily="34" charset="-120"/>
              </a:rPr>
              <a:t>PRUEBAS DE HIPÓTESIS · Α = 0,05</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1B2E"/>
                </a:solidFill>
                <a:latin typeface="Space Grotesk" pitchFamily="34" charset="0"/>
                <a:ea typeface="Space Grotesk" pitchFamily="34" charset="-122"/>
                <a:cs typeface="Space Grotesk" pitchFamily="34" charset="-120"/>
              </a:rPr>
              <a:t>Seis contrastes para pasar de «parece» a «es»</a:t>
            </a:r>
            <a:endParaRPr lang="en-US" sz="3200" dirty="0"/>
          </a:p>
        </p:txBody>
      </p:sp>
      <p:sp>
        <p:nvSpPr>
          <p:cNvPr id="4" name="Shape 2"/>
          <p:cNvSpPr/>
          <p:nvPr/>
        </p:nvSpPr>
        <p:spPr>
          <a:xfrm>
            <a:off x="812800" y="1828738"/>
            <a:ext cx="10566400" cy="2527829"/>
          </a:xfrm>
          <a:prstGeom prst="roundRect">
            <a:avLst>
              <a:gd name="adj" fmla="val 4019"/>
            </a:avLst>
          </a:prstGeom>
          <a:solidFill>
            <a:srgbClr val="F5F2EC"/>
          </a:solidFill>
          <a:ln/>
        </p:spPr>
      </p:sp>
      <p:sp>
        <p:nvSpPr>
          <p:cNvPr id="5" name="Shape 3"/>
          <p:cNvSpPr/>
          <p:nvPr/>
        </p:nvSpPr>
        <p:spPr>
          <a:xfrm>
            <a:off x="812800" y="1828738"/>
            <a:ext cx="10566400" cy="2527829"/>
          </a:xfrm>
          <a:custGeom>
            <a:avLst/>
            <a:gdLst/>
            <a:ahLst/>
            <a:cxnLst/>
            <a:rect l="l" t="t" r="r" b="b"/>
            <a:pathLst>
              <a:path w="10566400" h="2527829">
                <a:moveTo>
                  <a:pt x="101600" y="2527829"/>
                </a:moveTo>
                <a:lnTo>
                  <a:pt x="101600" y="2527829"/>
                </a:lnTo>
                <a:arcTo wR="101600" hR="101600" stAng="5400000" swAng="5400000"/>
                <a:lnTo>
                  <a:pt x="0" y="101600"/>
                </a:lnTo>
                <a:arcTo wR="101600" hR="101600" stAng="10800000" swAng="5400000"/>
                <a:lnTo>
                  <a:pt x="10464800" y="0"/>
                </a:lnTo>
                <a:arcTo wR="101600" hR="101600" stAng="16200000" swAng="5400000"/>
                <a:lnTo>
                  <a:pt x="10566400" y="101600"/>
                </a:lnTo>
                <a:arcTo wR="101600" hR="88900" stAng="0" swAng="-5400000"/>
                <a:lnTo>
                  <a:pt x="101600" y="12700"/>
                </a:lnTo>
                <a:arcTo wR="88900" hR="88900" stAng="16200000" swAng="-5400000"/>
                <a:lnTo>
                  <a:pt x="12700" y="2426229"/>
                </a:lnTo>
                <a:arcTo wR="88900" hR="1016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41438"/>
          <a:ext cx="10553700" cy="2515128"/>
        </p:xfrm>
        <a:graphic>
          <a:graphicData uri="http://schemas.openxmlformats.org/drawingml/2006/table">
            <a:tbl>
              <a:tblPr/>
              <a:tblGrid>
                <a:gridCol w="633222">
                  <a:extLst>
                    <a:ext uri="{9D8B030D-6E8A-4147-A177-3AD203B41FA5}">
                      <a16:colId xmlns:a16="http://schemas.microsoft.com/office/drawing/2014/main" val="20000"/>
                    </a:ext>
                  </a:extLst>
                </a:gridCol>
                <a:gridCol w="3377184">
                  <a:extLst>
                    <a:ext uri="{9D8B030D-6E8A-4147-A177-3AD203B41FA5}">
                      <a16:colId xmlns:a16="http://schemas.microsoft.com/office/drawing/2014/main" val="20001"/>
                    </a:ext>
                  </a:extLst>
                </a:gridCol>
                <a:gridCol w="2005203">
                  <a:extLst>
                    <a:ext uri="{9D8B030D-6E8A-4147-A177-3AD203B41FA5}">
                      <a16:colId xmlns:a16="http://schemas.microsoft.com/office/drawing/2014/main" val="20002"/>
                    </a:ext>
                  </a:extLst>
                </a:gridCol>
                <a:gridCol w="2321814">
                  <a:extLst>
                    <a:ext uri="{9D8B030D-6E8A-4147-A177-3AD203B41FA5}">
                      <a16:colId xmlns:a16="http://schemas.microsoft.com/office/drawing/2014/main" val="20003"/>
                    </a:ext>
                  </a:extLst>
                </a:gridCol>
                <a:gridCol w="2216277">
                  <a:extLst>
                    <a:ext uri="{9D8B030D-6E8A-4147-A177-3AD203B41FA5}">
                      <a16:colId xmlns:a16="http://schemas.microsoft.com/office/drawing/2014/main" val="20004"/>
                    </a:ext>
                  </a:extLst>
                </a:gridCol>
              </a:tblGrid>
              <a:tr h="359304">
                <a:tc>
                  <a:txBody>
                    <a:bodyPr/>
                    <a:lstStyle/>
                    <a:p>
                      <a:pPr marL="0" indent="0">
                        <a:lnSpc>
                          <a:spcPts val="1820"/>
                        </a:lnSpc>
                        <a:buNone/>
                      </a:pPr>
                      <a:endParaRPr lang="en-US" sz="1300" dirty="0">
                        <a:latin typeface="DM Sans" charset="0"/>
                        <a:ea typeface="DM Sans" charset="0"/>
                        <a:cs typeface="DM Sans" charset="0"/>
                      </a:endParaRPr>
                    </a:p>
                  </a:txBody>
                  <a:tcPr marL="57785" marR="57785" marT="57785" marB="57785">
                    <a:lnL w="0" cap="flat" cmpd="sng" algn="ctr">
                      <a:noFill/>
                    </a:lnL>
                    <a:lnR w="12700" cap="flat" cmpd="sng" algn="ctr">
                      <a:solidFill>
                        <a:srgbClr val="131928"/>
                      </a:solidFill>
                      <a:prstDash val="solid"/>
                      <a:round/>
                      <a:headEnd type="none" w="med" len="med"/>
                      <a:tailEnd type="none" w="med" len="med"/>
                    </a:lnR>
                    <a:lnT w="0" cap="flat" cmpd="sng" algn="ctr">
                      <a:noFill/>
                    </a:lnT>
                    <a:lnB w="12700" cap="flat" cmpd="sng" algn="ctr">
                      <a:solidFill>
                        <a:srgbClr val="131928"/>
                      </a:solidFill>
                      <a:prstDash val="solid"/>
                      <a:round/>
                      <a:headEnd type="none" w="med" len="med"/>
                      <a:tailEnd type="none" w="med" len="med"/>
                    </a:lnB>
                    <a:solidFill>
                      <a:srgbClr val="131B2E"/>
                    </a:solidFill>
                  </a:tcPr>
                </a:tc>
                <a:tc>
                  <a:txBody>
                    <a:bodyPr/>
                    <a:lstStyle/>
                    <a:p>
                      <a:pPr marL="0" indent="0">
                        <a:lnSpc>
                          <a:spcPts val="1820"/>
                        </a:lnSpc>
                        <a:buNone/>
                      </a:pPr>
                      <a:r>
                        <a:rPr lang="en-US" sz="1300" b="1" dirty="0">
                          <a:solidFill>
                            <a:srgbClr val="F5F2EC"/>
                          </a:solidFill>
                          <a:latin typeface="DM Sans" pitchFamily="34" charset="0"/>
                          <a:ea typeface="DM Sans" pitchFamily="34" charset="-122"/>
                          <a:cs typeface="DM Sans" pitchFamily="34" charset="-120"/>
                        </a:rPr>
                        <a:t>Qué comprobamos</a:t>
                      </a:r>
                      <a:endParaRPr lang="en-US" sz="1300" dirty="0">
                        <a:latin typeface="DM Sans" charset="0"/>
                        <a:ea typeface="DM Sans" charset="0"/>
                        <a:cs typeface="DM Sans" charset="0"/>
                      </a:endParaRPr>
                    </a:p>
                  </a:txBody>
                  <a:tcPr marL="57785" marR="57785" marT="57785" marB="57785">
                    <a:lnL w="12700" cap="flat" cmpd="sng" algn="ctr">
                      <a:solidFill>
                        <a:srgbClr val="131928"/>
                      </a:solidFill>
                      <a:prstDash val="solid"/>
                      <a:round/>
                      <a:headEnd type="none" w="med" len="med"/>
                      <a:tailEnd type="none" w="med" len="med"/>
                    </a:lnL>
                    <a:lnR w="12700" cap="flat" cmpd="sng" algn="ctr">
                      <a:solidFill>
                        <a:srgbClr val="131928"/>
                      </a:solidFill>
                      <a:prstDash val="solid"/>
                      <a:round/>
                      <a:headEnd type="none" w="med" len="med"/>
                      <a:tailEnd type="none" w="med" len="med"/>
                    </a:lnR>
                    <a:lnT w="0" cap="flat" cmpd="sng" algn="ctr">
                      <a:noFill/>
                    </a:lnT>
                    <a:lnB w="12700" cap="flat" cmpd="sng" algn="ctr">
                      <a:solidFill>
                        <a:srgbClr val="131928"/>
                      </a:solidFill>
                      <a:prstDash val="solid"/>
                      <a:round/>
                      <a:headEnd type="none" w="med" len="med"/>
                      <a:tailEnd type="none" w="med" len="med"/>
                    </a:lnB>
                    <a:solidFill>
                      <a:srgbClr val="131B2E"/>
                    </a:solidFill>
                  </a:tcPr>
                </a:tc>
                <a:tc>
                  <a:txBody>
                    <a:bodyPr/>
                    <a:lstStyle/>
                    <a:p>
                      <a:pPr marL="0" indent="0">
                        <a:lnSpc>
                          <a:spcPts val="1820"/>
                        </a:lnSpc>
                        <a:buNone/>
                      </a:pPr>
                      <a:r>
                        <a:rPr lang="en-US" sz="1300" b="1" dirty="0">
                          <a:solidFill>
                            <a:srgbClr val="F5F2EC"/>
                          </a:solidFill>
                          <a:latin typeface="DM Sans" pitchFamily="34" charset="0"/>
                          <a:ea typeface="DM Sans" pitchFamily="34" charset="-122"/>
                          <a:cs typeface="DM Sans" pitchFamily="34" charset="-120"/>
                        </a:rPr>
                        <a:t>Prueba</a:t>
                      </a:r>
                      <a:endParaRPr lang="en-US" sz="1300" dirty="0">
                        <a:latin typeface="DM Sans" charset="0"/>
                        <a:ea typeface="DM Sans" charset="0"/>
                        <a:cs typeface="DM Sans" charset="0"/>
                      </a:endParaRPr>
                    </a:p>
                  </a:txBody>
                  <a:tcPr marL="57785" marR="57785" marT="57785" marB="57785">
                    <a:lnL w="12700" cap="flat" cmpd="sng" algn="ctr">
                      <a:solidFill>
                        <a:srgbClr val="131928"/>
                      </a:solidFill>
                      <a:prstDash val="solid"/>
                      <a:round/>
                      <a:headEnd type="none" w="med" len="med"/>
                      <a:tailEnd type="none" w="med" len="med"/>
                    </a:lnL>
                    <a:lnR w="12700" cap="flat" cmpd="sng" algn="ctr">
                      <a:solidFill>
                        <a:srgbClr val="131928"/>
                      </a:solidFill>
                      <a:prstDash val="solid"/>
                      <a:round/>
                      <a:headEnd type="none" w="med" len="med"/>
                      <a:tailEnd type="none" w="med" len="med"/>
                    </a:lnR>
                    <a:lnT w="0" cap="flat" cmpd="sng" algn="ctr">
                      <a:noFill/>
                    </a:lnT>
                    <a:lnB w="12700" cap="flat" cmpd="sng" algn="ctr">
                      <a:solidFill>
                        <a:srgbClr val="131928"/>
                      </a:solidFill>
                      <a:prstDash val="solid"/>
                      <a:round/>
                      <a:headEnd type="none" w="med" len="med"/>
                      <a:tailEnd type="none" w="med" len="med"/>
                    </a:lnB>
                    <a:solidFill>
                      <a:srgbClr val="131B2E"/>
                    </a:solidFill>
                  </a:tcPr>
                </a:tc>
                <a:tc>
                  <a:txBody>
                    <a:bodyPr/>
                    <a:lstStyle/>
                    <a:p>
                      <a:pPr marL="0" indent="0">
                        <a:lnSpc>
                          <a:spcPts val="1820"/>
                        </a:lnSpc>
                        <a:buNone/>
                      </a:pPr>
                      <a:r>
                        <a:rPr lang="en-US" sz="1300" b="1" dirty="0">
                          <a:solidFill>
                            <a:srgbClr val="F5F2EC"/>
                          </a:solidFill>
                          <a:latin typeface="DM Sans" pitchFamily="34" charset="0"/>
                          <a:ea typeface="DM Sans" pitchFamily="34" charset="-122"/>
                          <a:cs typeface="DM Sans" pitchFamily="34" charset="-120"/>
                        </a:rPr>
                        <a:t>Resultado</a:t>
                      </a:r>
                      <a:endParaRPr lang="en-US" sz="1300" dirty="0">
                        <a:latin typeface="DM Sans" charset="0"/>
                        <a:ea typeface="DM Sans" charset="0"/>
                        <a:cs typeface="DM Sans" charset="0"/>
                      </a:endParaRPr>
                    </a:p>
                  </a:txBody>
                  <a:tcPr marL="57785" marR="57785" marT="57785" marB="57785">
                    <a:lnL w="12700" cap="flat" cmpd="sng" algn="ctr">
                      <a:solidFill>
                        <a:srgbClr val="131928"/>
                      </a:solidFill>
                      <a:prstDash val="solid"/>
                      <a:round/>
                      <a:headEnd type="none" w="med" len="med"/>
                      <a:tailEnd type="none" w="med" len="med"/>
                    </a:lnL>
                    <a:lnR w="12700" cap="flat" cmpd="sng" algn="ctr">
                      <a:solidFill>
                        <a:srgbClr val="131928"/>
                      </a:solidFill>
                      <a:prstDash val="solid"/>
                      <a:round/>
                      <a:headEnd type="none" w="med" len="med"/>
                      <a:tailEnd type="none" w="med" len="med"/>
                    </a:lnR>
                    <a:lnT w="0" cap="flat" cmpd="sng" algn="ctr">
                      <a:noFill/>
                    </a:lnT>
                    <a:lnB w="12700" cap="flat" cmpd="sng" algn="ctr">
                      <a:solidFill>
                        <a:srgbClr val="131928"/>
                      </a:solidFill>
                      <a:prstDash val="solid"/>
                      <a:round/>
                      <a:headEnd type="none" w="med" len="med"/>
                      <a:tailEnd type="none" w="med" len="med"/>
                    </a:lnB>
                    <a:solidFill>
                      <a:srgbClr val="131B2E"/>
                    </a:solidFill>
                  </a:tcPr>
                </a:tc>
                <a:tc>
                  <a:txBody>
                    <a:bodyPr/>
                    <a:lstStyle/>
                    <a:p>
                      <a:pPr marL="0" indent="0">
                        <a:lnSpc>
                          <a:spcPts val="1820"/>
                        </a:lnSpc>
                        <a:buNone/>
                      </a:pPr>
                      <a:r>
                        <a:rPr lang="en-US" sz="1300" b="1" dirty="0">
                          <a:solidFill>
                            <a:srgbClr val="F5F2EC"/>
                          </a:solidFill>
                          <a:latin typeface="DM Sans" pitchFamily="34" charset="0"/>
                          <a:ea typeface="DM Sans" pitchFamily="34" charset="-122"/>
                          <a:cs typeface="DM Sans" pitchFamily="34" charset="-120"/>
                        </a:rPr>
                        <a:t>Conclusión</a:t>
                      </a:r>
                      <a:endParaRPr lang="en-US" sz="1300" dirty="0">
                        <a:latin typeface="DM Sans" charset="0"/>
                        <a:ea typeface="DM Sans" charset="0"/>
                        <a:cs typeface="DM Sans" charset="0"/>
                      </a:endParaRPr>
                    </a:p>
                  </a:txBody>
                  <a:tcPr marL="57785" marR="57785" marT="57785" marB="57785">
                    <a:lnL w="12700" cap="flat" cmpd="sng" algn="ctr">
                      <a:solidFill>
                        <a:srgbClr val="131928"/>
                      </a:solidFill>
                      <a:prstDash val="solid"/>
                      <a:round/>
                      <a:headEnd type="none" w="med" len="med"/>
                      <a:tailEnd type="none" w="med" len="med"/>
                    </a:lnL>
                    <a:lnR w="12700" cap="flat" cmpd="sng" algn="ctr">
                      <a:solidFill>
                        <a:srgbClr val="131928"/>
                      </a:solidFill>
                      <a:prstDash val="solid"/>
                      <a:round/>
                      <a:headEnd type="none" w="med" len="med"/>
                      <a:tailEnd type="none" w="med" len="med"/>
                    </a:lnR>
                    <a:lnT w="0" cap="flat" cmpd="sng" algn="ctr">
                      <a:noFill/>
                    </a:lnT>
                    <a:lnB w="12700" cap="flat" cmpd="sng" algn="ctr">
                      <a:solidFill>
                        <a:srgbClr val="131928"/>
                      </a:solidFill>
                      <a:prstDash val="solid"/>
                      <a:round/>
                      <a:headEnd type="none" w="med" len="med"/>
                      <a:tailEnd type="none" w="med" len="med"/>
                    </a:lnB>
                    <a:solidFill>
                      <a:srgbClr val="131B2E"/>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C8102E"/>
                          </a:solidFill>
                          <a:latin typeface="DM Sans" pitchFamily="34" charset="0"/>
                          <a:ea typeface="DM Sans" pitchFamily="34" charset="-122"/>
                          <a:cs typeface="DM Sans" pitchFamily="34" charset="-120"/>
                        </a:rPr>
                        <a:t>H1</a:t>
                      </a:r>
                      <a:endParaRPr lang="en-US" sz="1300" dirty="0">
                        <a:latin typeface="DM Sans" charset="0"/>
                        <a:ea typeface="DM Sans" charset="0"/>
                        <a:cs typeface="DM Sans" charset="0"/>
                      </a:endParaRPr>
                    </a:p>
                  </a:txBody>
                  <a:tcPr marL="57785" marR="57785" marT="57785" marB="57785">
                    <a:lnL w="0" cap="flat" cmpd="sng" algn="ctr">
                      <a:noFill/>
                    </a:lnL>
                    <a:lnR w="12700" cap="flat" cmpd="sng" algn="ctr">
                      <a:solidFill>
                        <a:srgbClr val="CBC6C1"/>
                      </a:solidFill>
                      <a:prstDash val="solid"/>
                      <a:round/>
                      <a:headEnd type="none" w="med" len="med"/>
                      <a:tailEnd type="none" w="med" len="med"/>
                    </a:lnR>
                    <a:lnT w="12700" cap="flat" cmpd="sng" algn="ctr">
                      <a:solidFill>
                        <a:srgbClr val="131928"/>
                      </a:solidFill>
                      <a:prstDash val="solid"/>
                      <a:round/>
                      <a:headEnd type="none" w="med" len="med"/>
                      <a:tailEnd type="none" w="med" len="med"/>
                    </a:lnT>
                    <a:lnB w="12700" cap="flat" cmpd="sng" algn="ctr">
                      <a:solidFill>
                        <a:srgbClr val="CBC6C1"/>
                      </a:solidFill>
                      <a:prstDash val="solid"/>
                      <a:round/>
                      <a:headEnd type="none" w="med" len="med"/>
                      <a:tailEnd type="none" w="med" len="med"/>
                    </a:lnB>
                    <a:solidFill>
                      <a:srgbClr val="FFF8F2"/>
                    </a:solidFill>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Test termina más que Control</a:t>
                      </a:r>
                      <a:endParaRPr lang="en-US" sz="1300" dirty="0">
                        <a:latin typeface="DM Sans" charset="0"/>
                        <a:ea typeface="DM Sans" charset="0"/>
                        <a:cs typeface="DM Sans" charset="0"/>
                      </a:endParaRPr>
                    </a:p>
                  </a:txBody>
                  <a:tcPr marL="57785" marR="57785" marT="57785" marB="57785">
                    <a:lnL w="12700" cap="flat" cmpd="sng" algn="ctr">
                      <a:solidFill>
                        <a:srgbClr val="CBC6C1"/>
                      </a:solidFill>
                      <a:prstDash val="solid"/>
                      <a:round/>
                      <a:headEnd type="none" w="med" len="med"/>
                      <a:tailEnd type="none" w="med" len="med"/>
                    </a:lnL>
                    <a:lnR w="12700" cap="flat" cmpd="sng" algn="ctr">
                      <a:solidFill>
                        <a:srgbClr val="CBC6C1"/>
                      </a:solidFill>
                      <a:prstDash val="solid"/>
                      <a:round/>
                      <a:headEnd type="none" w="med" len="med"/>
                      <a:tailEnd type="none" w="med" len="med"/>
                    </a:lnR>
                    <a:lnT w="12700" cap="flat" cmpd="sng" algn="ctr">
                      <a:solidFill>
                        <a:srgbClr val="131928"/>
                      </a:solidFill>
                      <a:prstDash val="solid"/>
                      <a:round/>
                      <a:headEnd type="none" w="med" len="med"/>
                      <a:tailEnd type="none" w="med" len="med"/>
                    </a:lnT>
                    <a:lnB w="12700" cap="flat" cmpd="sng" algn="ctr">
                      <a:solidFill>
                        <a:srgbClr val="CBC6C1"/>
                      </a:solidFill>
                      <a:prstDash val="solid"/>
                      <a:round/>
                      <a:headEnd type="none" w="med" len="med"/>
                      <a:tailEnd type="none" w="med" len="med"/>
                    </a:lnB>
                    <a:solidFill>
                      <a:srgbClr val="FFF8F2"/>
                    </a:solidFill>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Z, 2 proporciones</a:t>
                      </a:r>
                      <a:endParaRPr lang="en-US" sz="1300" dirty="0">
                        <a:latin typeface="DM Sans" charset="0"/>
                        <a:ea typeface="DM Sans" charset="0"/>
                        <a:cs typeface="DM Sans" charset="0"/>
                      </a:endParaRPr>
                    </a:p>
                  </a:txBody>
                  <a:tcPr marL="57785" marR="57785" marT="57785" marB="57785">
                    <a:lnL w="12700" cap="flat" cmpd="sng" algn="ctr">
                      <a:solidFill>
                        <a:srgbClr val="CBC6C1"/>
                      </a:solidFill>
                      <a:prstDash val="solid"/>
                      <a:round/>
                      <a:headEnd type="none" w="med" len="med"/>
                      <a:tailEnd type="none" w="med" len="med"/>
                    </a:lnL>
                    <a:lnR w="12700" cap="flat" cmpd="sng" algn="ctr">
                      <a:solidFill>
                        <a:srgbClr val="CBC6C1"/>
                      </a:solidFill>
                      <a:prstDash val="solid"/>
                      <a:round/>
                      <a:headEnd type="none" w="med" len="med"/>
                      <a:tailEnd type="none" w="med" len="med"/>
                    </a:lnR>
                    <a:lnT w="12700" cap="flat" cmpd="sng" algn="ctr">
                      <a:solidFill>
                        <a:srgbClr val="131928"/>
                      </a:solidFill>
                      <a:prstDash val="solid"/>
                      <a:round/>
                      <a:headEnd type="none" w="med" len="med"/>
                      <a:tailEnd type="none" w="med" len="med"/>
                    </a:lnT>
                    <a:lnB w="12700" cap="flat" cmpd="sng" algn="ctr">
                      <a:solidFill>
                        <a:srgbClr val="CBC6C1"/>
                      </a:solidFill>
                      <a:prstDash val="solid"/>
                      <a:round/>
                      <a:headEnd type="none" w="med" len="med"/>
                      <a:tailEnd type="none" w="med" len="med"/>
                    </a:lnB>
                    <a:solidFill>
                      <a:srgbClr val="FFF8F2"/>
                    </a:solidFill>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z = 8,87 · p &lt; 0,001</a:t>
                      </a:r>
                      <a:endParaRPr lang="en-US" sz="1300" dirty="0">
                        <a:latin typeface="DM Sans" charset="0"/>
                        <a:ea typeface="DM Sans" charset="0"/>
                        <a:cs typeface="DM Sans" charset="0"/>
                      </a:endParaRPr>
                    </a:p>
                  </a:txBody>
                  <a:tcPr marL="57785" marR="57785" marT="57785" marB="57785">
                    <a:lnL w="12700" cap="flat" cmpd="sng" algn="ctr">
                      <a:solidFill>
                        <a:srgbClr val="CBC6C1"/>
                      </a:solidFill>
                      <a:prstDash val="solid"/>
                      <a:round/>
                      <a:headEnd type="none" w="med" len="med"/>
                      <a:tailEnd type="none" w="med" len="med"/>
                    </a:lnL>
                    <a:lnR w="12700" cap="flat" cmpd="sng" algn="ctr">
                      <a:solidFill>
                        <a:srgbClr val="CBC6C1"/>
                      </a:solidFill>
                      <a:prstDash val="solid"/>
                      <a:round/>
                      <a:headEnd type="none" w="med" len="med"/>
                      <a:tailEnd type="none" w="med" len="med"/>
                    </a:lnR>
                    <a:lnT w="12700" cap="flat" cmpd="sng" algn="ctr">
                      <a:solidFill>
                        <a:srgbClr val="131928"/>
                      </a:solidFill>
                      <a:prstDash val="solid"/>
                      <a:round/>
                      <a:headEnd type="none" w="med" len="med"/>
                      <a:tailEnd type="none" w="med" len="med"/>
                    </a:lnT>
                    <a:lnB w="12700" cap="flat" cmpd="sng" algn="ctr">
                      <a:solidFill>
                        <a:srgbClr val="CBC6C1"/>
                      </a:solidFill>
                      <a:prstDash val="solid"/>
                      <a:round/>
                      <a:headEnd type="none" w="med" len="med"/>
                      <a:tailEnd type="none" w="med" len="med"/>
                    </a:lnB>
                    <a:solidFill>
                      <a:srgbClr val="FFF8F2"/>
                    </a:solidFill>
                  </a:tcPr>
                </a:tc>
                <a:tc>
                  <a:txBody>
                    <a:bodyPr/>
                    <a:lstStyle/>
                    <a:p>
                      <a:pPr marL="0" indent="0">
                        <a:lnSpc>
                          <a:spcPts val="1820"/>
                        </a:lnSpc>
                        <a:buNone/>
                      </a:pPr>
                      <a:r>
                        <a:rPr lang="en-US" sz="1300" dirty="0">
                          <a:solidFill>
                            <a:srgbClr val="1F6E43"/>
                          </a:solidFill>
                          <a:latin typeface="DM Sans" pitchFamily="34" charset="0"/>
                          <a:ea typeface="DM Sans" pitchFamily="34" charset="-122"/>
                          <a:cs typeface="DM Sans" pitchFamily="34" charset="-120"/>
                        </a:rPr>
                        <a:t>Sí, mejora</a:t>
                      </a:r>
                      <a:endParaRPr lang="en-US" sz="1300" dirty="0">
                        <a:latin typeface="DM Sans" charset="0"/>
                        <a:ea typeface="DM Sans" charset="0"/>
                        <a:cs typeface="DM Sans" charset="0"/>
                      </a:endParaRPr>
                    </a:p>
                  </a:txBody>
                  <a:tcPr marL="57785" marR="57785" marT="57785" marB="57785">
                    <a:lnL w="12700" cap="flat" cmpd="sng" algn="ctr">
                      <a:solidFill>
                        <a:srgbClr val="CBC6C1"/>
                      </a:solidFill>
                      <a:prstDash val="solid"/>
                      <a:round/>
                      <a:headEnd type="none" w="med" len="med"/>
                      <a:tailEnd type="none" w="med" len="med"/>
                    </a:lnL>
                    <a:lnR w="12700" cap="flat" cmpd="sng" algn="ctr">
                      <a:solidFill>
                        <a:srgbClr val="CBC6C1"/>
                      </a:solidFill>
                      <a:prstDash val="solid"/>
                      <a:round/>
                      <a:headEnd type="none" w="med" len="med"/>
                      <a:tailEnd type="none" w="med" len="med"/>
                    </a:lnR>
                    <a:lnT w="12700" cap="flat" cmpd="sng" algn="ctr">
                      <a:solidFill>
                        <a:srgbClr val="131928"/>
                      </a:solidFill>
                      <a:prstDash val="solid"/>
                      <a:round/>
                      <a:headEnd type="none" w="med" len="med"/>
                      <a:tailEnd type="none" w="med" len="med"/>
                    </a:lnT>
                    <a:lnB w="12700" cap="flat" cmpd="sng" algn="ctr">
                      <a:solidFill>
                        <a:srgbClr val="CBC6C1"/>
                      </a:solidFill>
                      <a:prstDash val="solid"/>
                      <a:round/>
                      <a:headEnd type="none" w="med" len="med"/>
                      <a:tailEnd type="none" w="med" len="med"/>
                    </a:lnB>
                    <a:solidFill>
                      <a:srgbClr val="FFF8F2"/>
                    </a:solidFill>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C8102E"/>
                          </a:solidFill>
                          <a:latin typeface="DM Sans" pitchFamily="34" charset="0"/>
                          <a:ea typeface="DM Sans" pitchFamily="34" charset="-122"/>
                          <a:cs typeface="DM Sans" pitchFamily="34" charset="-120"/>
                        </a:rPr>
                        <a:t>H2</a:t>
                      </a:r>
                      <a:endParaRPr lang="en-US" sz="1300" dirty="0">
                        <a:latin typeface="DM Sans" charset="0"/>
                        <a:ea typeface="DM Sans" charset="0"/>
                        <a:cs typeface="DM Sans" charset="0"/>
                      </a:endParaRPr>
                    </a:p>
                  </a:txBody>
                  <a:tcPr marL="57785" marR="57785" marT="57785" marB="57785">
                    <a:lnL w="0" cap="flat" cmpd="sng" algn="ctr">
                      <a:noFill/>
                    </a:lnL>
                    <a:lnR w="12700" cap="flat" cmpd="sng" algn="ctr">
                      <a:solidFill>
                        <a:srgbClr val="CBC6C1"/>
                      </a:solidFill>
                      <a:prstDash val="solid"/>
                      <a:round/>
                      <a:headEnd type="none" w="med" len="med"/>
                      <a:tailEnd type="none" w="med" len="med"/>
                    </a:lnR>
                    <a:lnT w="12700" cap="flat" cmpd="sng" algn="ctr">
                      <a:solidFill>
                        <a:srgbClr val="CBC6C1"/>
                      </a:solidFill>
                      <a:prstDash val="solid"/>
                      <a:round/>
                      <a:headEnd type="none" w="med" len="med"/>
                      <a:tailEnd type="none" w="med" len="med"/>
                    </a:lnT>
                    <a:lnB w="12700" cap="flat" cmpd="sng" algn="ctr">
                      <a:solidFill>
                        <a:srgbClr val="CBC6C1"/>
                      </a:solidFill>
                      <a:prstDash val="solid"/>
                      <a:round/>
                      <a:headEnd type="none" w="med" len="med"/>
                      <a:tailEnd type="none" w="med" len="med"/>
                    </a:lnB>
                    <a:solidFill>
                      <a:srgbClr val="FFF8F2"/>
                    </a:solidFill>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La mejora supera el 5 %</a:t>
                      </a:r>
                      <a:endParaRPr lang="en-US" sz="1300" dirty="0">
                        <a:latin typeface="DM Sans" charset="0"/>
                        <a:ea typeface="DM Sans" charset="0"/>
                        <a:cs typeface="DM Sans" charset="0"/>
                      </a:endParaRPr>
                    </a:p>
                  </a:txBody>
                  <a:tcPr marL="57785" marR="57785" marT="57785" marB="57785">
                    <a:lnL w="12700" cap="flat" cmpd="sng" algn="ctr">
                      <a:solidFill>
                        <a:srgbClr val="CBC6C1"/>
                      </a:solidFill>
                      <a:prstDash val="solid"/>
                      <a:round/>
                      <a:headEnd type="none" w="med" len="med"/>
                      <a:tailEnd type="none" w="med" len="med"/>
                    </a:lnL>
                    <a:lnR w="12700" cap="flat" cmpd="sng" algn="ctr">
                      <a:solidFill>
                        <a:srgbClr val="CBC6C1"/>
                      </a:solidFill>
                      <a:prstDash val="solid"/>
                      <a:round/>
                      <a:headEnd type="none" w="med" len="med"/>
                      <a:tailEnd type="none" w="med" len="med"/>
                    </a:lnR>
                    <a:lnT w="12700" cap="flat" cmpd="sng" algn="ctr">
                      <a:solidFill>
                        <a:srgbClr val="CBC6C1"/>
                      </a:solidFill>
                      <a:prstDash val="solid"/>
                      <a:round/>
                      <a:headEnd type="none" w="med" len="med"/>
                      <a:tailEnd type="none" w="med" len="med"/>
                    </a:lnT>
                    <a:lnB w="12700" cap="flat" cmpd="sng" algn="ctr">
                      <a:solidFill>
                        <a:srgbClr val="CBC6C1"/>
                      </a:solidFill>
                      <a:prstDash val="solid"/>
                      <a:round/>
                      <a:headEnd type="none" w="med" len="med"/>
                      <a:tailEnd type="none" w="med" len="med"/>
                    </a:lnB>
                    <a:solidFill>
                      <a:srgbClr val="FFF8F2"/>
                    </a:solidFill>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Z, unilateral</a:t>
                      </a:r>
                      <a:endParaRPr lang="en-US" sz="1300" dirty="0">
                        <a:latin typeface="DM Sans" charset="0"/>
                        <a:ea typeface="DM Sans" charset="0"/>
                        <a:cs typeface="DM Sans" charset="0"/>
                      </a:endParaRPr>
                    </a:p>
                  </a:txBody>
                  <a:tcPr marL="57785" marR="57785" marT="57785" marB="57785">
                    <a:lnL w="12700" cap="flat" cmpd="sng" algn="ctr">
                      <a:solidFill>
                        <a:srgbClr val="CBC6C1"/>
                      </a:solidFill>
                      <a:prstDash val="solid"/>
                      <a:round/>
                      <a:headEnd type="none" w="med" len="med"/>
                      <a:tailEnd type="none" w="med" len="med"/>
                    </a:lnL>
                    <a:lnR w="12700" cap="flat" cmpd="sng" algn="ctr">
                      <a:solidFill>
                        <a:srgbClr val="CBC6C1"/>
                      </a:solidFill>
                      <a:prstDash val="solid"/>
                      <a:round/>
                      <a:headEnd type="none" w="med" len="med"/>
                      <a:tailEnd type="none" w="med" len="med"/>
                    </a:lnR>
                    <a:lnT w="12700" cap="flat" cmpd="sng" algn="ctr">
                      <a:solidFill>
                        <a:srgbClr val="CBC6C1"/>
                      </a:solidFill>
                      <a:prstDash val="solid"/>
                      <a:round/>
                      <a:headEnd type="none" w="med" len="med"/>
                      <a:tailEnd type="none" w="med" len="med"/>
                    </a:lnT>
                    <a:lnB w="12700" cap="flat" cmpd="sng" algn="ctr">
                      <a:solidFill>
                        <a:srgbClr val="CBC6C1"/>
                      </a:solidFill>
                      <a:prstDash val="solid"/>
                      <a:round/>
                      <a:headEnd type="none" w="med" len="med"/>
                      <a:tailEnd type="none" w="med" len="med"/>
                    </a:lnB>
                    <a:solidFill>
                      <a:srgbClr val="FFF8F2"/>
                    </a:solidFill>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z = 0,99 · p = 0,16</a:t>
                      </a:r>
                      <a:endParaRPr lang="en-US" sz="1300" dirty="0">
                        <a:latin typeface="DM Sans" charset="0"/>
                        <a:ea typeface="DM Sans" charset="0"/>
                        <a:cs typeface="DM Sans" charset="0"/>
                      </a:endParaRPr>
                    </a:p>
                  </a:txBody>
                  <a:tcPr marL="57785" marR="57785" marT="57785" marB="57785">
                    <a:lnL w="12700" cap="flat" cmpd="sng" algn="ctr">
                      <a:solidFill>
                        <a:srgbClr val="CBC6C1"/>
                      </a:solidFill>
                      <a:prstDash val="solid"/>
                      <a:round/>
                      <a:headEnd type="none" w="med" len="med"/>
                      <a:tailEnd type="none" w="med" len="med"/>
                    </a:lnL>
                    <a:lnR w="12700" cap="flat" cmpd="sng" algn="ctr">
                      <a:solidFill>
                        <a:srgbClr val="CBC6C1"/>
                      </a:solidFill>
                      <a:prstDash val="solid"/>
                      <a:round/>
                      <a:headEnd type="none" w="med" len="med"/>
                      <a:tailEnd type="none" w="med" len="med"/>
                    </a:lnR>
                    <a:lnT w="12700" cap="flat" cmpd="sng" algn="ctr">
                      <a:solidFill>
                        <a:srgbClr val="CBC6C1"/>
                      </a:solidFill>
                      <a:prstDash val="solid"/>
                      <a:round/>
                      <a:headEnd type="none" w="med" len="med"/>
                      <a:tailEnd type="none" w="med" len="med"/>
                    </a:lnT>
                    <a:lnB w="12700" cap="flat" cmpd="sng" algn="ctr">
                      <a:solidFill>
                        <a:srgbClr val="CBC6C1"/>
                      </a:solidFill>
                      <a:prstDash val="solid"/>
                      <a:round/>
                      <a:headEnd type="none" w="med" len="med"/>
                      <a:tailEnd type="none" w="med" len="med"/>
                    </a:lnB>
                    <a:solidFill>
                      <a:srgbClr val="FFF8F2"/>
                    </a:solidFill>
                  </a:tcPr>
                </a:tc>
                <a:tc>
                  <a:txBody>
                    <a:bodyPr/>
                    <a:lstStyle/>
                    <a:p>
                      <a:pPr marL="0" indent="0">
                        <a:lnSpc>
                          <a:spcPts val="1820"/>
                        </a:lnSpc>
                        <a:buNone/>
                      </a:pPr>
                      <a:r>
                        <a:rPr lang="en-US" sz="1300" dirty="0">
                          <a:solidFill>
                            <a:srgbClr val="B0102A"/>
                          </a:solidFill>
                          <a:latin typeface="DM Sans" pitchFamily="34" charset="0"/>
                          <a:ea typeface="DM Sans" pitchFamily="34" charset="-122"/>
                          <a:cs typeface="DM Sans" pitchFamily="34" charset="-120"/>
                        </a:rPr>
                        <a:t>No demostrado</a:t>
                      </a:r>
                      <a:endParaRPr lang="en-US" sz="1300" dirty="0">
                        <a:latin typeface="DM Sans" charset="0"/>
                        <a:ea typeface="DM Sans" charset="0"/>
                        <a:cs typeface="DM Sans" charset="0"/>
                      </a:endParaRPr>
                    </a:p>
                  </a:txBody>
                  <a:tcPr marL="57785" marR="57785" marT="57785" marB="57785">
                    <a:lnL w="12700" cap="flat" cmpd="sng" algn="ctr">
                      <a:solidFill>
                        <a:srgbClr val="CBC6C1"/>
                      </a:solidFill>
                      <a:prstDash val="solid"/>
                      <a:round/>
                      <a:headEnd type="none" w="med" len="med"/>
                      <a:tailEnd type="none" w="med" len="med"/>
                    </a:lnL>
                    <a:lnR w="12700" cap="flat" cmpd="sng" algn="ctr">
                      <a:solidFill>
                        <a:srgbClr val="CBC6C1"/>
                      </a:solidFill>
                      <a:prstDash val="solid"/>
                      <a:round/>
                      <a:headEnd type="none" w="med" len="med"/>
                      <a:tailEnd type="none" w="med" len="med"/>
                    </a:lnR>
                    <a:lnT w="12700" cap="flat" cmpd="sng" algn="ctr">
                      <a:solidFill>
                        <a:srgbClr val="CBC6C1"/>
                      </a:solidFill>
                      <a:prstDash val="solid"/>
                      <a:round/>
                      <a:headEnd type="none" w="med" len="med"/>
                      <a:tailEnd type="none" w="med" len="med"/>
                    </a:lnT>
                    <a:lnB w="12700" cap="flat" cmpd="sng" algn="ctr">
                      <a:solidFill>
                        <a:srgbClr val="CBC6C1"/>
                      </a:solidFill>
                      <a:prstDash val="solid"/>
                      <a:round/>
                      <a:headEnd type="none" w="med" len="med"/>
                      <a:tailEnd type="none" w="med" len="med"/>
                    </a:lnB>
                    <a:solidFill>
                      <a:srgbClr val="FFF8F2"/>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6B7285"/>
                          </a:solidFill>
                          <a:latin typeface="DM Sans" pitchFamily="34" charset="0"/>
                          <a:ea typeface="DM Sans" pitchFamily="34" charset="-122"/>
                          <a:cs typeface="DM Sans" pitchFamily="34" charset="-120"/>
                        </a:rPr>
                        <a:t>H3</a:t>
                      </a:r>
                      <a:endParaRPr lang="en-US" sz="1300" dirty="0">
                        <a:latin typeface="DM Sans" charset="0"/>
                        <a:ea typeface="DM Sans" charset="0"/>
                        <a:cs typeface="DM Sans" charset="0"/>
                      </a:endParaRPr>
                    </a:p>
                  </a:txBody>
                  <a:tcPr marL="57785" marR="57785" marT="57785" marB="57785">
                    <a:lnL w="0" cap="flat" cmpd="sng" algn="ctr">
                      <a:noFill/>
                    </a:lnL>
                    <a:lnR w="12700" cap="flat" cmpd="sng" algn="ctr">
                      <a:solidFill>
                        <a:srgbClr val="C4C1BC"/>
                      </a:solidFill>
                      <a:prstDash val="solid"/>
                      <a:round/>
                      <a:headEnd type="none" w="med" len="med"/>
                      <a:tailEnd type="none" w="med" len="med"/>
                    </a:lnR>
                    <a:lnT w="12700" cap="flat" cmpd="sng" algn="ctr">
                      <a:solidFill>
                        <a:srgbClr val="CBC6C1"/>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Misma edad media en ambos</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BC6C1"/>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t de Welch</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BC6C1"/>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t = −2,42 · p = 0,016</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BC6C1"/>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Mínima: 0,34 años</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BC6C1"/>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6B7285"/>
                          </a:solidFill>
                          <a:latin typeface="DM Sans" pitchFamily="34" charset="0"/>
                          <a:ea typeface="DM Sans" pitchFamily="34" charset="-122"/>
                          <a:cs typeface="DM Sans" pitchFamily="34" charset="-120"/>
                        </a:rPr>
                        <a:t>H4</a:t>
                      </a:r>
                      <a:endParaRPr lang="en-US" sz="1300" dirty="0">
                        <a:latin typeface="DM Sans" charset="0"/>
                        <a:ea typeface="DM Sans" charset="0"/>
                        <a:cs typeface="DM Sans" charset="0"/>
                      </a:endParaRPr>
                    </a:p>
                  </a:txBody>
                  <a:tcPr marL="57785" marR="57785" marT="57785" marB="57785">
                    <a:lnL w="0" cap="flat" cmpd="sng" algn="ctr">
                      <a:noFill/>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Misma tasa de error</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Z, 2 proporciones</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p &lt; 0,001</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Test, más errores</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6B7285"/>
                          </a:solidFill>
                          <a:latin typeface="DM Sans" pitchFamily="34" charset="0"/>
                          <a:ea typeface="DM Sans" pitchFamily="34" charset="-122"/>
                          <a:cs typeface="DM Sans" pitchFamily="34" charset="-120"/>
                        </a:rPr>
                        <a:t>H5</a:t>
                      </a:r>
                      <a:endParaRPr lang="en-US" sz="1300" dirty="0">
                        <a:latin typeface="DM Sans" charset="0"/>
                        <a:ea typeface="DM Sans" charset="0"/>
                        <a:cs typeface="DM Sans" charset="0"/>
                      </a:endParaRPr>
                    </a:p>
                  </a:txBody>
                  <a:tcPr marL="57785" marR="57785" marT="57785" marB="57785">
                    <a:lnL w="0" cap="flat" cmpd="sng" algn="ctr">
                      <a:noFill/>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Paso alcanzado y diseño</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Chi-cuadrado</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χ² = 312 · p &lt; 0,001</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Depende del diseño</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6B7285"/>
                          </a:solidFill>
                          <a:latin typeface="DM Sans" pitchFamily="34" charset="0"/>
                          <a:ea typeface="DM Sans" pitchFamily="34" charset="-122"/>
                          <a:cs typeface="DM Sans" pitchFamily="34" charset="-120"/>
                        </a:rPr>
                        <a:t>H6</a:t>
                      </a:r>
                      <a:endParaRPr lang="en-US" sz="1300" dirty="0">
                        <a:latin typeface="DM Sans" charset="0"/>
                        <a:ea typeface="DM Sans" charset="0"/>
                        <a:cs typeface="DM Sans" charset="0"/>
                      </a:endParaRPr>
                    </a:p>
                  </a:txBody>
                  <a:tcPr marL="57785" marR="57785" marT="57785" marB="57785">
                    <a:lnL w="0" cap="flat" cmpd="sng" algn="ctr">
                      <a:noFill/>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Género y grupo</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Chi-cuadrado</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χ² = 1,89 · p = 0,39</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31B2E"/>
                          </a:solidFill>
                          <a:latin typeface="DM Sans" pitchFamily="34" charset="0"/>
                          <a:ea typeface="DM Sans" pitchFamily="34" charset="-122"/>
                          <a:cs typeface="DM Sans" pitchFamily="34" charset="-120"/>
                        </a:rPr>
                        <a:t>Sin diferencias</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Text 4"/>
          <p:cNvSpPr/>
          <p:nvPr/>
        </p:nvSpPr>
        <p:spPr>
          <a:xfrm>
            <a:off x="812800" y="4635965"/>
            <a:ext cx="9810750"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6"/>
                </a:solidFill>
                <a:latin typeface="DM Sans" pitchFamily="34" charset="0"/>
                <a:ea typeface="DM Sans" pitchFamily="34" charset="-122"/>
                <a:cs typeface="DM Sans" pitchFamily="34" charset="-120"/>
              </a:rPr>
              <a:t>Lección clave: con 50.000 clientes casi todo sale «significativo». Por eso miramos también </a:t>
            </a:r>
            <a:r>
              <a:rPr lang="en-US" sz="1400" b="1" dirty="0">
                <a:solidFill>
                  <a:srgbClr val="131B2E"/>
                </a:solidFill>
                <a:latin typeface="DM Sans" pitchFamily="34" charset="0"/>
                <a:ea typeface="DM Sans" pitchFamily="34" charset="-122"/>
                <a:cs typeface="DM Sans" pitchFamily="34" charset="-120"/>
              </a:rPr>
              <a:t>si la diferencia importa</a:t>
            </a:r>
            <a:r>
              <a:rPr lang="en-US" sz="1400" dirty="0">
                <a:solidFill>
                  <a:srgbClr val="4A5266"/>
                </a:solidFill>
                <a:latin typeface="DM Sans" pitchFamily="34" charset="0"/>
                <a:ea typeface="DM Sans" pitchFamily="34" charset="-122"/>
                <a:cs typeface="DM Sans" pitchFamily="34" charset="-120"/>
              </a:rPr>
              <a:t> (H3: 0,34 años no importa).</a:t>
            </a:r>
            <a:endParaRPr lang="en-US" sz="1400" dirty="0"/>
          </a:p>
        </p:txBody>
      </p:sp>
      <p:sp>
        <p:nvSpPr>
          <p:cNvPr id="8" name="Text 5"/>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5"/>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DM Sans" pitchFamily="34" charset="0"/>
                <a:ea typeface="DM Sans" pitchFamily="34" charset="-122"/>
                <a:cs typeface="DM Sans" pitchFamily="34" charset="-120"/>
              </a:rPr>
              <a:t>EVALUACIÓN DEL EXPERIMENTO · 1</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1B2E"/>
                </a:solidFill>
                <a:latin typeface="Space Grotesk" pitchFamily="34" charset="0"/>
                <a:ea typeface="Space Grotesk" pitchFamily="34" charset="-122"/>
                <a:cs typeface="Space Grotesk" pitchFamily="34" charset="-120"/>
              </a:rPr>
              <a:t>¿Podemos fiarnos del experimento?</a:t>
            </a:r>
            <a:endParaRPr lang="en-US" sz="3200" dirty="0"/>
          </a:p>
        </p:txBody>
      </p:sp>
      <p:pic>
        <p:nvPicPr>
          <p:cNvPr id="4" name="Image 0" descr="CheckCircle"/>
          <p:cNvPicPr>
            <a:picLocks noChangeAspect="1"/>
          </p:cNvPicPr>
          <p:nvPr/>
        </p:nvPicPr>
        <p:blipFill>
          <a:blip r:embed="rId3"/>
          <a:srcRect/>
          <a:stretch/>
        </p:blipFill>
        <p:spPr>
          <a:xfrm>
            <a:off x="812800" y="1854138"/>
            <a:ext cx="304800" cy="304800"/>
          </a:xfrm>
          <a:prstGeom prst="rect">
            <a:avLst/>
          </a:prstGeom>
        </p:spPr>
      </p:pic>
      <p:sp>
        <p:nvSpPr>
          <p:cNvPr id="5" name="Text 2"/>
          <p:cNvSpPr/>
          <p:nvPr/>
        </p:nvSpPr>
        <p:spPr>
          <a:xfrm>
            <a:off x="1270000" y="1854138"/>
            <a:ext cx="481047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31B2E"/>
                </a:solidFill>
                <a:latin typeface="DM Sans" pitchFamily="34" charset="0"/>
                <a:ea typeface="DM Sans" pitchFamily="34" charset="-122"/>
                <a:cs typeface="DM Sans" pitchFamily="34" charset="-120"/>
              </a:rPr>
              <a:t>Bien · Sin mezcla entre grupos</a:t>
            </a:r>
            <a:endParaRPr lang="en-US" sz="1500" dirty="0"/>
          </a:p>
        </p:txBody>
      </p:sp>
      <p:sp>
        <p:nvSpPr>
          <p:cNvPr id="6" name="Text 3"/>
          <p:cNvSpPr/>
          <p:nvPr/>
        </p:nvSpPr>
        <p:spPr>
          <a:xfrm>
            <a:off x="1270000" y="2146238"/>
            <a:ext cx="5604431"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6"/>
                </a:solidFill>
                <a:latin typeface="DM Sans" pitchFamily="34" charset="0"/>
                <a:ea typeface="DM Sans" pitchFamily="34" charset="-122"/>
                <a:cs typeface="DM Sans" pitchFamily="34" charset="-120"/>
              </a:rPr>
              <a:t>0 clientes en Control y Test a la vez; todos con actividad web</a:t>
            </a:r>
            <a:endParaRPr lang="en-US" sz="1300" dirty="0"/>
          </a:p>
        </p:txBody>
      </p:sp>
      <p:pic>
        <p:nvPicPr>
          <p:cNvPr id="7" name="Image 1" descr="CheckCircle"/>
          <p:cNvPicPr>
            <a:picLocks noChangeAspect="1"/>
          </p:cNvPicPr>
          <p:nvPr/>
        </p:nvPicPr>
        <p:blipFill>
          <a:blip r:embed="rId3"/>
          <a:srcRect/>
          <a:stretch/>
        </p:blipFill>
        <p:spPr>
          <a:xfrm>
            <a:off x="812800" y="2931982"/>
            <a:ext cx="304800" cy="304800"/>
          </a:xfrm>
          <a:prstGeom prst="rect">
            <a:avLst/>
          </a:prstGeom>
        </p:spPr>
      </p:pic>
      <p:sp>
        <p:nvSpPr>
          <p:cNvPr id="8" name="Text 4"/>
          <p:cNvSpPr/>
          <p:nvPr/>
        </p:nvSpPr>
        <p:spPr>
          <a:xfrm>
            <a:off x="1270000" y="2931982"/>
            <a:ext cx="497139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31B2E"/>
                </a:solidFill>
                <a:latin typeface="DM Sans" pitchFamily="34" charset="0"/>
                <a:ea typeface="DM Sans" pitchFamily="34" charset="-122"/>
                <a:cs typeface="DM Sans" pitchFamily="34" charset="-120"/>
              </a:rPr>
              <a:t>Bien · Mismo perfil de clientes</a:t>
            </a:r>
            <a:endParaRPr lang="en-US" sz="1500" dirty="0"/>
          </a:p>
        </p:txBody>
      </p:sp>
      <p:sp>
        <p:nvSpPr>
          <p:cNvPr id="9" name="Text 5"/>
          <p:cNvSpPr/>
          <p:nvPr/>
        </p:nvSpPr>
        <p:spPr>
          <a:xfrm>
            <a:off x="1270000" y="3224082"/>
            <a:ext cx="5791914"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6"/>
                </a:solidFill>
                <a:latin typeface="DM Sans" pitchFamily="34" charset="0"/>
                <a:ea typeface="DM Sans" pitchFamily="34" charset="-122"/>
                <a:cs typeface="DM Sans" pitchFamily="34" charset="-120"/>
              </a:rPr>
              <a:t>Edad, saldo, antigüedad y género: diferencias menores del 2,1 %</a:t>
            </a:r>
            <a:endParaRPr lang="en-US" sz="1300" dirty="0"/>
          </a:p>
        </p:txBody>
      </p:sp>
      <p:pic>
        <p:nvPicPr>
          <p:cNvPr id="10" name="Image 2" descr="Warning"/>
          <p:cNvPicPr>
            <a:picLocks noChangeAspect="1"/>
          </p:cNvPicPr>
          <p:nvPr/>
        </p:nvPicPr>
        <p:blipFill>
          <a:blip r:embed="rId4"/>
          <a:srcRect/>
          <a:stretch/>
        </p:blipFill>
        <p:spPr>
          <a:xfrm>
            <a:off x="812800" y="4009827"/>
            <a:ext cx="304800" cy="304800"/>
          </a:xfrm>
          <a:prstGeom prst="rect">
            <a:avLst/>
          </a:prstGeom>
        </p:spPr>
      </p:pic>
      <p:sp>
        <p:nvSpPr>
          <p:cNvPr id="11" name="Text 6"/>
          <p:cNvSpPr/>
          <p:nvPr/>
        </p:nvSpPr>
        <p:spPr>
          <a:xfrm>
            <a:off x="1270000" y="4009827"/>
            <a:ext cx="463026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31B2E"/>
                </a:solidFill>
                <a:latin typeface="DM Sans" pitchFamily="34" charset="0"/>
                <a:ea typeface="DM Sans" pitchFamily="34" charset="-122"/>
                <a:cs typeface="DM Sans" pitchFamily="34" charset="-120"/>
              </a:rPr>
              <a:t>Ojo · Reparto 53,4 / 46,6, no 50 / 50</a:t>
            </a:r>
            <a:endParaRPr lang="en-US" sz="1500" dirty="0"/>
          </a:p>
        </p:txBody>
      </p:sp>
      <p:sp>
        <p:nvSpPr>
          <p:cNvPr id="12" name="Text 7"/>
          <p:cNvSpPr/>
          <p:nvPr/>
        </p:nvSpPr>
        <p:spPr>
          <a:xfrm>
            <a:off x="1270000" y="4301927"/>
            <a:ext cx="5394484"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6"/>
                </a:solidFill>
                <a:latin typeface="DM Sans" pitchFamily="34" charset="0"/>
                <a:ea typeface="DM Sans" pitchFamily="34" charset="-122"/>
                <a:cs typeface="DM Sans" pitchFamily="34" charset="-120"/>
              </a:rPr>
              <a:t>Test binomial: p &lt; 0,001. ¿Era intencionado? No lo sabemos</a:t>
            </a:r>
            <a:endParaRPr lang="en-US" sz="1300" dirty="0"/>
          </a:p>
        </p:txBody>
      </p:sp>
      <p:pic>
        <p:nvPicPr>
          <p:cNvPr id="13" name="Image 3" descr="Warning"/>
          <p:cNvPicPr>
            <a:picLocks noChangeAspect="1"/>
          </p:cNvPicPr>
          <p:nvPr/>
        </p:nvPicPr>
        <p:blipFill>
          <a:blip r:embed="rId5"/>
          <a:srcRect l="-71" r="-71"/>
          <a:stretch/>
        </p:blipFill>
        <p:spPr>
          <a:xfrm>
            <a:off x="812800" y="5087677"/>
            <a:ext cx="279797" cy="304800"/>
          </a:xfrm>
          <a:prstGeom prst="rect">
            <a:avLst/>
          </a:prstGeom>
        </p:spPr>
      </p:pic>
      <p:sp>
        <p:nvSpPr>
          <p:cNvPr id="14" name="Text 8"/>
          <p:cNvSpPr/>
          <p:nvPr/>
        </p:nvSpPr>
        <p:spPr>
          <a:xfrm>
            <a:off x="1244997" y="5087677"/>
            <a:ext cx="583371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31B2E"/>
                </a:solidFill>
                <a:latin typeface="DM Sans" pitchFamily="34" charset="0"/>
                <a:ea typeface="DM Sans" pitchFamily="34" charset="-122"/>
                <a:cs typeface="DM Sans" pitchFamily="34" charset="-120"/>
              </a:rPr>
              <a:t>Ojo · Efecto novedad y costumbre</a:t>
            </a:r>
            <a:endParaRPr lang="en-US" sz="1500" dirty="0"/>
          </a:p>
        </p:txBody>
      </p:sp>
      <p:sp>
        <p:nvSpPr>
          <p:cNvPr id="15" name="Text 9"/>
          <p:cNvSpPr/>
          <p:nvPr/>
        </p:nvSpPr>
        <p:spPr>
          <a:xfrm>
            <a:off x="1244997" y="5379777"/>
            <a:ext cx="5833717"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6"/>
                </a:solidFill>
                <a:latin typeface="DM Sans" pitchFamily="34" charset="0"/>
                <a:ea typeface="DM Sans" pitchFamily="34" charset="-122"/>
                <a:cs typeface="DM Sans" pitchFamily="34" charset="-120"/>
              </a:rPr>
              <a:t>Lo nuevo atrae al principio; los clientes veteranos están hechos al diseño antiguo</a:t>
            </a:r>
            <a:endParaRPr lang="en-US" sz="1300" dirty="0"/>
          </a:p>
        </p:txBody>
      </p:sp>
      <p:sp>
        <p:nvSpPr>
          <p:cNvPr id="16" name="Shape 10"/>
          <p:cNvSpPr/>
          <p:nvPr/>
        </p:nvSpPr>
        <p:spPr>
          <a:xfrm>
            <a:off x="7264400" y="1854138"/>
            <a:ext cx="4114800" cy="3987866"/>
          </a:xfrm>
          <a:prstGeom prst="roundRect">
            <a:avLst>
              <a:gd name="adj" fmla="val 3185"/>
            </a:avLst>
          </a:prstGeom>
          <a:solidFill>
            <a:srgbClr val="131B2E"/>
          </a:solidFill>
          <a:ln/>
        </p:spPr>
      </p:sp>
      <p:sp>
        <p:nvSpPr>
          <p:cNvPr id="17" name="Text 11"/>
          <p:cNvSpPr/>
          <p:nvPr/>
        </p:nvSpPr>
        <p:spPr>
          <a:xfrm>
            <a:off x="7543800" y="2133538"/>
            <a:ext cx="366268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6B7A"/>
                </a:solidFill>
                <a:latin typeface="DM Sans" pitchFamily="34" charset="0"/>
                <a:ea typeface="DM Sans" pitchFamily="34" charset="-122"/>
                <a:cs typeface="DM Sans" pitchFamily="34" charset="-120"/>
              </a:rPr>
              <a:t>DATOS QUE NOS FALTARON</a:t>
            </a:r>
            <a:endParaRPr lang="en-US" sz="1200" dirty="0"/>
          </a:p>
        </p:txBody>
      </p:sp>
      <p:pic>
        <p:nvPicPr>
          <p:cNvPr id="18" name="Image 4" descr="Globe"/>
          <p:cNvPicPr>
            <a:picLocks noChangeAspect="1"/>
          </p:cNvPicPr>
          <p:nvPr/>
        </p:nvPicPr>
        <p:blipFill>
          <a:blip r:embed="rId6"/>
          <a:srcRect/>
          <a:stretch/>
        </p:blipFill>
        <p:spPr>
          <a:xfrm>
            <a:off x="7543800" y="2509379"/>
            <a:ext cx="228600" cy="228600"/>
          </a:xfrm>
          <a:prstGeom prst="rect">
            <a:avLst/>
          </a:prstGeom>
        </p:spPr>
      </p:pic>
      <p:sp>
        <p:nvSpPr>
          <p:cNvPr id="19" name="Text 12"/>
          <p:cNvSpPr/>
          <p:nvPr/>
        </p:nvSpPr>
        <p:spPr>
          <a:xfrm>
            <a:off x="7874000" y="2499258"/>
            <a:ext cx="23606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2EC"/>
                </a:solidFill>
                <a:latin typeface="DM Sans" pitchFamily="34" charset="0"/>
                <a:ea typeface="DM Sans" pitchFamily="34" charset="-122"/>
                <a:cs typeface="DM Sans" pitchFamily="34" charset="-120"/>
              </a:rPr>
              <a:t>Dispositivo y navegador</a:t>
            </a:r>
            <a:endParaRPr lang="en-US" sz="1400" dirty="0"/>
          </a:p>
        </p:txBody>
      </p:sp>
      <p:pic>
        <p:nvPicPr>
          <p:cNvPr id="20" name="Image 5" descr="Settings"/>
          <p:cNvPicPr>
            <a:picLocks noChangeAspect="1"/>
          </p:cNvPicPr>
          <p:nvPr/>
        </p:nvPicPr>
        <p:blipFill>
          <a:blip r:embed="rId7"/>
          <a:srcRect l="-186" r="-186"/>
          <a:stretch/>
        </p:blipFill>
        <p:spPr>
          <a:xfrm>
            <a:off x="7543800" y="3035170"/>
            <a:ext cx="178461" cy="228600"/>
          </a:xfrm>
          <a:prstGeom prst="rect">
            <a:avLst/>
          </a:prstGeom>
        </p:spPr>
      </p:pic>
      <p:sp>
        <p:nvSpPr>
          <p:cNvPr id="21" name="Text 13"/>
          <p:cNvSpPr/>
          <p:nvPr/>
        </p:nvSpPr>
        <p:spPr>
          <a:xfrm>
            <a:off x="7823862" y="2900561"/>
            <a:ext cx="3374217"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2EC"/>
                </a:solidFill>
                <a:latin typeface="DM Sans" pitchFamily="34" charset="0"/>
                <a:ea typeface="DM Sans" pitchFamily="34" charset="-122"/>
                <a:cs typeface="DM Sans" pitchFamily="34" charset="-120"/>
              </a:rPr>
              <a:t>Cómo y en qué proporción se asignaron los grupos</a:t>
            </a:r>
            <a:endParaRPr lang="en-US" sz="1400" dirty="0"/>
          </a:p>
        </p:txBody>
      </p:sp>
      <p:pic>
        <p:nvPicPr>
          <p:cNvPr id="22" name="Image 6" descr="Chart"/>
          <p:cNvPicPr>
            <a:picLocks noChangeAspect="1"/>
          </p:cNvPicPr>
          <p:nvPr/>
        </p:nvPicPr>
        <p:blipFill>
          <a:blip r:embed="rId8"/>
          <a:srcRect t="-691" b="-691"/>
          <a:stretch/>
        </p:blipFill>
        <p:spPr>
          <a:xfrm>
            <a:off x="7543800" y="3685381"/>
            <a:ext cx="162851" cy="228600"/>
          </a:xfrm>
          <a:prstGeom prst="rect">
            <a:avLst/>
          </a:prstGeom>
        </p:spPr>
      </p:pic>
      <p:sp>
        <p:nvSpPr>
          <p:cNvPr id="23" name="Text 14"/>
          <p:cNvSpPr/>
          <p:nvPr/>
        </p:nvSpPr>
        <p:spPr>
          <a:xfrm>
            <a:off x="7808251" y="3550779"/>
            <a:ext cx="3390296"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2EC"/>
                </a:solidFill>
                <a:latin typeface="DM Sans" pitchFamily="34" charset="0"/>
                <a:ea typeface="DM Sans" pitchFamily="34" charset="-122"/>
                <a:cs typeface="DM Sans" pitchFamily="34" charset="-120"/>
              </a:rPr>
              <a:t>Coste del rediseño y valor de cada proceso completado</a:t>
            </a:r>
            <a:endParaRPr lang="en-US" sz="1400" dirty="0"/>
          </a:p>
        </p:txBody>
      </p:sp>
      <p:pic>
        <p:nvPicPr>
          <p:cNvPr id="24" name="Image 7" descr="Chat"/>
          <p:cNvPicPr>
            <a:picLocks noChangeAspect="1"/>
          </p:cNvPicPr>
          <p:nvPr/>
        </p:nvPicPr>
        <p:blipFill>
          <a:blip r:embed="rId9"/>
          <a:srcRect t="-543" b="-543"/>
          <a:stretch/>
        </p:blipFill>
        <p:spPr>
          <a:xfrm>
            <a:off x="7543800" y="4335599"/>
            <a:ext cx="201017" cy="228600"/>
          </a:xfrm>
          <a:prstGeom prst="rect">
            <a:avLst/>
          </a:prstGeom>
        </p:spPr>
      </p:pic>
      <p:sp>
        <p:nvSpPr>
          <p:cNvPr id="25" name="Text 15"/>
          <p:cNvSpPr/>
          <p:nvPr/>
        </p:nvSpPr>
        <p:spPr>
          <a:xfrm>
            <a:off x="7846417" y="4200990"/>
            <a:ext cx="3350984"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2EC"/>
                </a:solidFill>
                <a:latin typeface="DM Sans" pitchFamily="34" charset="0"/>
                <a:ea typeface="DM Sans" pitchFamily="34" charset="-122"/>
                <a:cs typeface="DM Sans" pitchFamily="34" charset="-120"/>
              </a:rPr>
              <a:t>Opiniones de usuarios: por qué vuelven atrás</a:t>
            </a:r>
            <a:endParaRPr lang="en-US" sz="1400" dirty="0"/>
          </a:p>
        </p:txBody>
      </p:sp>
      <p:sp>
        <p:nvSpPr>
          <p:cNvPr id="26" name="Text 16"/>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Tableau: «Fiabilidad»</a:t>
            </a:r>
            <a:endParaRPr lang="en-US" sz="1200" dirty="0"/>
          </a:p>
        </p:txBody>
      </p:sp>
      <p:sp>
        <p:nvSpPr>
          <p:cNvPr id="27" name="Text 1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5"/>
                </a:solidFill>
                <a:latin typeface="DM Sans" pitchFamily="34" charset="0"/>
                <a:ea typeface="DM Sans" pitchFamily="34" charset="-122"/>
                <a:cs typeface="DM Sans" pitchFamily="34" charset="-120"/>
              </a:rPr>
              <a:t>15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bg>
      <p:bgPr>
        <a:solidFill>
          <a:srgbClr val="131B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6B7A"/>
                </a:solidFill>
                <a:latin typeface="DM Sans" pitchFamily="34" charset="0"/>
                <a:ea typeface="DM Sans" pitchFamily="34" charset="-122"/>
                <a:cs typeface="DM Sans" pitchFamily="34" charset="-120"/>
              </a:rPr>
              <a:t>VISUALIZACIONES EN TABLEAU · DEMO EN DIRECTO</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5F2EC"/>
                </a:solidFill>
                <a:latin typeface="Space Grotesk" pitchFamily="34" charset="0"/>
                <a:ea typeface="Space Grotesk" pitchFamily="34" charset="-122"/>
                <a:cs typeface="Space Grotesk" pitchFamily="34" charset="-120"/>
              </a:rPr>
              <a:t>Vamos a Tableau: la historia en cuatro paneles</a:t>
            </a:r>
            <a:endParaRPr lang="en-US" sz="3200" dirty="0"/>
          </a:p>
        </p:txBody>
      </p:sp>
      <p:sp>
        <p:nvSpPr>
          <p:cNvPr id="20" name="Text 18"/>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AA3B5"/>
                </a:solidFill>
                <a:latin typeface="DM Sans" pitchFamily="34" charset="0"/>
                <a:ea typeface="DM Sans" pitchFamily="34" charset="-122"/>
                <a:cs typeface="DM Sans" pitchFamily="34" charset="-120"/>
              </a:rPr>
              <a:t>17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DM Sans" pitchFamily="34" charset="0"/>
                <a:ea typeface="DM Sans" pitchFamily="34" charset="-122"/>
                <a:cs typeface="DM Sans" pitchFamily="34" charset="-120"/>
              </a:rPr>
              <a:t>DESAFÍOS Y APRENDIZAJES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1B2E"/>
                </a:solidFill>
                <a:latin typeface="Space Grotesk" pitchFamily="34" charset="0"/>
                <a:ea typeface="Space Grotesk" pitchFamily="34" charset="-122"/>
                <a:cs typeface="Space Grotesk" pitchFamily="34" charset="-120"/>
              </a:rPr>
              <a:t>Lo que nos costó y lo que nos llevamos</a:t>
            </a:r>
            <a:endParaRPr lang="en-US" sz="3200" dirty="0"/>
          </a:p>
        </p:txBody>
      </p:sp>
      <p:sp>
        <p:nvSpPr>
          <p:cNvPr id="4" name="Shape 2"/>
          <p:cNvSpPr/>
          <p:nvPr/>
        </p:nvSpPr>
        <p:spPr>
          <a:xfrm>
            <a:off x="819150" y="1860488"/>
            <a:ext cx="10553700" cy="617207"/>
          </a:xfrm>
          <a:prstGeom prst="roundRect">
            <a:avLst>
              <a:gd name="adj" fmla="val 15432"/>
            </a:avLst>
          </a:prstGeom>
          <a:solidFill>
            <a:srgbClr val="FFFDF8"/>
          </a:solidFill>
          <a:ln w="12700">
            <a:solidFill>
              <a:srgbClr val="DDD5C6"/>
            </a:solidFill>
            <a:prstDash val="solid"/>
          </a:ln>
        </p:spPr>
      </p:sp>
      <p:sp>
        <p:nvSpPr>
          <p:cNvPr id="5" name="Text 3"/>
          <p:cNvSpPr/>
          <p:nvPr/>
        </p:nvSpPr>
        <p:spPr>
          <a:xfrm>
            <a:off x="1054100" y="2044638"/>
            <a:ext cx="39243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B2E"/>
                </a:solidFill>
                <a:latin typeface="DM Sans" pitchFamily="34" charset="0"/>
                <a:ea typeface="DM Sans" pitchFamily="34" charset="-122"/>
                <a:cs typeface="DM Sans" pitchFamily="34" charset="-120"/>
              </a:rPr>
              <a:t>Duplicados y fechas como texto</a:t>
            </a:r>
            <a:endParaRPr lang="en-US" sz="1400" dirty="0"/>
          </a:p>
        </p:txBody>
      </p:sp>
      <p:pic>
        <p:nvPicPr>
          <p:cNvPr id="6" name="Image 0" descr="arrow-right"/>
          <p:cNvPicPr>
            <a:picLocks noChangeAspect="1"/>
          </p:cNvPicPr>
          <p:nvPr/>
        </p:nvPicPr>
        <p:blipFill>
          <a:blip r:embed="rId3"/>
          <a:srcRect/>
          <a:stretch/>
        </p:blipFill>
        <p:spPr>
          <a:xfrm>
            <a:off x="5041900" y="2099208"/>
            <a:ext cx="279400" cy="139700"/>
          </a:xfrm>
          <a:prstGeom prst="rect">
            <a:avLst/>
          </a:prstGeom>
        </p:spPr>
      </p:pic>
      <p:sp>
        <p:nvSpPr>
          <p:cNvPr id="7" name="Text 4"/>
          <p:cNvSpPr/>
          <p:nvPr/>
        </p:nvSpPr>
        <p:spPr>
          <a:xfrm>
            <a:off x="5499100" y="2049066"/>
            <a:ext cx="5807964" cy="265377"/>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266"/>
                </a:solidFill>
                <a:latin typeface="DM Sans" pitchFamily="34" charset="0"/>
                <a:ea typeface="DM Sans" pitchFamily="34" charset="-122"/>
                <a:cs typeface="DM Sans" pitchFamily="34" charset="-120"/>
              </a:rPr>
              <a:t>Revisarlos antes de calcular nada: cambian los resultados</a:t>
            </a:r>
            <a:endParaRPr lang="en-US" sz="1400" dirty="0"/>
          </a:p>
        </p:txBody>
      </p:sp>
      <p:sp>
        <p:nvSpPr>
          <p:cNvPr id="8" name="Shape 5"/>
          <p:cNvSpPr/>
          <p:nvPr/>
        </p:nvSpPr>
        <p:spPr>
          <a:xfrm>
            <a:off x="819150" y="2617391"/>
            <a:ext cx="10553700" cy="617207"/>
          </a:xfrm>
          <a:prstGeom prst="roundRect">
            <a:avLst>
              <a:gd name="adj" fmla="val 15432"/>
            </a:avLst>
          </a:prstGeom>
          <a:solidFill>
            <a:srgbClr val="FFFDF8"/>
          </a:solidFill>
          <a:ln w="12700">
            <a:solidFill>
              <a:srgbClr val="DDD5C6"/>
            </a:solidFill>
            <a:prstDash val="solid"/>
          </a:ln>
        </p:spPr>
      </p:sp>
      <p:sp>
        <p:nvSpPr>
          <p:cNvPr id="9" name="Text 6"/>
          <p:cNvSpPr/>
          <p:nvPr/>
        </p:nvSpPr>
        <p:spPr>
          <a:xfrm>
            <a:off x="1054100" y="2801541"/>
            <a:ext cx="39243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B2E"/>
                </a:solidFill>
                <a:latin typeface="DM Sans" pitchFamily="34" charset="0"/>
                <a:ea typeface="DM Sans" pitchFamily="34" charset="-122"/>
                <a:cs typeface="DM Sans" pitchFamily="34" charset="-120"/>
              </a:rPr>
              <a:t>Tiempos con valores extremos</a:t>
            </a:r>
            <a:endParaRPr lang="en-US" sz="1400" dirty="0"/>
          </a:p>
        </p:txBody>
      </p:sp>
      <p:pic>
        <p:nvPicPr>
          <p:cNvPr id="10" name="Image 1" descr="arrow-right"/>
          <p:cNvPicPr>
            <a:picLocks noChangeAspect="1"/>
          </p:cNvPicPr>
          <p:nvPr/>
        </p:nvPicPr>
        <p:blipFill>
          <a:blip r:embed="rId3"/>
          <a:srcRect/>
          <a:stretch/>
        </p:blipFill>
        <p:spPr>
          <a:xfrm>
            <a:off x="5041900" y="2856111"/>
            <a:ext cx="279400" cy="139700"/>
          </a:xfrm>
          <a:prstGeom prst="rect">
            <a:avLst/>
          </a:prstGeom>
        </p:spPr>
      </p:pic>
      <p:sp>
        <p:nvSpPr>
          <p:cNvPr id="11" name="Text 7"/>
          <p:cNvSpPr/>
          <p:nvPr/>
        </p:nvSpPr>
        <p:spPr>
          <a:xfrm>
            <a:off x="5499100" y="2805981"/>
            <a:ext cx="5807964" cy="265377"/>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266"/>
                </a:solidFill>
                <a:latin typeface="DM Sans" pitchFamily="34" charset="0"/>
                <a:ea typeface="DM Sans" pitchFamily="34" charset="-122"/>
                <a:cs typeface="DM Sans" pitchFamily="34" charset="-120"/>
              </a:rPr>
              <a:t>Usar la mediana y no la media</a:t>
            </a:r>
            <a:endParaRPr lang="en-US" sz="1400" dirty="0"/>
          </a:p>
        </p:txBody>
      </p:sp>
      <p:sp>
        <p:nvSpPr>
          <p:cNvPr id="12" name="Shape 8"/>
          <p:cNvSpPr/>
          <p:nvPr/>
        </p:nvSpPr>
        <p:spPr>
          <a:xfrm>
            <a:off x="819150" y="3374306"/>
            <a:ext cx="10553700" cy="617207"/>
          </a:xfrm>
          <a:prstGeom prst="roundRect">
            <a:avLst>
              <a:gd name="adj" fmla="val 15432"/>
            </a:avLst>
          </a:prstGeom>
          <a:solidFill>
            <a:srgbClr val="FFFDF8"/>
          </a:solidFill>
          <a:ln w="12700">
            <a:solidFill>
              <a:srgbClr val="DDD5C6"/>
            </a:solidFill>
            <a:prstDash val="solid"/>
          </a:ln>
        </p:spPr>
      </p:sp>
      <p:sp>
        <p:nvSpPr>
          <p:cNvPr id="13" name="Text 9"/>
          <p:cNvSpPr/>
          <p:nvPr/>
        </p:nvSpPr>
        <p:spPr>
          <a:xfrm>
            <a:off x="1054100" y="3558456"/>
            <a:ext cx="39243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B2E"/>
                </a:solidFill>
                <a:latin typeface="DM Sans" pitchFamily="34" charset="0"/>
                <a:ea typeface="DM Sans" pitchFamily="34" charset="-122"/>
                <a:cs typeface="DM Sans" pitchFamily="34" charset="-120"/>
              </a:rPr>
              <a:t>Todo salía «significativo»</a:t>
            </a:r>
            <a:endParaRPr lang="en-US" sz="1400" dirty="0"/>
          </a:p>
        </p:txBody>
      </p:sp>
      <p:pic>
        <p:nvPicPr>
          <p:cNvPr id="14" name="Image 2" descr="arrow-right"/>
          <p:cNvPicPr>
            <a:picLocks noChangeAspect="1"/>
          </p:cNvPicPr>
          <p:nvPr/>
        </p:nvPicPr>
        <p:blipFill>
          <a:blip r:embed="rId3"/>
          <a:srcRect/>
          <a:stretch/>
        </p:blipFill>
        <p:spPr>
          <a:xfrm>
            <a:off x="5041900" y="3613026"/>
            <a:ext cx="279400" cy="139700"/>
          </a:xfrm>
          <a:prstGeom prst="rect">
            <a:avLst/>
          </a:prstGeom>
        </p:spPr>
      </p:pic>
      <p:sp>
        <p:nvSpPr>
          <p:cNvPr id="15" name="Text 10"/>
          <p:cNvSpPr/>
          <p:nvPr/>
        </p:nvSpPr>
        <p:spPr>
          <a:xfrm>
            <a:off x="5499100" y="3562883"/>
            <a:ext cx="5807964" cy="265377"/>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266"/>
                </a:solidFill>
                <a:latin typeface="DM Sans" pitchFamily="34" charset="0"/>
                <a:ea typeface="DM Sans" pitchFamily="34" charset="-122"/>
                <a:cs typeface="DM Sans" pitchFamily="34" charset="-120"/>
              </a:rPr>
              <a:t>Mirar también el tamaño de la diferencia y el umbral de negocio</a:t>
            </a:r>
            <a:endParaRPr lang="en-US" sz="1400" dirty="0"/>
          </a:p>
        </p:txBody>
      </p:sp>
      <p:sp>
        <p:nvSpPr>
          <p:cNvPr id="16" name="Shape 11"/>
          <p:cNvSpPr/>
          <p:nvPr/>
        </p:nvSpPr>
        <p:spPr>
          <a:xfrm>
            <a:off x="819150" y="4131208"/>
            <a:ext cx="10553700" cy="617207"/>
          </a:xfrm>
          <a:prstGeom prst="roundRect">
            <a:avLst>
              <a:gd name="adj" fmla="val 15432"/>
            </a:avLst>
          </a:prstGeom>
          <a:solidFill>
            <a:srgbClr val="FFFDF8"/>
          </a:solidFill>
          <a:ln w="12700">
            <a:solidFill>
              <a:srgbClr val="DDD5C6"/>
            </a:solidFill>
            <a:prstDash val="solid"/>
          </a:ln>
        </p:spPr>
      </p:sp>
      <p:sp>
        <p:nvSpPr>
          <p:cNvPr id="17" name="Text 12"/>
          <p:cNvSpPr/>
          <p:nvPr/>
        </p:nvSpPr>
        <p:spPr>
          <a:xfrm>
            <a:off x="1054100" y="4315358"/>
            <a:ext cx="39243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1B2E"/>
                </a:solidFill>
                <a:latin typeface="DM Sans" pitchFamily="34" charset="0"/>
                <a:ea typeface="DM Sans" pitchFamily="34" charset="-122"/>
                <a:cs typeface="DM Sans" pitchFamily="34" charset="-120"/>
              </a:rPr>
              <a:t>Pasar de Python a Tableau</a:t>
            </a:r>
            <a:endParaRPr lang="en-US" sz="1400" dirty="0"/>
          </a:p>
        </p:txBody>
      </p:sp>
      <p:pic>
        <p:nvPicPr>
          <p:cNvPr id="18" name="Image 3" descr="arrow-right"/>
          <p:cNvPicPr>
            <a:picLocks noChangeAspect="1"/>
          </p:cNvPicPr>
          <p:nvPr/>
        </p:nvPicPr>
        <p:blipFill>
          <a:blip r:embed="rId3"/>
          <a:srcRect/>
          <a:stretch/>
        </p:blipFill>
        <p:spPr>
          <a:xfrm>
            <a:off x="5041900" y="4369929"/>
            <a:ext cx="279400" cy="139700"/>
          </a:xfrm>
          <a:prstGeom prst="rect">
            <a:avLst/>
          </a:prstGeom>
        </p:spPr>
      </p:pic>
      <p:sp>
        <p:nvSpPr>
          <p:cNvPr id="19" name="Text 13"/>
          <p:cNvSpPr/>
          <p:nvPr/>
        </p:nvSpPr>
        <p:spPr>
          <a:xfrm>
            <a:off x="5499100" y="4319786"/>
            <a:ext cx="5807964" cy="265377"/>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266"/>
                </a:solidFill>
                <a:latin typeface="DM Sans" pitchFamily="34" charset="0"/>
                <a:ea typeface="DM Sans" pitchFamily="34" charset="-122"/>
                <a:cs typeface="DM Sans" pitchFamily="34" charset="-120"/>
              </a:rPr>
              <a:t>Exportar tablas limpias, una por cliente y otra por visita</a:t>
            </a:r>
            <a:endParaRPr lang="en-US" sz="1400" dirty="0"/>
          </a:p>
        </p:txBody>
      </p:sp>
      <p:sp>
        <p:nvSpPr>
          <p:cNvPr id="20" name="Text 14"/>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5"/>
                </a:solidFill>
                <a:latin typeface="DM Sans" pitchFamily="34" charset="0"/>
                <a:ea typeface="DM Sans" pitchFamily="34" charset="-122"/>
                <a:cs typeface="DM Sans" pitchFamily="34" charset="-120"/>
              </a:rPr>
              <a:t>Desafío → cómo lo resolvimos</a:t>
            </a:r>
            <a:endParaRPr lang="en-US" sz="1200" dirty="0"/>
          </a:p>
        </p:txBody>
      </p:sp>
      <p:sp>
        <p:nvSpPr>
          <p:cNvPr id="21"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5"/>
                </a:solidFill>
                <a:latin typeface="DM Sans" pitchFamily="34" charset="0"/>
                <a:ea typeface="DM Sans" pitchFamily="34" charset="-122"/>
                <a:cs typeface="DM Sans" pitchFamily="34" charset="-120"/>
              </a:rPr>
              <a:t>19</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bg>
      <p:bgPr>
        <a:solidFill>
          <a:srgbClr val="C810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D9DE"/>
                </a:solidFill>
                <a:latin typeface="DM Sans" pitchFamily="34" charset="0"/>
                <a:ea typeface="DM Sans" pitchFamily="34" charset="-122"/>
                <a:cs typeface="DM Sans" pitchFamily="34" charset="-120"/>
              </a:rPr>
              <a:t>CONCLUSIÓN · NUESTRO VEREDICTO</a:t>
            </a:r>
            <a:endParaRPr lang="en-US" sz="1200" dirty="0"/>
          </a:p>
        </p:txBody>
      </p:sp>
      <p:sp>
        <p:nvSpPr>
          <p:cNvPr id="3" name="Text 1"/>
          <p:cNvSpPr>
            <a:spLocks noGrp="1"/>
          </p:cNvSpPr>
          <p:nvPr>
            <p:ph type="title"/>
          </p:nvPr>
        </p:nvSpPr>
        <p:spPr>
          <a:xfrm>
            <a:off x="812800" y="1153120"/>
            <a:ext cx="9810750" cy="1012825"/>
          </a:xfrm>
          <a:prstGeom prst="rect">
            <a:avLst/>
          </a:prstGeom>
          <a:noFill/>
          <a:ln/>
        </p:spPr>
        <p:txBody>
          <a:bodyPr wrap="square" lIns="0" tIns="0" rIns="0" bIns="0" rtlCol="0" anchor="t">
            <a:normAutofit/>
          </a:bodyPr>
          <a:lstStyle/>
          <a:p>
            <a:pPr marL="0" indent="0" algn="l">
              <a:lnSpc>
                <a:spcPts val="3888"/>
              </a:lnSpc>
              <a:buNone/>
            </a:pPr>
            <a:r>
              <a:rPr lang="en-US" sz="3600" b="1" i="0" dirty="0">
                <a:solidFill>
                  <a:srgbClr val="FFF8F2"/>
                </a:solidFill>
                <a:latin typeface="Space Grotesk" pitchFamily="34" charset="0"/>
                <a:ea typeface="Space Grotesk" pitchFamily="34" charset="-122"/>
                <a:cs typeface="Space Grotesk" pitchFamily="34" charset="-120"/>
              </a:rPr>
              <a:t>El diseño nuevo funciona, pero aún no lo lanzaríamos al 100 %</a:t>
            </a:r>
            <a:endParaRPr lang="en-US" sz="3600" dirty="0"/>
          </a:p>
        </p:txBody>
      </p:sp>
      <p:sp>
        <p:nvSpPr>
          <p:cNvPr id="4" name="Text 2"/>
          <p:cNvSpPr/>
          <p:nvPr/>
        </p:nvSpPr>
        <p:spPr>
          <a:xfrm>
            <a:off x="812800" y="2267545"/>
            <a:ext cx="915670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E8EB"/>
                </a:solidFill>
                <a:latin typeface="DM Sans" pitchFamily="34" charset="0"/>
                <a:ea typeface="DM Sans" pitchFamily="34" charset="-122"/>
                <a:cs typeface="DM Sans" pitchFamily="34" charset="-120"/>
              </a:rPr>
              <a:t>Más clientes terminan (+3,7 pp) y más rápido, pero no está demostrado que supere el 5 %, hay más vueltas atrás y la ventaja se diluye desde mayo.</a:t>
            </a:r>
            <a:endParaRPr lang="en-US" sz="1500" dirty="0"/>
          </a:p>
        </p:txBody>
      </p:sp>
      <p:sp>
        <p:nvSpPr>
          <p:cNvPr id="5" name="Shape 3"/>
          <p:cNvSpPr/>
          <p:nvPr/>
        </p:nvSpPr>
        <p:spPr>
          <a:xfrm>
            <a:off x="812800" y="3156545"/>
            <a:ext cx="3403600" cy="2685455"/>
          </a:xfrm>
          <a:prstGeom prst="roundRect">
            <a:avLst>
              <a:gd name="adj" fmla="val 4729"/>
            </a:avLst>
          </a:prstGeom>
          <a:solidFill>
            <a:srgbClr val="FFF8F2"/>
          </a:solidFill>
          <a:ln/>
        </p:spPr>
      </p:sp>
      <p:sp>
        <p:nvSpPr>
          <p:cNvPr id="6" name="Text 4"/>
          <p:cNvSpPr/>
          <p:nvPr/>
        </p:nvSpPr>
        <p:spPr>
          <a:xfrm>
            <a:off x="1066800" y="3385145"/>
            <a:ext cx="2982468"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C8102E"/>
                </a:solidFill>
                <a:latin typeface="Space Grotesk" pitchFamily="34" charset="0"/>
                <a:ea typeface="Space Grotesk" pitchFamily="34" charset="-122"/>
                <a:cs typeface="Space Grotesk" pitchFamily="34" charset="-120"/>
              </a:rPr>
              <a:t>1</a:t>
            </a:r>
            <a:endParaRPr lang="en-US" sz="2800" dirty="0"/>
          </a:p>
        </p:txBody>
      </p:sp>
      <p:sp>
        <p:nvSpPr>
          <p:cNvPr id="7" name="Text 5"/>
          <p:cNvSpPr/>
          <p:nvPr/>
        </p:nvSpPr>
        <p:spPr>
          <a:xfrm>
            <a:off x="1066800" y="3842345"/>
            <a:ext cx="2982468"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1B2E"/>
                </a:solidFill>
                <a:latin typeface="Space Grotesk" pitchFamily="34" charset="0"/>
                <a:ea typeface="Space Grotesk" pitchFamily="34" charset="-122"/>
                <a:cs typeface="Space Grotesk" pitchFamily="34" charset="-120"/>
              </a:rPr>
              <a:t>Arreglar el inicio y el paso 1</a:t>
            </a:r>
            <a:endParaRPr lang="en-US" sz="1600" dirty="0"/>
          </a:p>
        </p:txBody>
      </p:sp>
      <p:sp>
        <p:nvSpPr>
          <p:cNvPr id="8" name="Text 6"/>
          <p:cNvSpPr/>
          <p:nvPr/>
        </p:nvSpPr>
        <p:spPr>
          <a:xfrm>
            <a:off x="1066800" y="4187763"/>
            <a:ext cx="2982468"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6"/>
                </a:solidFill>
                <a:latin typeface="DM Sans" pitchFamily="34" charset="0"/>
                <a:ea typeface="DM Sans" pitchFamily="34" charset="-122"/>
                <a:cs typeface="DM Sans" pitchFamily="34" charset="-120"/>
              </a:rPr>
              <a:t>Ahí se concentran las vueltas atrás y el tiempo extra</a:t>
            </a:r>
            <a:endParaRPr lang="en-US" sz="1300" dirty="0"/>
          </a:p>
        </p:txBody>
      </p:sp>
      <p:sp>
        <p:nvSpPr>
          <p:cNvPr id="9" name="Shape 7"/>
          <p:cNvSpPr/>
          <p:nvPr/>
        </p:nvSpPr>
        <p:spPr>
          <a:xfrm>
            <a:off x="4394200" y="3156545"/>
            <a:ext cx="3403600" cy="2685455"/>
          </a:xfrm>
          <a:prstGeom prst="roundRect">
            <a:avLst>
              <a:gd name="adj" fmla="val 4729"/>
            </a:avLst>
          </a:prstGeom>
          <a:solidFill>
            <a:srgbClr val="FFF8F2"/>
          </a:solidFill>
          <a:ln/>
        </p:spPr>
      </p:sp>
      <p:sp>
        <p:nvSpPr>
          <p:cNvPr id="10" name="Text 8"/>
          <p:cNvSpPr/>
          <p:nvPr/>
        </p:nvSpPr>
        <p:spPr>
          <a:xfrm>
            <a:off x="4648200" y="3385145"/>
            <a:ext cx="2982468"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C8102E"/>
                </a:solidFill>
                <a:latin typeface="Space Grotesk" pitchFamily="34" charset="0"/>
                <a:ea typeface="Space Grotesk" pitchFamily="34" charset="-122"/>
                <a:cs typeface="Space Grotesk" pitchFamily="34" charset="-120"/>
              </a:rPr>
              <a:t>2</a:t>
            </a:r>
            <a:endParaRPr lang="en-US" sz="2800" dirty="0"/>
          </a:p>
        </p:txBody>
      </p:sp>
      <p:sp>
        <p:nvSpPr>
          <p:cNvPr id="11" name="Text 9"/>
          <p:cNvSpPr/>
          <p:nvPr/>
        </p:nvSpPr>
        <p:spPr>
          <a:xfrm>
            <a:off x="4648200" y="3842345"/>
            <a:ext cx="2982468" cy="51302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1B2E"/>
                </a:solidFill>
                <a:latin typeface="Space Grotesk" pitchFamily="34" charset="0"/>
                <a:ea typeface="Space Grotesk" pitchFamily="34" charset="-122"/>
                <a:cs typeface="Space Grotesk" pitchFamily="34" charset="-120"/>
              </a:rPr>
              <a:t>Repetir el test 50 / 50 y más largo</a:t>
            </a:r>
            <a:endParaRPr lang="en-US" sz="1600" dirty="0"/>
          </a:p>
        </p:txBody>
      </p:sp>
      <p:sp>
        <p:nvSpPr>
          <p:cNvPr id="12" name="Text 10"/>
          <p:cNvSpPr/>
          <p:nvPr/>
        </p:nvSpPr>
        <p:spPr>
          <a:xfrm>
            <a:off x="4648200" y="4431581"/>
            <a:ext cx="2982468"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6"/>
                </a:solidFill>
                <a:latin typeface="DM Sans" pitchFamily="34" charset="0"/>
                <a:ea typeface="DM Sans" pitchFamily="34" charset="-122"/>
                <a:cs typeface="DM Sans" pitchFamily="34" charset="-120"/>
              </a:rPr>
              <a:t>Para descartar el efecto novedad y confirmar el 5 %</a:t>
            </a:r>
            <a:endParaRPr lang="en-US" sz="1300" dirty="0"/>
          </a:p>
        </p:txBody>
      </p:sp>
      <p:sp>
        <p:nvSpPr>
          <p:cNvPr id="13" name="Shape 11"/>
          <p:cNvSpPr/>
          <p:nvPr/>
        </p:nvSpPr>
        <p:spPr>
          <a:xfrm>
            <a:off x="7975600" y="3156545"/>
            <a:ext cx="3403600" cy="2685455"/>
          </a:xfrm>
          <a:prstGeom prst="roundRect">
            <a:avLst>
              <a:gd name="adj" fmla="val 4729"/>
            </a:avLst>
          </a:prstGeom>
          <a:solidFill>
            <a:srgbClr val="FFF8F2"/>
          </a:solidFill>
          <a:ln/>
        </p:spPr>
      </p:sp>
      <p:sp>
        <p:nvSpPr>
          <p:cNvPr id="14" name="Text 12"/>
          <p:cNvSpPr/>
          <p:nvPr/>
        </p:nvSpPr>
        <p:spPr>
          <a:xfrm>
            <a:off x="8229600" y="3385145"/>
            <a:ext cx="2982468"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C8102E"/>
                </a:solidFill>
                <a:latin typeface="Space Grotesk" pitchFamily="34" charset="0"/>
                <a:ea typeface="Space Grotesk" pitchFamily="34" charset="-122"/>
                <a:cs typeface="Space Grotesk" pitchFamily="34" charset="-120"/>
              </a:rPr>
              <a:t>3</a:t>
            </a:r>
            <a:endParaRPr lang="en-US" sz="2800" dirty="0"/>
          </a:p>
        </p:txBody>
      </p:sp>
      <p:sp>
        <p:nvSpPr>
          <p:cNvPr id="15" name="Text 13"/>
          <p:cNvSpPr/>
          <p:nvPr/>
        </p:nvSpPr>
        <p:spPr>
          <a:xfrm>
            <a:off x="8229600" y="3842345"/>
            <a:ext cx="2982468"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1B2E"/>
                </a:solidFill>
                <a:latin typeface="Space Grotesk" pitchFamily="34" charset="0"/>
                <a:ea typeface="Space Grotesk" pitchFamily="34" charset="-122"/>
                <a:cs typeface="Space Grotesk" pitchFamily="34" charset="-120"/>
              </a:rPr>
              <a:t>Medir con más datos</a:t>
            </a:r>
            <a:endParaRPr lang="en-US" sz="1600" dirty="0"/>
          </a:p>
        </p:txBody>
      </p:sp>
      <p:sp>
        <p:nvSpPr>
          <p:cNvPr id="16" name="Text 14"/>
          <p:cNvSpPr/>
          <p:nvPr/>
        </p:nvSpPr>
        <p:spPr>
          <a:xfrm>
            <a:off x="8229600" y="4187763"/>
            <a:ext cx="2982468"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6"/>
                </a:solidFill>
                <a:latin typeface="DM Sans" pitchFamily="34" charset="0"/>
                <a:ea typeface="DM Sans" pitchFamily="34" charset="-122"/>
                <a:cs typeface="DM Sans" pitchFamily="34" charset="-120"/>
              </a:rPr>
              <a:t>Dispositivo, costes y valor de cada proceso completado</a:t>
            </a:r>
            <a:endParaRPr lang="en-US" sz="1300" dirty="0"/>
          </a:p>
        </p:txBody>
      </p:sp>
      <p:sp>
        <p:nvSpPr>
          <p:cNvPr id="17" name="Text 15"/>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D9DE"/>
                </a:solidFill>
                <a:latin typeface="DM Sans" pitchFamily="34" charset="0"/>
                <a:ea typeface="DM Sans" pitchFamily="34" charset="-122"/>
                <a:cs typeface="DM Sans" pitchFamily="34" charset="-120"/>
              </a:rPr>
              <a:t>Tableau: «Decisión»</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D9DE"/>
                </a:solidFill>
                <a:latin typeface="DM Sans" pitchFamily="34" charset="0"/>
                <a:ea typeface="DM Sans" pitchFamily="34" charset="-122"/>
                <a:cs typeface="DM Sans" pitchFamily="34" charset="-120"/>
              </a:rPr>
              <a:t>20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bg>
      <p:bgPr>
        <a:solidFill>
          <a:srgbClr val="131B2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622801"/>
            <a:ext cx="10883392" cy="914400"/>
          </a:xfrm>
          <a:prstGeom prst="rect">
            <a:avLst/>
          </a:prstGeom>
          <a:noFill/>
          <a:ln/>
        </p:spPr>
        <p:txBody>
          <a:bodyPr wrap="square" lIns="0" tIns="0" rIns="0" bIns="0" rtlCol="0" anchor="t">
            <a:normAutofit/>
          </a:bodyPr>
          <a:lstStyle/>
          <a:p>
            <a:pPr marL="0" indent="0" algn="l">
              <a:lnSpc>
                <a:spcPts val="7000"/>
              </a:lnSpc>
              <a:buNone/>
            </a:pPr>
            <a:r>
              <a:rPr lang="en-US" sz="7000" b="1" i="0" dirty="0">
                <a:solidFill>
                  <a:srgbClr val="F5F2EC"/>
                </a:solidFill>
                <a:latin typeface="Space Grotesk" pitchFamily="34" charset="0"/>
                <a:ea typeface="Space Grotesk" pitchFamily="34" charset="-122"/>
                <a:cs typeface="Space Grotesk" pitchFamily="34" charset="-120"/>
              </a:rPr>
              <a:t>¡Gracias!</a:t>
            </a:r>
            <a:endParaRPr lang="en-US" sz="7000" dirty="0"/>
          </a:p>
        </p:txBody>
      </p:sp>
      <p:sp>
        <p:nvSpPr>
          <p:cNvPr id="3" name="Text 1"/>
          <p:cNvSpPr/>
          <p:nvPr/>
        </p:nvSpPr>
        <p:spPr>
          <a:xfrm>
            <a:off x="812800" y="3939390"/>
            <a:ext cx="10883392" cy="4165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F26B7A"/>
                </a:solidFill>
                <a:latin typeface="DM Sans" pitchFamily="34" charset="0"/>
                <a:ea typeface="DM Sans" pitchFamily="34" charset="-122"/>
                <a:cs typeface="DM Sans" pitchFamily="34" charset="-120"/>
              </a:rPr>
              <a:t>¿Preguntas?</a:t>
            </a:r>
            <a:endParaRPr lang="en-US" sz="2200" dirty="0"/>
          </a:p>
        </p:txBody>
      </p:sp>
      <p:sp>
        <p:nvSpPr>
          <p:cNvPr id="4" name="Shape 2"/>
          <p:cNvSpPr/>
          <p:nvPr/>
        </p:nvSpPr>
        <p:spPr>
          <a:xfrm>
            <a:off x="812800" y="3701852"/>
            <a:ext cx="3403600" cy="0"/>
          </a:xfrm>
          <a:prstGeom prst="line">
            <a:avLst/>
          </a:prstGeom>
          <a:noFill/>
          <a:ln w="19050">
            <a:solidFill>
              <a:srgbClr val="F26B7A"/>
            </a:solidFill>
            <a:prstDash val="solid"/>
          </a:ln>
        </p:spPr>
      </p:sp>
      <p:sp>
        <p:nvSpPr>
          <p:cNvPr id="14" name="Text 1">
            <a:extLst>
              <a:ext uri="{FF2B5EF4-FFF2-40B4-BE49-F238E27FC236}">
                <a16:creationId xmlns:a16="http://schemas.microsoft.com/office/drawing/2014/main" id="{C5D1E25A-EFFA-D83A-C119-1D3BB032C05C}"/>
              </a:ext>
            </a:extLst>
          </p:cNvPr>
          <p:cNvSpPr/>
          <p:nvPr/>
        </p:nvSpPr>
        <p:spPr>
          <a:xfrm>
            <a:off x="812800" y="812800"/>
            <a:ext cx="65405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6B7A"/>
                </a:solidFill>
                <a:latin typeface="DM Sans" pitchFamily="34" charset="0"/>
                <a:ea typeface="DM Sans" pitchFamily="34" charset="-122"/>
                <a:cs typeface="DM Sans" pitchFamily="34" charset="-120"/>
              </a:rPr>
              <a:t>IRONHACK DATA ANALYTICS</a:t>
            </a:r>
            <a:endParaRPr lang="en-US" sz="1200" dirty="0"/>
          </a:p>
        </p:txBody>
      </p:sp>
      <p:sp>
        <p:nvSpPr>
          <p:cNvPr id="15" name="Text 4">
            <a:extLst>
              <a:ext uri="{FF2B5EF4-FFF2-40B4-BE49-F238E27FC236}">
                <a16:creationId xmlns:a16="http://schemas.microsoft.com/office/drawing/2014/main" id="{BA70D262-F535-48FF-4307-76C3AB4FA346}"/>
              </a:ext>
            </a:extLst>
          </p:cNvPr>
          <p:cNvSpPr/>
          <p:nvPr/>
        </p:nvSpPr>
        <p:spPr>
          <a:xfrm>
            <a:off x="812800" y="5796293"/>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2EC"/>
                </a:solidFill>
                <a:latin typeface="DM Sans" pitchFamily="34" charset="0"/>
                <a:ea typeface="DM Sans" pitchFamily="34" charset="-122"/>
                <a:cs typeface="DM Sans" pitchFamily="34" charset="-120"/>
              </a:rPr>
              <a:t>Beatriz Fernández </a:t>
            </a:r>
            <a:r>
              <a:rPr lang="en-US" sz="1400" dirty="0">
                <a:solidFill>
                  <a:srgbClr val="6E7891"/>
                </a:solidFill>
                <a:latin typeface="DM Sans" pitchFamily="34" charset="0"/>
                <a:ea typeface="DM Sans" pitchFamily="34" charset="-122"/>
                <a:cs typeface="DM Sans" pitchFamily="34" charset="-120"/>
              </a:rPr>
              <a:t>·</a:t>
            </a:r>
            <a:r>
              <a:rPr lang="en-US" sz="1400" dirty="0">
                <a:solidFill>
                  <a:srgbClr val="F5F2EC"/>
                </a:solidFill>
                <a:latin typeface="DM Sans" pitchFamily="34" charset="0"/>
                <a:ea typeface="DM Sans" pitchFamily="34" charset="-122"/>
                <a:cs typeface="DM Sans" pitchFamily="34" charset="-120"/>
              </a:rPr>
              <a:t> Juan Carlos Del Mar</a:t>
            </a:r>
            <a:endParaRPr lang="en-US" sz="1400" dirty="0"/>
          </a:p>
        </p:txBody>
      </p:sp>
    </p:spTree>
  </p:cSld>
  <p:clrMapOvr>
    <a:masterClrMapping/>
  </p:clrMapOvr>
</p:sld>
</file>

<file path=ppt/theme/theme1.xml><?xml version="1.0" encoding="utf-8"?>
<a:theme xmlns:a="http://schemas.openxmlformats.org/drawingml/2006/main" name="Vanguard A/B test · Presentación">
  <a:themeElements>
    <a:clrScheme name="Vanguard A/B test · Presentación">
      <a:dk1>
        <a:srgbClr val="131B2E"/>
      </a:dk1>
      <a:lt1>
        <a:srgbClr val="F5F2EC"/>
      </a:lt1>
      <a:dk2>
        <a:srgbClr val="4C515E"/>
      </a:dk2>
      <a:lt2>
        <a:srgbClr val="DEDDD9"/>
      </a:lt2>
      <a:accent1>
        <a:srgbClr val="C8102E"/>
      </a:accent1>
      <a:accent2>
        <a:srgbClr val="F26B7A"/>
      </a:accent2>
      <a:accent3>
        <a:srgbClr val="B0102A"/>
      </a:accent3>
      <a:accent4>
        <a:srgbClr val="F4B9C1"/>
      </a:accent4>
      <a:accent5>
        <a:srgbClr val="1F6E43"/>
      </a:accent5>
      <a:accent6>
        <a:srgbClr val="6B7285"/>
      </a:accent6>
      <a:hlink>
        <a:srgbClr val="0563C1"/>
      </a:hlink>
      <a:folHlink>
        <a:srgbClr val="954F72"/>
      </a:folHlink>
    </a:clrScheme>
    <a:fontScheme name="Vanguard A/B test · Presentació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310</TotalTime>
  <Words>1460</Words>
  <Application>Microsoft Office PowerPoint</Application>
  <PresentationFormat>Panorámica</PresentationFormat>
  <Paragraphs>288</Paragraphs>
  <Slides>16</Slides>
  <Notes>16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DM Sans</vt:lpstr>
      <vt:lpstr>Calibri</vt:lpstr>
      <vt:lpstr>Space Grotesk</vt:lpstr>
      <vt:lpstr>Vanguard A/B test · Presentación</vt:lpstr>
      <vt:lpstr>Vanguard A/B Test: Evaluación del impacto de un rediseño digital</vt:lpstr>
      <vt:lpstr>Vanguard rediseñó su proceso online y como lo puso a prueba</vt:lpstr>
      <vt:lpstr>Tres fuentes de datos, unidas por el cliente</vt:lpstr>
      <vt:lpstr>Antes de analizar, tocó limpiar</vt:lpstr>
      <vt:lpstr>Primeros hallazgos, antes de mirar el test</vt:lpstr>
      <vt:lpstr>Cuatro KPIs para medir el nuevo diseño</vt:lpstr>
      <vt:lpstr>Con el diseño nuevo terminan más clientes</vt:lpstr>
      <vt:lpstr>Más rápido en casi todo, salvo en el paso 1</vt:lpstr>
      <vt:lpstr>El punto débil: más vueltas atrás</vt:lpstr>
      <vt:lpstr>La ventaja se gana al empezar</vt:lpstr>
      <vt:lpstr>Seis contrastes para pasar de «parece» a «es»</vt:lpstr>
      <vt:lpstr>¿Podemos fiarnos del experimento?</vt:lpstr>
      <vt:lpstr>Vamos a Tableau: la historia en cuatro paneles</vt:lpstr>
      <vt:lpstr>Lo que nos costó y lo que nos llevamos</vt:lpstr>
      <vt:lpstr>El diseño nuevo funciona, pero aún no lo lanzaríamos al 100 %</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Vanguard A/B test · Presentación</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JUAN CARLOS DEL MAR LOSTANAU</cp:lastModifiedBy>
  <cp:revision>9</cp:revision>
  <dcterms:created xsi:type="dcterms:W3CDTF">2026-10-21T19:02:26Z</dcterms:created>
  <dcterms:modified xsi:type="dcterms:W3CDTF">2026-10-22T16:14:32Z</dcterms:modified>
</cp:coreProperties>
</file>